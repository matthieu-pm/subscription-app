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18313a9f0e84c35" /><Relationship Type="http://schemas.openxmlformats.org/officeDocument/2006/relationships/extended-properties" Target="/docProps/app.xml" Id="R3ab8237651e644b5" /><Relationship Type="http://schemas.openxmlformats.org/officeDocument/2006/relationships/officeDocument" Target="/ppt/presentation.xml" Id="R592c60703c2443ba" /></Relationships>
</file>

<file path=ppt/presentation.xml><?xml version="1.0" encoding="utf-8"?>
<p:presentation xmlns:p="http://schemas.openxmlformats.org/presentationml/2006/main">
  <p:sldMasterIdLst>
    <p:sldMasterId xmlns:r="http://schemas.openxmlformats.org/officeDocument/2006/relationships" id="2147483648" r:id="R73701a23b07f4178"/>
  </p:sldMasterIdLst>
  <p:notesMasterIdLst>
    <p:notesMasterId xmlns:r="http://schemas.openxmlformats.org/officeDocument/2006/relationships" r:id="Rce9b8c201d0447c8"/>
  </p:notesMasterIdLst>
  <p:sldIdLst>
    <p:sldId xmlns:r="http://schemas.openxmlformats.org/officeDocument/2006/relationships" id="256" r:id="Rf2c929cbaa31492f"/>
    <p:sldId xmlns:r="http://schemas.openxmlformats.org/officeDocument/2006/relationships" id="257" r:id="R8c4e0f482ada4fe2"/>
    <p:sldId xmlns:r="http://schemas.openxmlformats.org/officeDocument/2006/relationships" id="258" r:id="Ra7cb30a5723a46d7"/>
    <p:sldId xmlns:r="http://schemas.openxmlformats.org/officeDocument/2006/relationships" id="259" r:id="R91ae0b909e274d14"/>
    <p:sldId xmlns:r="http://schemas.openxmlformats.org/officeDocument/2006/relationships" id="260" r:id="R44f4eaa6c80545e2"/>
    <p:sldId xmlns:r="http://schemas.openxmlformats.org/officeDocument/2006/relationships" id="261" r:id="R8612adcaa9104ba2"/>
    <p:sldId xmlns:r="http://schemas.openxmlformats.org/officeDocument/2006/relationships" id="262" r:id="R2d6dfbf0244e46bc"/>
    <p:sldId xmlns:r="http://schemas.openxmlformats.org/officeDocument/2006/relationships" id="263" r:id="Re2621827c62c4a85"/>
    <p:sldId xmlns:r="http://schemas.openxmlformats.org/officeDocument/2006/relationships" id="264" r:id="R759a1ddf1ff048b0"/>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0eecad72a8e41ae" /><Relationship Type="http://schemas.openxmlformats.org/officeDocument/2006/relationships/slideMaster" Target="/ppt/slideMasters/slideMaster1.xml" Id="R73701a23b07f4178" /><Relationship Type="http://schemas.openxmlformats.org/officeDocument/2006/relationships/notesMaster" Target="/ppt/notesMasters/notesMaster1.xml" Id="Rce9b8c201d0447c8" /><Relationship Type="http://schemas.openxmlformats.org/officeDocument/2006/relationships/presProps" Target="/ppt/presProps.xml" Id="R7fa2ba6a640a4631" /><Relationship Type="http://schemas.openxmlformats.org/officeDocument/2006/relationships/tableStyles" Target="/ppt/tableStyles.xml" Id="R999ba992c6aa4fb8" /><Relationship Type="http://schemas.openxmlformats.org/officeDocument/2006/relationships/slide" Target="/ppt/slides/slide1.xml" Id="Rf2c929cbaa31492f" /><Relationship Type="http://schemas.openxmlformats.org/officeDocument/2006/relationships/slide" Target="/ppt/slides/slide2.xml" Id="R8c4e0f482ada4fe2" /><Relationship Type="http://schemas.openxmlformats.org/officeDocument/2006/relationships/slide" Target="/ppt/slides/slide3.xml" Id="Ra7cb30a5723a46d7" /><Relationship Type="http://schemas.openxmlformats.org/officeDocument/2006/relationships/slide" Target="/ppt/slides/slide4.xml" Id="R91ae0b909e274d14" /><Relationship Type="http://schemas.openxmlformats.org/officeDocument/2006/relationships/slide" Target="/ppt/slides/slide5.xml" Id="R44f4eaa6c80545e2" /><Relationship Type="http://schemas.openxmlformats.org/officeDocument/2006/relationships/slide" Target="/ppt/slides/slide6.xml" Id="R8612adcaa9104ba2" /><Relationship Type="http://schemas.openxmlformats.org/officeDocument/2006/relationships/slide" Target="/ppt/slides/slide7.xml" Id="R2d6dfbf0244e46bc" /><Relationship Type="http://schemas.openxmlformats.org/officeDocument/2006/relationships/slide" Target="/ppt/slides/slide8.xml" Id="Re2621827c62c4a85" /><Relationship Type="http://schemas.openxmlformats.org/officeDocument/2006/relationships/slide" Target="/ppt/slides/slide9.xml" Id="R759a1ddf1ff048b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c3105ba328c4b9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9152e98007d470b" /><Relationship Type="http://schemas.openxmlformats.org/officeDocument/2006/relationships/notesMaster" Target="/ppt/notesMasters/notesMaster1.xml" Id="Rb4bf666b206b4d15" /></Relationships>
</file>

<file path=ppt/notesSlides/_rels/notesSlide2.xml.rels>&#65279;<?xml version="1.0" encoding="utf-8"?><Relationships xmlns="http://schemas.openxmlformats.org/package/2006/relationships"><Relationship Type="http://schemas.openxmlformats.org/officeDocument/2006/relationships/slide" Target="/ppt/slides/slide2.xml" Id="Rbdde781c81354eb7" /><Relationship Type="http://schemas.openxmlformats.org/officeDocument/2006/relationships/notesMaster" Target="/ppt/notesMasters/notesMaster1.xml" Id="Ra151de2e1df64ce2" /></Relationships>
</file>

<file path=ppt/notesSlides/_rels/notesSlide3.xml.rels>&#65279;<?xml version="1.0" encoding="utf-8"?><Relationships xmlns="http://schemas.openxmlformats.org/package/2006/relationships"><Relationship Type="http://schemas.openxmlformats.org/officeDocument/2006/relationships/slide" Target="/ppt/slides/slide3.xml" Id="R8de8e1d6ad334e92" /><Relationship Type="http://schemas.openxmlformats.org/officeDocument/2006/relationships/notesMaster" Target="/ppt/notesMasters/notesMaster1.xml" Id="Rc92ddb8ceb7f4cda" /></Relationships>
</file>

<file path=ppt/notesSlides/_rels/notesSlide4.xml.rels>&#65279;<?xml version="1.0" encoding="utf-8"?><Relationships xmlns="http://schemas.openxmlformats.org/package/2006/relationships"><Relationship Type="http://schemas.openxmlformats.org/officeDocument/2006/relationships/slide" Target="/ppt/slides/slide4.xml" Id="R3052fa86493b494e" /><Relationship Type="http://schemas.openxmlformats.org/officeDocument/2006/relationships/notesMaster" Target="/ppt/notesMasters/notesMaster1.xml" Id="R0decda6954364cb2" /></Relationships>
</file>

<file path=ppt/notesSlides/_rels/notesSlide5.xml.rels>&#65279;<?xml version="1.0" encoding="utf-8"?><Relationships xmlns="http://schemas.openxmlformats.org/package/2006/relationships"><Relationship Type="http://schemas.openxmlformats.org/officeDocument/2006/relationships/slide" Target="/ppt/slides/slide5.xml" Id="R065a6b9257e84151" /><Relationship Type="http://schemas.openxmlformats.org/officeDocument/2006/relationships/notesMaster" Target="/ppt/notesMasters/notesMaster1.xml" Id="R850dddb83d6d445f" /></Relationships>
</file>

<file path=ppt/notesSlides/_rels/notesSlide6.xml.rels>&#65279;<?xml version="1.0" encoding="utf-8"?><Relationships xmlns="http://schemas.openxmlformats.org/package/2006/relationships"><Relationship Type="http://schemas.openxmlformats.org/officeDocument/2006/relationships/slide" Target="/ppt/slides/slide6.xml" Id="R29d5369617214d60" /><Relationship Type="http://schemas.openxmlformats.org/officeDocument/2006/relationships/notesMaster" Target="/ppt/notesMasters/notesMaster1.xml" Id="R91325b992c59478f" /></Relationships>
</file>

<file path=ppt/notesSlides/_rels/notesSlide7.xml.rels>&#65279;<?xml version="1.0" encoding="utf-8"?><Relationships xmlns="http://schemas.openxmlformats.org/package/2006/relationships"><Relationship Type="http://schemas.openxmlformats.org/officeDocument/2006/relationships/slide" Target="/ppt/slides/slide7.xml" Id="Rbfbc3035fcb443e0" /><Relationship Type="http://schemas.openxmlformats.org/officeDocument/2006/relationships/notesMaster" Target="/ppt/notesMasters/notesMaster1.xml" Id="Rf2a306c0416e4760" /></Relationships>
</file>

<file path=ppt/notesSlides/_rels/notesSlide8.xml.rels>&#65279;<?xml version="1.0" encoding="utf-8"?><Relationships xmlns="http://schemas.openxmlformats.org/package/2006/relationships"><Relationship Type="http://schemas.openxmlformats.org/officeDocument/2006/relationships/slide" Target="/ppt/slides/slide8.xml" Id="R951df792b92c4a83" /><Relationship Type="http://schemas.openxmlformats.org/officeDocument/2006/relationships/notesMaster" Target="/ppt/notesMasters/notesMaster1.xml" Id="R7214ecba5cba4039" /></Relationships>
</file>

<file path=ppt/notesSlides/_rels/notesSlide9.xml.rels>&#65279;<?xml version="1.0" encoding="utf-8"?><Relationships xmlns="http://schemas.openxmlformats.org/package/2006/relationships"><Relationship Type="http://schemas.openxmlformats.org/officeDocument/2006/relationships/slide" Target="/ppt/slides/slide9.xml" Id="Rfcce01986650460b" /><Relationship Type="http://schemas.openxmlformats.org/officeDocument/2006/relationships/notesMaster" Target="/ppt/notesMasters/notesMaster1.xml" Id="R92204f9b30ec47a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UX Writing Final Workshop. Authors: Matthieu Duchatellier and Alexandru Oprea. Source: saved final workshop content read in Aside on 11 October 2026. https://skema-immerse-learn.lovable.app/workshop/final-workshop?room=e4460260-b740-460c-91d8-c3aa16c3ff76</a:t>
            </a:r>
          </a:p>
          <a:p xmlns:a="http://schemas.openxmlformats.org/drawingml/2006/main">
            <a:r>
              <a:t>Design: mobile-revolut/src/theme.ts and mobile-revolut/App.tsx. Geist typography, navy and black backgrounds, blue gradients.</a:t>
            </a:r>
          </a:p>
          <a:p xmlns:a="http://schemas.openxmlformats.org/drawingml/2006/main">
            <a:r>
              <a:t/>
            </a:r>
          </a:p>
          <a:p xmlns:a="http://schemas.openxmlformats.org/drawingml/2006/main">
            <a:r>
              <a:t>Scope starts after account sync: see subscriptions and billing frequency. Review Apple TV’s estimated €120 yearly renewal and the observed payment history. Keep it, correct details, or cancel with Apple before updating Subscript’s record. Users must distinguish averaged costs, renewal estimates, and cancellation with the provider. Artwork: existing prototype asset mobile-revolut/assets/welcome-hero.png, generated for this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UX Writing Final Workshop. Authors: Matthieu Duchatellier and Alexandru Oprea. Source: saved final workshop content read in Aside on 11 October 2026. https://skema-immerse-learn.lovable.app/workshop/final-workshop?room=e4460260-b740-460c-91d8-c3aa16c3ff76</a:t>
            </a:r>
          </a:p>
          <a:p xmlns:a="http://schemas.openxmlformats.org/drawingml/2006/main">
            <a:r>
              <a:t>Design: mobile-revolut/src/theme.ts and mobile-revolut/App.tsx. Geist typography, navy and black backgrounds, blue gradients.</a:t>
            </a:r>
          </a:p>
          <a:p xmlns:a="http://schemas.openxmlformats.org/drawingml/2006/main">
            <a:r>
              <a:t/>
            </a:r>
          </a:p>
          <a:p xmlns:a="http://schemas.openxmlformats.org/drawingml/2006/main">
            <a:r>
              <a:t>The app uses Recorded payment for historical entries and Estimated next payment for future dates. Verification now says Enter the demo code and explains that no email was sent. Cancellation stays calm and explicit about the provider action.</a:t>
            </a:r>
          </a:p>
          <a:p xmlns:a="http://schemas.openxmlformats.org/drawingml/2006/main">
            <a:r>
              <a:t>Current voice examples from both prototypes and voice-and-tone.md: They renew. You remember.; Meet your regulars.; No accounts? No rush.; Glad you asked. Headlines and supporting copy carry the personality. Amounts, dates, action labels, and cancellation consequences remain explicit.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UX Writing Final Workshop. Authors: Matthieu Duchatellier and Alexandru Oprea. Source: saved final workshop content read in Aside on 11 October 2026. https://skema-immerse-learn.lovable.app/workshop/final-workshop?room=e4460260-b740-460c-91d8-c3aa16c3ff76</a:t>
            </a:r>
          </a:p>
          <a:p xmlns:a="http://schemas.openxmlformats.org/drawingml/2006/main">
            <a:r>
              <a:t>Design: mobile-revolut/src/theme.ts and mobile-revolut/App.tsx. Geist typography, navy and black backgrounds, blue gradients.</a:t>
            </a:r>
          </a:p>
          <a:p xmlns:a="http://schemas.openxmlformats.org/drawingml/2006/main">
            <a:r>
              <a:t/>
            </a:r>
          </a:p>
          <a:p xmlns:a="http://schemas.openxmlformats.org/drawingml/2006/main">
            <a:r>
              <a:t>Research quotes retained from the saved workshop and verified against public Reddit pages on 11 October 2026. Qualitative signals, not prevalence estimates.</a:t>
            </a:r>
          </a:p>
          <a:p xmlns:a="http://schemas.openxmlformats.org/drawingml/2006/main">
            <a:r>
              <a:t>“I did not expect it to auto-renew.”</a:t>
            </a:r>
          </a:p>
          <a:p xmlns:a="http://schemas.openxmlformats.org/drawingml/2006/main">
            <a:r>
              <a:t>r/Windscribe: https://www.reddit.com/r/Windscribe/comments/1gttu9i/denied_refund_after_my_subscription_autorenewed/</a:t>
            </a:r>
          </a:p>
          <a:p xmlns:a="http://schemas.openxmlformats.org/drawingml/2006/main">
            <a:r>
              <a:t/>
            </a:r>
          </a:p>
          <a:p xmlns:a="http://schemas.openxmlformats.org/drawingml/2006/main">
            <a:r>
              <a:t>“I’ve been trying to cancel my subscription for almost an hour now and it’s driving me mental.”</a:t>
            </a:r>
          </a:p>
          <a:p xmlns:a="http://schemas.openxmlformats.org/drawingml/2006/main">
            <a:r>
              <a:t>r/appletv: https://www.reddit.com/r/appletv/comments/wxle7w/why_is_it_nearly_impossible_to_cancel_my_apple_tv/</a:t>
            </a:r>
          </a:p>
          <a:p xmlns:a="http://schemas.openxmlformats.org/drawingml/2006/main">
            <a:r>
              <a:t/>
            </a:r>
          </a:p>
          <a:p xmlns:a="http://schemas.openxmlformats.org/drawingml/2006/main">
            <a:r>
              <a:t>“I want to find an easy way to keep track of everything and review it from time to time.”</a:t>
            </a:r>
          </a:p>
          <a:p xmlns:a="http://schemas.openxmlformats.org/drawingml/2006/main">
            <a:r>
              <a:t>r/budgetingforbeginners: https://www.reddit.com/r/budgetingforbeginners/comments/1vbvho6/how_do_you_keep_track_of_all_your_subscriptions/</a:t>
            </a:r>
          </a:p>
          <a:p xmlns:a="http://schemas.openxmlformats.org/drawingml/2006/main">
            <a:r>
              <a:t/>
            </a:r>
          </a:p>
          <a:p xmlns:a="http://schemas.openxmlformats.org/drawingml/2006/main">
            <a:r>
              <a:t>“Yes, I’ve forgotten about subscriptions. I forgot to cancel my ancestry subscription last month.”</a:t>
            </a:r>
          </a:p>
          <a:p xmlns:a="http://schemas.openxmlformats.org/drawingml/2006/main">
            <a:r>
              <a:t>r/Millennials: https://www.reddit.com/r/Millennials/comments/1qv9rbe/are_forgotten_subscriptions_that_big_of_a_problem/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prototypes: Blue: https://subscription-app-alpha-vert.vercel.app. Yellow: https://subscript-yellow-prototype.vercel.app. The QR opens the blue prototype. Both links are clickable. Choose Explore the demo to open Home. Email demo verification code: 123456. Sample data only; no real bank access, payments, or cancellations. Both prototypes share the revised voice.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UX Writing Final Workshop. Authors: Matthieu Duchatellier and Alexandru Oprea. Source: saved final workshop content read in Aside on 11 October 2026. https://skema-immerse-learn.lovable.app/workshop/final-workshop?room=e4460260-b740-460c-91d8-c3aa16c3ff76</a:t>
            </a:r>
          </a:p>
          <a:p xmlns:a="http://schemas.openxmlformats.org/drawingml/2006/main">
            <a:r>
              <a:t>Design: mobile-revolut/src/theme.ts and mobile-revolut/App.tsx. Geist typography, navy and black backgrounds, blue gradients.</a:t>
            </a:r>
          </a:p>
          <a:p xmlns:a="http://schemas.openxmlformats.org/drawingml/2006/main">
            <a:r>
              <a:t/>
            </a:r>
          </a:p>
          <a:p xmlns:a="http://schemas.openxmlformats.org/drawingml/2006/main">
            <a:r>
              <a:t>Screenshot: live blue prototype at https://subscription-app-alpha-vert.vercel.app, captured on 12 October 2026. Browser viewport 430 × 932 CSS pixels, 1290 × 2796 image pixels. Browser capture in the existing presentation frame; native iOS effects are not demonstrated.</a:t>
            </a:r>
          </a:p>
          <a:p xmlns:a="http://schemas.openxmlformats.org/drawingml/2006/main">
            <a:r>
              <a:t>The yellow prototype uses the same welcome headline and supporting copy. Demo disclosures and action labels remain explicit in both versions.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UX Writing Final Workshop. Authors: Matthieu Duchatellier and Alexandru Oprea. Source: saved final workshop content read in Aside on 11 October 2026. https://skema-immerse-learn.lovable.app/workshop/final-workshop?room=e4460260-b740-460c-91d8-c3aa16c3ff76</a:t>
            </a:r>
          </a:p>
          <a:p xmlns:a="http://schemas.openxmlformats.org/drawingml/2006/main">
            <a:r>
              <a:t>Design: mobile-revolut/src/theme.ts and mobile-revolut/App.tsx. Geist typography, navy and black backgrounds, blue gradients.</a:t>
            </a:r>
          </a:p>
          <a:p xmlns:a="http://schemas.openxmlformats.org/drawingml/2006/main">
            <a:r>
              <a:t/>
            </a:r>
          </a:p>
          <a:p xmlns:a="http://schemas.openxmlformats.org/drawingml/2006/main">
            <a:r>
              <a:t>Screenshot: live blue prototype at https://subscription-app-alpha-vert.vercel.app, captured on 12 October 2026. Browser viewport 430 × 932 CSS pixels, 1290 × 2796 image pixels. Browser capture in the existing presentation frame; native iOS effects are not demonstrated.</a:t>
            </a:r>
          </a:p>
          <a:p xmlns:a="http://schemas.openxmlformats.org/drawingml/2006/main">
            <a:r>
              <a:t>Amounts are fictional prototype data. The initial four subscriptions have a €39 monthly average or €468 yearly estimate. Apple TV costs €120/year and contributes €10 to the monthly average. Upcoming dates are estimates. The revised UI names the average and explains yearly plans divided by 12 immediately below it. User testing should still check comprehension.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UX Writing Final Workshop. Authors: Matthieu Duchatellier and Alexandru Oprea. Source: saved final workshop content read in Aside on 11 October 2026. https://skema-immerse-learn.lovable.app/workshop/final-workshop?room=e4460260-b740-460c-91d8-c3aa16c3ff76</a:t>
            </a:r>
          </a:p>
          <a:p xmlns:a="http://schemas.openxmlformats.org/drawingml/2006/main">
            <a:r>
              <a:t>Design: mobile-revolut/src/theme.ts and mobile-revolut/App.tsx. Geist typography, navy and black backgrounds, blue gradients.</a:t>
            </a:r>
          </a:p>
          <a:p xmlns:a="http://schemas.openxmlformats.org/drawingml/2006/main">
            <a:r>
              <a:t/>
            </a:r>
          </a:p>
          <a:p xmlns:a="http://schemas.openxmlformats.org/drawingml/2006/main">
            <a:r>
              <a:t>Screenshot: live blue prototype at https://subscription-app-alpha-vert.vercel.app, captured on 12 October 2026. Browser viewport 430 × 932 CSS pixels, 1290 × 2796 image pixels. Browser capture in the existing presentation frame; native iOS effects are not demonstrated.</a:t>
            </a:r>
          </a:p>
          <a:p xmlns:a="http://schemas.openxmlformats.org/drawingml/2006/main">
            <a:r>
              <a:t>The profile screenshot comes from the current production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UX Writing Final Workshop. Authors: Matthieu Duchatellier and Alexandru Oprea. Source: saved final workshop content read in Aside on 11 October 2026. https://skema-immerse-learn.lovable.app/workshop/final-workshop?room=e4460260-b740-460c-91d8-c3aa16c3ff76</a:t>
            </a:r>
          </a:p>
          <a:p xmlns:a="http://schemas.openxmlformats.org/drawingml/2006/main">
            <a:r>
              <a:t>Design: mobile-revolut/src/theme.ts and mobile-revolut/App.tsx. Geist typography, navy and black backgrounds, blue gradients.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UX Writing Final Workshop. Authors: Matthieu Duchatellier and Alexandru Oprea. Source: saved final workshop content read in Aside on 11 October 2026. https://skema-immerse-learn.lovable.app/workshop/final-workshop?room=e4460260-b740-460c-91d8-c3aa16c3ff76</a:t>
            </a:r>
          </a:p>
          <a:p xmlns:a="http://schemas.openxmlformats.org/drawingml/2006/main">
            <a:r>
              <a:t>Design: mobile-revolut/src/theme.ts and mobile-revolut/App.tsx. Geist typography, navy and black backgrounds, blue gradients.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7685b897318440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aaa2d852df74b2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b2e81b5acb54bb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523d3ffa7a9485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f1ed45218f9467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a74fd9b3c0f48f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B9E85BB-FDF1-4CE4-ABC5-B56D6922A043}"/>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FC615A0-4526-4733-8C16-33E1FE6E60CA}"/>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F9B50F4-6EE3-4F43-ACDF-9733954F5AEF}"/>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E7F8817-4546-47C2-A9DA-488ED5762D4C}"/>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D775EAD-4C5B-463A-809B-BE7A2A1EC6B5}"/>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defRPr/>
            </a:lvl1pPr>
            <a:lvl2pPr marL="666750" indent="-285750">
              <a:lnSpc>
                <a:spcPct val="110000"/>
              </a:lnSpc>
              <a:spcBef>
                <a:spcPts val="0"/>
              </a:spcBef>
              <a:spcAft>
                <a:spcPts val="1500"/>
              </a:spcAft>
              <a:buChar char="•"/>
              <a:defRPr/>
            </a:lvl2pPr>
            <a:lvl3pPr marL="1047750" indent="-285750">
              <a:lnSpc>
                <a:spcPct val="110000"/>
              </a:lnSpc>
              <a:spcBef>
                <a:spcPts val="0"/>
              </a:spcBef>
              <a:spcAft>
                <a:spcPts val="1500"/>
              </a:spcAft>
              <a:buChar char="•"/>
              <a:defRPr/>
            </a:lvl3pPr>
            <a:lvl4pPr marL="1428750" indent="-285750">
              <a:lnSpc>
                <a:spcPct val="110000"/>
              </a:lnSpc>
              <a:spcBef>
                <a:spcPts val="0"/>
              </a:spcBef>
              <a:spcAft>
                <a:spcPts val="1500"/>
              </a:spcAft>
              <a:buChar char="•"/>
              <a:defRPr/>
            </a:lvl4pPr>
            <a:lvl5pPr marL="1809750" indent="-285750">
              <a:lnSpc>
                <a:spcPct val="110000"/>
              </a:lnSpc>
              <a:spcBef>
                <a:spcPts val="0"/>
              </a:spcBef>
              <a:spcAft>
                <a:spcPts val="1500"/>
              </a:spcAft>
              <a:buChar char="•"/>
              <a:defRPr/>
            </a:lvl5pPr>
            <a:lvl6pPr marL="2190750" indent="-285750">
              <a:lnSpc>
                <a:spcPct val="110000"/>
              </a:lnSpc>
              <a:spcBef>
                <a:spcPts val="0"/>
              </a:spcBef>
              <a:spcAft>
                <a:spcPts val="1500"/>
              </a:spcAft>
              <a:buChar char="•"/>
              <a:defRPr/>
            </a:lvl6pPr>
            <a:lvl7pPr marL="2571750" indent="-285750">
              <a:lnSpc>
                <a:spcPct val="110000"/>
              </a:lnSpc>
              <a:spcBef>
                <a:spcPts val="0"/>
              </a:spcBef>
              <a:spcAft>
                <a:spcPts val="1500"/>
              </a:spcAft>
              <a:buChar char="•"/>
              <a:defRPr/>
            </a:lvl7pPr>
            <a:lvl8pPr marL="2952750" indent="-285750">
              <a:lnSpc>
                <a:spcPct val="110000"/>
              </a:lnSpc>
              <a:spcBef>
                <a:spcPts val="0"/>
              </a:spcBef>
              <a:spcAft>
                <a:spcPts val="1500"/>
              </a:spcAft>
              <a:buChar char="•"/>
              <a:defRPr/>
            </a:lvl8pPr>
            <a:lvl9pPr marL="3333750" indent="-285750">
              <a:lnSpc>
                <a:spcPct val="110000"/>
              </a:lnSpc>
              <a:spcBef>
                <a:spcPts val="0"/>
              </a:spcBef>
              <a:spcAft>
                <a:spcPts val="15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DC69447-98F8-4A64-AF24-E1A101C34DDA}"/>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7CF4A12-FDA2-42C1-A73C-269FC5DE30B3}"/>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defRPr/>
            </a:lvl1pPr>
            <a:lvl2pPr marL="666750" indent="-285750">
              <a:lnSpc>
                <a:spcPct val="110000"/>
              </a:lnSpc>
              <a:spcBef>
                <a:spcPts val="0"/>
              </a:spcBef>
              <a:spcAft>
                <a:spcPts val="1500"/>
              </a:spcAft>
              <a:buChar char="•"/>
              <a:defRPr/>
            </a:lvl2pPr>
            <a:lvl3pPr marL="1047750" indent="-285750">
              <a:lnSpc>
                <a:spcPct val="110000"/>
              </a:lnSpc>
              <a:spcBef>
                <a:spcPts val="0"/>
              </a:spcBef>
              <a:spcAft>
                <a:spcPts val="1500"/>
              </a:spcAft>
              <a:buChar char="•"/>
              <a:defRPr/>
            </a:lvl3pPr>
            <a:lvl4pPr marL="1428750" indent="-285750">
              <a:lnSpc>
                <a:spcPct val="110000"/>
              </a:lnSpc>
              <a:spcBef>
                <a:spcPts val="0"/>
              </a:spcBef>
              <a:spcAft>
                <a:spcPts val="1500"/>
              </a:spcAft>
              <a:buChar char="•"/>
              <a:defRPr/>
            </a:lvl4pPr>
            <a:lvl5pPr marL="1809750" indent="-285750">
              <a:lnSpc>
                <a:spcPct val="110000"/>
              </a:lnSpc>
              <a:spcBef>
                <a:spcPts val="0"/>
              </a:spcBef>
              <a:spcAft>
                <a:spcPts val="1500"/>
              </a:spcAft>
              <a:buChar char="•"/>
              <a:defRPr/>
            </a:lvl5pPr>
            <a:lvl6pPr marL="2190750" indent="-285750">
              <a:lnSpc>
                <a:spcPct val="110000"/>
              </a:lnSpc>
              <a:spcBef>
                <a:spcPts val="0"/>
              </a:spcBef>
              <a:spcAft>
                <a:spcPts val="1500"/>
              </a:spcAft>
              <a:buChar char="•"/>
              <a:defRPr/>
            </a:lvl6pPr>
            <a:lvl7pPr marL="2571750" indent="-285750">
              <a:lnSpc>
                <a:spcPct val="110000"/>
              </a:lnSpc>
              <a:spcBef>
                <a:spcPts val="0"/>
              </a:spcBef>
              <a:spcAft>
                <a:spcPts val="1500"/>
              </a:spcAft>
              <a:buChar char="•"/>
              <a:defRPr/>
            </a:lvl7pPr>
            <a:lvl8pPr marL="2952750" indent="-285750">
              <a:lnSpc>
                <a:spcPct val="110000"/>
              </a:lnSpc>
              <a:spcBef>
                <a:spcPts val="0"/>
              </a:spcBef>
              <a:spcAft>
                <a:spcPts val="1500"/>
              </a:spcAft>
              <a:buChar char="•"/>
              <a:defRPr/>
            </a:lvl8pPr>
            <a:lvl9pPr marL="3333750" indent="-285750">
              <a:lnSpc>
                <a:spcPct val="110000"/>
              </a:lnSpc>
              <a:spcBef>
                <a:spcPts val="0"/>
              </a:spcBef>
              <a:spcAft>
                <a:spcPts val="15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378F18D-5818-48D3-85E3-A430C798A8B6}"/>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defRPr/>
            </a:lvl1pPr>
            <a:lvl2pPr marL="666750" indent="-285750">
              <a:lnSpc>
                <a:spcPct val="110000"/>
              </a:lnSpc>
              <a:spcBef>
                <a:spcPts val="0"/>
              </a:spcBef>
              <a:spcAft>
                <a:spcPts val="1500"/>
              </a:spcAft>
              <a:buChar char="•"/>
              <a:defRPr/>
            </a:lvl2pPr>
            <a:lvl3pPr marL="1047750" indent="-285750">
              <a:lnSpc>
                <a:spcPct val="110000"/>
              </a:lnSpc>
              <a:spcBef>
                <a:spcPts val="0"/>
              </a:spcBef>
              <a:spcAft>
                <a:spcPts val="1500"/>
              </a:spcAft>
              <a:buChar char="•"/>
              <a:defRPr/>
            </a:lvl3pPr>
            <a:lvl4pPr marL="1428750" indent="-285750">
              <a:lnSpc>
                <a:spcPct val="110000"/>
              </a:lnSpc>
              <a:spcBef>
                <a:spcPts val="0"/>
              </a:spcBef>
              <a:spcAft>
                <a:spcPts val="1500"/>
              </a:spcAft>
              <a:buChar char="•"/>
              <a:defRPr/>
            </a:lvl4pPr>
            <a:lvl5pPr marL="1809750" indent="-285750">
              <a:lnSpc>
                <a:spcPct val="110000"/>
              </a:lnSpc>
              <a:spcBef>
                <a:spcPts val="0"/>
              </a:spcBef>
              <a:spcAft>
                <a:spcPts val="1500"/>
              </a:spcAft>
              <a:buChar char="•"/>
              <a:defRPr/>
            </a:lvl5pPr>
            <a:lvl6pPr marL="2190750" indent="-285750">
              <a:lnSpc>
                <a:spcPct val="110000"/>
              </a:lnSpc>
              <a:spcBef>
                <a:spcPts val="0"/>
              </a:spcBef>
              <a:spcAft>
                <a:spcPts val="1500"/>
              </a:spcAft>
              <a:buChar char="•"/>
              <a:defRPr/>
            </a:lvl6pPr>
            <a:lvl7pPr marL="2571750" indent="-285750">
              <a:lnSpc>
                <a:spcPct val="110000"/>
              </a:lnSpc>
              <a:spcBef>
                <a:spcPts val="0"/>
              </a:spcBef>
              <a:spcAft>
                <a:spcPts val="1500"/>
              </a:spcAft>
              <a:buChar char="•"/>
              <a:defRPr/>
            </a:lvl7pPr>
            <a:lvl8pPr marL="2952750" indent="-285750">
              <a:lnSpc>
                <a:spcPct val="110000"/>
              </a:lnSpc>
              <a:spcBef>
                <a:spcPts val="0"/>
              </a:spcBef>
              <a:spcAft>
                <a:spcPts val="1500"/>
              </a:spcAft>
              <a:buChar char="•"/>
              <a:defRPr/>
            </a:lvl8pPr>
            <a:lvl9pPr marL="3333750" indent="-285750">
              <a:lnSpc>
                <a:spcPct val="110000"/>
              </a:lnSpc>
              <a:spcBef>
                <a:spcPts val="0"/>
              </a:spcBef>
              <a:spcAft>
                <a:spcPts val="15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8B41862-C36A-473B-B818-97852CCF8C07}"/>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E745EEB-61BB-4398-8844-9E2A1D62D7F0}"/>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defRPr/>
            </a:lvl1pPr>
            <a:lvl2pPr marL="666750" indent="-285750">
              <a:lnSpc>
                <a:spcPct val="110000"/>
              </a:lnSpc>
              <a:spcBef>
                <a:spcPts val="0"/>
              </a:spcBef>
              <a:spcAft>
                <a:spcPts val="1500"/>
              </a:spcAft>
              <a:buChar char="•"/>
              <a:defRPr/>
            </a:lvl2pPr>
            <a:lvl3pPr marL="1047750" indent="-285750">
              <a:lnSpc>
                <a:spcPct val="110000"/>
              </a:lnSpc>
              <a:spcBef>
                <a:spcPts val="0"/>
              </a:spcBef>
              <a:spcAft>
                <a:spcPts val="1500"/>
              </a:spcAft>
              <a:buChar char="•"/>
              <a:defRPr/>
            </a:lvl3pPr>
            <a:lvl4pPr marL="1428750" indent="-285750">
              <a:lnSpc>
                <a:spcPct val="110000"/>
              </a:lnSpc>
              <a:spcBef>
                <a:spcPts val="0"/>
              </a:spcBef>
              <a:spcAft>
                <a:spcPts val="1500"/>
              </a:spcAft>
              <a:buChar char="•"/>
              <a:defRPr/>
            </a:lvl4pPr>
            <a:lvl5pPr marL="1809750" indent="-285750">
              <a:lnSpc>
                <a:spcPct val="110000"/>
              </a:lnSpc>
              <a:spcBef>
                <a:spcPts val="0"/>
              </a:spcBef>
              <a:spcAft>
                <a:spcPts val="1500"/>
              </a:spcAft>
              <a:buChar char="•"/>
              <a:defRPr/>
            </a:lvl5pPr>
            <a:lvl6pPr marL="2190750" indent="-285750">
              <a:lnSpc>
                <a:spcPct val="110000"/>
              </a:lnSpc>
              <a:spcBef>
                <a:spcPts val="0"/>
              </a:spcBef>
              <a:spcAft>
                <a:spcPts val="1500"/>
              </a:spcAft>
              <a:buChar char="•"/>
              <a:defRPr/>
            </a:lvl6pPr>
            <a:lvl7pPr marL="2571750" indent="-285750">
              <a:lnSpc>
                <a:spcPct val="110000"/>
              </a:lnSpc>
              <a:spcBef>
                <a:spcPts val="0"/>
              </a:spcBef>
              <a:spcAft>
                <a:spcPts val="1500"/>
              </a:spcAft>
              <a:buChar char="•"/>
              <a:defRPr/>
            </a:lvl7pPr>
            <a:lvl8pPr marL="2952750" indent="-285750">
              <a:lnSpc>
                <a:spcPct val="110000"/>
              </a:lnSpc>
              <a:spcBef>
                <a:spcPts val="0"/>
              </a:spcBef>
              <a:spcAft>
                <a:spcPts val="1500"/>
              </a:spcAft>
              <a:buChar char="•"/>
              <a:defRPr/>
            </a:lvl8pPr>
            <a:lvl9pPr marL="3333750" indent="-285750">
              <a:lnSpc>
                <a:spcPct val="110000"/>
              </a:lnSpc>
              <a:spcBef>
                <a:spcPts val="0"/>
              </a:spcBef>
              <a:spcAft>
                <a:spcPts val="15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b8b8440984e45b9" /><Relationship Type="http://schemas.openxmlformats.org/officeDocument/2006/relationships/slideLayout" Target="/ppt/slideLayouts/slideLayout1.xml" Id="R0bd30651692548db" /><Relationship Type="http://schemas.openxmlformats.org/officeDocument/2006/relationships/slideLayout" Target="/ppt/slideLayouts/slideLayout2.xml" Id="Ree6c346bb26a4f01" /><Relationship Type="http://schemas.openxmlformats.org/officeDocument/2006/relationships/slideLayout" Target="/ppt/slideLayouts/slideLayout3.xml" Id="Rdf56f19df77b471d" /><Relationship Type="http://schemas.openxmlformats.org/officeDocument/2006/relationships/slideLayout" Target="/ppt/slideLayouts/slideLayout4.xml" Id="R66222d0d38a14595" /><Relationship Type="http://schemas.openxmlformats.org/officeDocument/2006/relationships/slideLayout" Target="/ppt/slideLayouts/slideLayout5.xml" Id="Re6990b34140e4e7c" /><Relationship Type="http://schemas.openxmlformats.org/officeDocument/2006/relationships/slideLayout" Target="/ppt/slideLayouts/slideLayout6.xml" Id="Rd91dfa64e8dd452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bd30651692548db"/>
    <p:sldLayoutId xmlns:r="http://schemas.openxmlformats.org/officeDocument/2006/relationships" id="2147483650" r:id="Ree6c346bb26a4f01"/>
    <p:sldLayoutId xmlns:r="http://schemas.openxmlformats.org/officeDocument/2006/relationships" id="2147483651" r:id="Rdf56f19df77b471d"/>
    <p:sldLayoutId xmlns:r="http://schemas.openxmlformats.org/officeDocument/2006/relationships" id="2147483652" r:id="R66222d0d38a14595"/>
    <p:sldLayoutId xmlns:r="http://schemas.openxmlformats.org/officeDocument/2006/relationships" id="2147483653" r:id="Re6990b34140e4e7c"/>
    <p:sldLayoutId xmlns:r="http://schemas.openxmlformats.org/officeDocument/2006/relationships" id="2147483654" r:id="Rd91dfa64e8dd452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67a51760d8b4ea3" /><Relationship Type="http://schemas.openxmlformats.org/officeDocument/2006/relationships/image" Target="/ppt/media/image.png" Id="Ra7f37cc861d241e5" /><Relationship Type="http://schemas.openxmlformats.org/officeDocument/2006/relationships/notesSlide" Target="/ppt/notesSlides/notesSlide1.xml" Id="R96e6d4a9edec464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6893ba9581f4231" /><Relationship Type="http://schemas.openxmlformats.org/officeDocument/2006/relationships/notesSlide" Target="/ppt/notesSlides/notesSlide2.xml" Id="R1c1aa878e15347f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35c4c23a0b7497a" /><Relationship Type="http://schemas.openxmlformats.org/officeDocument/2006/relationships/hyperlink" Target="https://www.reddit.com/r/Windscribe/comments/1gttu9i/denied_refund_after_my_subscription_autorenewed/" TargetMode="External" Id="R79ef31b47f664a81" /><Relationship Type="http://schemas.openxmlformats.org/officeDocument/2006/relationships/hyperlink" Target="https://www.reddit.com/r/appletv/comments/wxle7w/why_is_it_nearly_impossible_to_cancel_my_apple_tv/" TargetMode="External" Id="R0d8cf530779142fc" /><Relationship Type="http://schemas.openxmlformats.org/officeDocument/2006/relationships/hyperlink" Target="https://www.reddit.com/r/budgetingforbeginners/comments/1vbvho6/how_do_you_keep_track_of_all_your_subscriptions/" TargetMode="External" Id="Rf767d02e40d04cb4" /><Relationship Type="http://schemas.openxmlformats.org/officeDocument/2006/relationships/hyperlink" Target="https://www.reddit.com/r/Millennials/comments/1qv9rbe/are_forgotten_subscriptions_that_big_of_a_problem/" TargetMode="External" Id="Rca25f3b9918a4403" /><Relationship Type="http://schemas.openxmlformats.org/officeDocument/2006/relationships/notesSlide" Target="/ppt/notesSlides/notesSlide3.xml" Id="Ra5559bf44ebe45e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72f140c060e4bd7" /><Relationship Type="http://schemas.openxmlformats.org/officeDocument/2006/relationships/hyperlink" Target="https://subscription-app-alpha-vert.vercel.app/" TargetMode="External" Id="Rf340c7a95bad4632" /><Relationship Type="http://schemas.openxmlformats.org/officeDocument/2006/relationships/image" Target="/ppt/media/image2.png" Id="Ra3e2adb0e9f24672" /><Relationship Type="http://schemas.openxmlformats.org/officeDocument/2006/relationships/hyperlink" Target="https://subscript-yellow-prototype.vercel.app" TargetMode="External" Id="Rcd5d1a809f134b94" /><Relationship Type="http://schemas.openxmlformats.org/officeDocument/2006/relationships/notesSlide" Target="/ppt/notesSlides/notesSlide4.xml" Id="R53bcfb1cfe7448b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ce8f802f47d4c5a" /><Relationship Type="http://schemas.openxmlformats.org/officeDocument/2006/relationships/image" Target="/ppt/media/image3.png" Id="Rff5a1b67d9234033" /><Relationship Type="http://schemas.openxmlformats.org/officeDocument/2006/relationships/notesSlide" Target="/ppt/notesSlides/notesSlide5.xml" Id="R29fd6e9c5802425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00667ea663f4a33" /><Relationship Type="http://schemas.openxmlformats.org/officeDocument/2006/relationships/image" Target="/ppt/media/image4.png" Id="R373855a0d844462c" /><Relationship Type="http://schemas.openxmlformats.org/officeDocument/2006/relationships/notesSlide" Target="/ppt/notesSlides/notesSlide6.xml" Id="R16db1cf4959b443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a12df2b594e46b7" /><Relationship Type="http://schemas.openxmlformats.org/officeDocument/2006/relationships/image" Target="/ppt/media/image5.png" Id="R9d6b2e12efd3486c" /><Relationship Type="http://schemas.openxmlformats.org/officeDocument/2006/relationships/notesSlide" Target="/ppt/notesSlides/notesSlide7.xml" Id="Rd8aae82d9f204be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c9354aa34344fe8" /><Relationship Type="http://schemas.openxmlformats.org/officeDocument/2006/relationships/notesSlide" Target="/ppt/notesSlides/notesSlide8.xml" Id="Rb2f1a1a072a742b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a99e56ccf994ea3" /><Relationship Type="http://schemas.openxmlformats.org/officeDocument/2006/relationships/notesSlide" Target="/ppt/notesSlides/notesSlide9.xml" Id="R3e64f9bfbfb54f13" /></Relationships>
</file>

<file path=ppt/slides/slide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6A696EC-D28B-4698-BA7D-FCF1CED71E25}"/>
              </a:ext>
            </a:extLst>
          </p:cNvPr>
          <p:cNvSpPr>
            <a:spLocks xmlns:a="http://schemas.openxmlformats.org/drawingml/2006/main" noGrp="1"/>
          </p:cNvSpPr>
          <p:nvPr/>
        </p:nvSpPr>
        <p:spPr>
          <a:xfrm xmlns:a="http://schemas.openxmlformats.org/drawingml/2006/main">
            <a:off x="762000" y="40957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F7F7FA"/>
                </a:solidFill>
                <a:latin typeface="Geist"/>
                <a:ea typeface="Geist"/>
                <a:cs typeface="Geist"/>
              </a:defRPr>
            </a:defPPr>
          </a:lstStyle>
          <a:p xmlns:a="http://schemas.openxmlformats.org/drawingml/2006/main">
            <a:pPr>
              <a:buNone/>
              <a:defRPr sz="2100" b="1">
                <a:solidFill>
                  <a:srgbClr val="F7F7FA"/>
                </a:solidFill>
                <a:latin typeface="Geist"/>
                <a:ea typeface="Geist"/>
                <a:cs typeface="Geist"/>
              </a:defRPr>
            </a:pPr>
            <a:r>
              <a:rPr sz="2100" b="1">
                <a:solidFill>
                  <a:srgbClr val="F7F7FA"/>
                </a:solidFill>
                <a:latin typeface="Geist"/>
                <a:ea typeface="Geist"/>
                <a:cs typeface="Geist"/>
              </a:rPr>
              <a:t>Subscript</a:t>
            </a:r>
          </a:p>
        </p:txBody>
      </p:sp>
      <p:sp>
        <p:nvSpPr>
          <p:cNvPr id="2" name="">
            <a:extLst xmlns:a="http://schemas.openxmlformats.org/drawingml/2006/main">
              <a:ext uri="{FF2B5EF4-FFF2-40B4-BE49-F238E27FC236}">
                <a16:creationId xmlns:a16="http://schemas.microsoft.com/office/drawing/2014/main" id="{0816E381-1DC1-48EB-A8B7-E0E29C6A9D81}"/>
              </a:ext>
            </a:extLst>
          </p:cNvPr>
          <p:cNvSpPr>
            <a:spLocks xmlns:a="http://schemas.openxmlformats.org/drawingml/2006/main" noGrp="1"/>
          </p:cNvSpPr>
          <p:nvPr/>
        </p:nvSpPr>
        <p:spPr>
          <a:xfrm xmlns:a="http://schemas.openxmlformats.org/drawingml/2006/main">
            <a:off x="13811250" y="447675"/>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A6A6AE"/>
                </a:solidFill>
                <a:latin typeface="Geist"/>
                <a:ea typeface="Geist"/>
                <a:cs typeface="Geist"/>
              </a:defRPr>
            </a:defPPr>
          </a:lstStyle>
          <a:p xmlns:a="http://schemas.openxmlformats.org/drawingml/2006/main">
            <a:pPr>
              <a:buNone/>
              <a:defRPr sz="1650" b="0">
                <a:solidFill>
                  <a:srgbClr val="A6A6AE"/>
                </a:solidFill>
                <a:latin typeface="Geist"/>
                <a:ea typeface="Geist"/>
                <a:cs typeface="Geist"/>
              </a:defRPr>
            </a:pPr>
            <a:r>
              <a:rPr sz="1650" b="0">
                <a:solidFill>
                  <a:srgbClr val="A6A6AE"/>
                </a:solidFill>
                <a:latin typeface="Geist"/>
                <a:ea typeface="Geist"/>
                <a:cs typeface="Geist"/>
              </a:rPr>
              <a:t>01</a:t>
            </a:r>
          </a:p>
        </p:txBody>
      </p:sp>
      <p:sp>
        <p:nvSpPr>
          <p:cNvPr id="3" name="">
            <a:extLst xmlns:a="http://schemas.openxmlformats.org/drawingml/2006/main">
              <a:ext uri="{FF2B5EF4-FFF2-40B4-BE49-F238E27FC236}">
                <a16:creationId xmlns:a16="http://schemas.microsoft.com/office/drawing/2014/main" id="{B0E5877E-9D05-482C-9302-F24018040FA6}"/>
              </a:ext>
            </a:extLst>
          </p:cNvPr>
          <p:cNvSpPr>
            <a:spLocks xmlns:a="http://schemas.openxmlformats.org/drawingml/2006/main" noGrp="1"/>
          </p:cNvSpPr>
          <p:nvPr/>
        </p:nvSpPr>
        <p:spPr>
          <a:xfrm xmlns:a="http://schemas.openxmlformats.org/drawingml/2006/main">
            <a:off x="762000" y="1504950"/>
            <a:ext cx="8763000" cy="2762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6150" b="1">
                <a:solidFill>
                  <a:srgbClr val="F7F7FA"/>
                </a:solidFill>
                <a:latin typeface="Geist"/>
                <a:ea typeface="Geist"/>
                <a:cs typeface="Geist"/>
              </a:defRPr>
            </a:defPPr>
          </a:lstStyle>
          <a:p xmlns:a="http://schemas.openxmlformats.org/drawingml/2006/main">
            <a:pPr>
              <a:buNone/>
              <a:defRPr sz="6150" b="1">
                <a:solidFill>
                  <a:srgbClr val="F7F7FA"/>
                </a:solidFill>
                <a:latin typeface="Geist"/>
                <a:ea typeface="Geist"/>
                <a:cs typeface="Geist"/>
              </a:defRPr>
            </a:pPr>
            <a:r>
              <a:rPr sz="6150" b="1">
                <a:solidFill>
                  <a:srgbClr val="F7F7FA"/>
                </a:solidFill>
                <a:latin typeface="Geist"/>
                <a:ea typeface="Geist"/>
                <a:cs typeface="Geist"/>
              </a:rPr>
              <a:t>Clear costs.</a:t>
            </a:r>
          </a:p>
          <a:p xmlns:a="http://schemas.openxmlformats.org/drawingml/2006/main">
            <a:pPr>
              <a:buNone/>
              <a:defRPr sz="6150" b="1">
                <a:solidFill>
                  <a:srgbClr val="F7F7FA"/>
                </a:solidFill>
                <a:latin typeface="Geist"/>
                <a:ea typeface="Geist"/>
                <a:cs typeface="Geist"/>
              </a:defRPr>
            </a:pPr>
            <a:r>
              <a:rPr sz="6150" b="1">
                <a:solidFill>
                  <a:srgbClr val="F7F7FA"/>
                </a:solidFill>
                <a:latin typeface="Geist"/>
                <a:ea typeface="Geist"/>
                <a:cs typeface="Geist"/>
              </a:rPr>
              <a:t>Confident renewal</a:t>
            </a:r>
          </a:p>
          <a:p xmlns:a="http://schemas.openxmlformats.org/drawingml/2006/main">
            <a:pPr>
              <a:buNone/>
              <a:defRPr sz="6150" b="1">
                <a:solidFill>
                  <a:srgbClr val="F7F7FA"/>
                </a:solidFill>
                <a:latin typeface="Geist"/>
                <a:ea typeface="Geist"/>
                <a:cs typeface="Geist"/>
              </a:defRPr>
            </a:pPr>
            <a:r>
              <a:rPr sz="6150" b="1">
                <a:solidFill>
                  <a:srgbClr val="F7F7FA"/>
                </a:solidFill>
                <a:latin typeface="Geist"/>
                <a:ea typeface="Geist"/>
                <a:cs typeface="Geist"/>
              </a:rPr>
              <a:t>decisions.</a:t>
            </a:r>
          </a:p>
        </p:txBody>
      </p:sp>
      <p:sp>
        <p:nvSpPr>
          <p:cNvPr id="4" name="">
            <a:extLst xmlns:a="http://schemas.openxmlformats.org/drawingml/2006/main">
              <a:ext uri="{FF2B5EF4-FFF2-40B4-BE49-F238E27FC236}">
                <a16:creationId xmlns:a16="http://schemas.microsoft.com/office/drawing/2014/main" id="{19AB599F-8E6C-4BB1-AE76-E64E6380CD9F}"/>
              </a:ext>
            </a:extLst>
          </p:cNvPr>
          <p:cNvSpPr>
            <a:spLocks xmlns:a="http://schemas.openxmlformats.org/drawingml/2006/main" noGrp="1"/>
          </p:cNvSpPr>
          <p:nvPr/>
        </p:nvSpPr>
        <p:spPr>
          <a:xfrm xmlns:a="http://schemas.openxmlformats.org/drawingml/2006/main">
            <a:off x="800100" y="4619625"/>
            <a:ext cx="80962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625" b="0">
                <a:solidFill>
                  <a:srgbClr val="91B4FF"/>
                </a:solidFill>
                <a:latin typeface="Geist"/>
                <a:ea typeface="Geist"/>
                <a:cs typeface="Geist"/>
              </a:defRPr>
            </a:defPPr>
          </a:lstStyle>
          <a:p xmlns:a="http://schemas.openxmlformats.org/drawingml/2006/main">
            <a:pPr>
              <a:buNone/>
              <a:defRPr sz="2625" b="0">
                <a:solidFill>
                  <a:srgbClr val="91B4FF"/>
                </a:solidFill>
                <a:latin typeface="Geist"/>
                <a:ea typeface="Geist"/>
                <a:cs typeface="Geist"/>
              </a:defRPr>
            </a:pPr>
            <a:r>
              <a:rPr sz="2625" b="0">
                <a:solidFill>
                  <a:srgbClr val="91B4FF"/>
                </a:solidFill>
                <a:latin typeface="Geist"/>
                <a:ea typeface="Geist"/>
                <a:cs typeface="Geist"/>
              </a:rPr>
              <a:t>Review a subscription renewal,</a:t>
            </a:r>
          </a:p>
          <a:p xmlns:a="http://schemas.openxmlformats.org/drawingml/2006/main">
            <a:pPr>
              <a:buNone/>
              <a:defRPr sz="2625" b="0">
                <a:solidFill>
                  <a:srgbClr val="91B4FF"/>
                </a:solidFill>
                <a:latin typeface="Geist"/>
                <a:ea typeface="Geist"/>
                <a:cs typeface="Geist"/>
              </a:defRPr>
            </a:pPr>
            <a:r>
              <a:rPr sz="2625" b="0">
                <a:solidFill>
                  <a:srgbClr val="91B4FF"/>
                </a:solidFill>
                <a:latin typeface="Geist"/>
                <a:ea typeface="Geist"/>
                <a:cs typeface="Geist"/>
              </a:rPr>
              <a:t>then keep, edit or cancel.</a:t>
            </a:r>
          </a:p>
        </p:txBody>
      </p:sp>
      <p:sp>
        <p:nvSpPr>
          <p:cNvPr id="5" name="">
            <a:extLst xmlns:a="http://schemas.openxmlformats.org/drawingml/2006/main">
              <a:ext uri="{FF2B5EF4-FFF2-40B4-BE49-F238E27FC236}">
                <a16:creationId xmlns:a16="http://schemas.microsoft.com/office/drawing/2014/main" id="{902DA3AA-D10D-4510-949A-AD595F5C1BC5}"/>
              </a:ext>
            </a:extLst>
          </p:cNvPr>
          <p:cNvSpPr>
            <a:spLocks xmlns:a="http://schemas.openxmlformats.org/drawingml/2006/main" noGrp="1"/>
          </p:cNvSpPr>
          <p:nvPr/>
        </p:nvSpPr>
        <p:spPr>
          <a:xfrm xmlns:a="http://schemas.openxmlformats.org/drawingml/2006/main">
            <a:off x="800100" y="7143750"/>
            <a:ext cx="8096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A6A6AE"/>
                </a:solidFill>
                <a:latin typeface="Geist"/>
                <a:ea typeface="Geist"/>
                <a:cs typeface="Geist"/>
              </a:defRPr>
            </a:defPPr>
          </a:lstStyle>
          <a:p xmlns:a="http://schemas.openxmlformats.org/drawingml/2006/main">
            <a:pPr>
              <a:buNone/>
              <a:defRPr sz="1875" b="0">
                <a:solidFill>
                  <a:srgbClr val="A6A6AE"/>
                </a:solidFill>
                <a:latin typeface="Geist"/>
                <a:ea typeface="Geist"/>
                <a:cs typeface="Geist"/>
              </a:defRPr>
            </a:pPr>
            <a:r>
              <a:rPr sz="1875" b="0">
                <a:solidFill>
                  <a:srgbClr val="A6A6AE"/>
                </a:solidFill>
                <a:latin typeface="Geist"/>
                <a:ea typeface="Geist"/>
                <a:cs typeface="Geist"/>
              </a:rPr>
              <a:t>Matthieu Duchatellier and Alexandru Oprea</a:t>
            </a:r>
          </a:p>
          <a:p xmlns:a="http://schemas.openxmlformats.org/drawingml/2006/main">
            <a:pPr>
              <a:buNone/>
              <a:defRPr sz="1875" b="0">
                <a:solidFill>
                  <a:srgbClr val="A6A6AE"/>
                </a:solidFill>
                <a:latin typeface="Geist"/>
                <a:ea typeface="Geist"/>
                <a:cs typeface="Geist"/>
              </a:defRPr>
            </a:pPr>
            <a:r>
              <a:rPr sz="1875" b="0">
                <a:solidFill>
                  <a:srgbClr val="A6A6AE"/>
                </a:solidFill>
                <a:latin typeface="Geist"/>
                <a:ea typeface="Geist"/>
                <a:cs typeface="Geist"/>
              </a:rPr>
              <a:t>UX Writing Final Workshop</a:t>
            </a:r>
          </a:p>
        </p:txBody>
      </p:sp>
      <p:pic>
        <p:nvPicPr>
          <p:cNvPr id="6" name="">
            <a:extLst xmlns:a="http://schemas.openxmlformats.org/drawingml/2006/main">
              <a:ext uri="{FF2B5EF4-FFF2-40B4-BE49-F238E27FC236}">
                <a16:creationId xmlns:a16="http://schemas.microsoft.com/office/drawing/2014/main" id="{6B4FD4BF-EBBA-4C30-BC9E-2AB13CD35F4D}"/>
              </a:ext>
            </a:extLst>
          </p:cNvPr>
          <p:cNvPicPr>
            <a:picLocks xmlns:a="http://schemas.openxmlformats.org/drawingml/2006/main" noChangeAspect="1"/>
          </p:cNvPicPr>
          <p:nvPr/>
        </p:nvPicPr>
        <p:blipFill>
          <a:blip xmlns:r="http://schemas.openxmlformats.org/officeDocument/2006/relationships" xmlns:a="http://schemas.openxmlformats.org/drawingml/2006/main" r:embed="Ra7f37cc861d241e5"/>
          <a:stretch xmlns:a="http://schemas.openxmlformats.org/drawingml/2006/main"/>
        </p:blipFill>
        <p:spPr>
          <a:xfrm xmlns:a="http://schemas.openxmlformats.org/drawingml/2006/main">
            <a:off x="9191625" y="1190625"/>
            <a:ext cx="5238750" cy="52387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330A2DFA-9318-49F0-9023-74C34F4BD52D}"/>
              </a:ext>
            </a:extLst>
          </p:cNvPr>
          <p:cNvSpPr>
            <a:spLocks xmlns:a="http://schemas.openxmlformats.org/drawingml/2006/main" noGrp="1"/>
          </p:cNvSpPr>
          <p:nvPr/>
        </p:nvSpPr>
        <p:spPr>
          <a:xfrm xmlns:a="http://schemas.openxmlformats.org/drawingml/2006/main">
            <a:off x="9239250" y="6210300"/>
            <a:ext cx="5143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00" b="1">
                <a:solidFill>
                  <a:srgbClr val="91B4FF"/>
                </a:solidFill>
                <a:latin typeface="Geist"/>
                <a:ea typeface="Geist"/>
                <a:cs typeface="Geist"/>
              </a:defRPr>
            </a:defPPr>
          </a:lstStyle>
          <a:p xmlns:a="http://schemas.openxmlformats.org/drawingml/2006/main">
            <a:pPr>
              <a:buNone/>
              <a:defRPr sz="1500" b="1">
                <a:solidFill>
                  <a:srgbClr val="91B4FF"/>
                </a:solidFill>
                <a:latin typeface="Geist"/>
                <a:ea typeface="Geist"/>
                <a:cs typeface="Geist"/>
              </a:defRPr>
            </a:pPr>
            <a:r>
              <a:rPr sz="1500" b="1">
                <a:solidFill>
                  <a:srgbClr val="91B4FF"/>
                </a:solidFill>
                <a:latin typeface="Geist"/>
                <a:ea typeface="Geist"/>
                <a:cs typeface="Geist"/>
              </a:rPr>
              <a:t>ONE RENEWAL JOURNEY</a:t>
            </a:r>
          </a:p>
        </p:txBody>
      </p:sp>
      <p:sp>
        <p:nvSpPr>
          <p:cNvPr id="8" name="">
            <a:extLst xmlns:a="http://schemas.openxmlformats.org/drawingml/2006/main">
              <a:ext uri="{FF2B5EF4-FFF2-40B4-BE49-F238E27FC236}">
                <a16:creationId xmlns:a16="http://schemas.microsoft.com/office/drawing/2014/main" id="{1AD37139-0326-4A38-A143-121646FA0523}"/>
              </a:ext>
            </a:extLst>
          </p:cNvPr>
          <p:cNvSpPr>
            <a:spLocks xmlns:a="http://schemas.openxmlformats.org/drawingml/2006/main" noGrp="1"/>
          </p:cNvSpPr>
          <p:nvPr/>
        </p:nvSpPr>
        <p:spPr>
          <a:xfrm xmlns:a="http://schemas.openxmlformats.org/drawingml/2006/main">
            <a:off x="9239250" y="6724650"/>
            <a:ext cx="52387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0">
                <a:solidFill>
                  <a:srgbClr val="F7F7FA"/>
                </a:solidFill>
                <a:latin typeface="Geist"/>
                <a:ea typeface="Geist"/>
                <a:cs typeface="Geist"/>
              </a:defRPr>
            </a:defPPr>
          </a:lstStyle>
          <a:p xmlns:a="http://schemas.openxmlformats.org/drawingml/2006/main">
            <a:pPr>
              <a:buNone/>
              <a:defRPr sz="1800" b="0">
                <a:solidFill>
                  <a:srgbClr val="F7F7FA"/>
                </a:solidFill>
                <a:latin typeface="Geist"/>
                <a:ea typeface="Geist"/>
                <a:cs typeface="Geist"/>
              </a:defRPr>
            </a:pPr>
            <a:r>
              <a:rPr sz="1800" b="0">
                <a:solidFill>
                  <a:srgbClr val="F7F7FA"/>
                </a:solidFill>
                <a:latin typeface="Geist"/>
                <a:ea typeface="Geist"/>
                <a:cs typeface="Geist"/>
              </a:rPr>
              <a:t>1   See subscriptions and billing frequency</a:t>
            </a:r>
          </a:p>
          <a:p xmlns:a="http://schemas.openxmlformats.org/drawingml/2006/main">
            <a:pPr>
              <a:buNone/>
              <a:defRPr sz="1800" b="0">
                <a:solidFill>
                  <a:srgbClr val="F7F7FA"/>
                </a:solidFill>
                <a:latin typeface="Geist"/>
                <a:ea typeface="Geist"/>
                <a:cs typeface="Geist"/>
              </a:defRPr>
            </a:pPr>
            <a:r>
              <a:rPr sz="1800" b="0">
                <a:solidFill>
                  <a:srgbClr val="F7F7FA"/>
                </a:solidFill>
                <a:latin typeface="Geist"/>
                <a:ea typeface="Geist"/>
                <a:cs typeface="Geist"/>
              </a:rPr>
              <a:t>2   Review Apple TV’s €120 yearly renewal</a:t>
            </a:r>
          </a:p>
          <a:p xmlns:a="http://schemas.openxmlformats.org/drawingml/2006/main">
            <a:pPr>
              <a:buNone/>
              <a:defRPr sz="1800" b="0">
                <a:solidFill>
                  <a:srgbClr val="F7F7FA"/>
                </a:solidFill>
                <a:latin typeface="Geist"/>
                <a:ea typeface="Geist"/>
                <a:cs typeface="Geist"/>
              </a:defRPr>
            </a:pPr>
            <a:r>
              <a:rPr sz="1800" b="0">
                <a:solidFill>
                  <a:srgbClr val="F7F7FA"/>
                </a:solidFill>
                <a:latin typeface="Geist"/>
                <a:ea typeface="Geist"/>
                <a:cs typeface="Geist"/>
              </a:rPr>
              <a:t>3   Keep, correct, or cancel with Apple</a:t>
            </a:r>
          </a:p>
        </p:txBody>
      </p:sp>
    </p:spTree>
    <p:extLst>
      <p:ext uri="{BB962C8B-B14F-4D97-AF65-F5344CB8AC3E}">
        <p14:creationId xmlns:p14="http://schemas.microsoft.com/office/powerpoint/2010/main" val="1577109633"/>
      </p:ext>
    </p:extLst>
  </p:cSld>
</p:sld>
</file>

<file path=ppt/slides/slide2.xml><?xml version="1.0" encoding="utf-8"?>
<p:sld xmlns:p="http://schemas.openxmlformats.org/presentationml/2006/main">
  <p:cSld>
    <p:bg>
      <p:bgPr>
        <a:gradFill xmlns:a="http://schemas.openxmlformats.org/drawingml/2006/main">
          <a:gsLst>
            <a:gs pos="0">
              <a:srgbClr val="0B1034"/>
            </a:gs>
            <a:gs pos="58000">
              <a:srgbClr val="000000"/>
            </a:gs>
            <a:gs pos="100000">
              <a:srgbClr val="000000"/>
            </a:gs>
          </a:gsLst>
          <a:lin ang="7200000"/>
        </a:gra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5B181EA-E312-4BD7-8C89-432725EF76BE}"/>
              </a:ext>
            </a:extLst>
          </p:cNvPr>
          <p:cNvSpPr>
            <a:spLocks xmlns:a="http://schemas.openxmlformats.org/drawingml/2006/main" noGrp="1"/>
          </p:cNvSpPr>
          <p:nvPr/>
        </p:nvSpPr>
        <p:spPr>
          <a:xfrm xmlns:a="http://schemas.openxmlformats.org/drawingml/2006/main">
            <a:off x="762000" y="40957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F7F7FA"/>
                </a:solidFill>
                <a:latin typeface="Geist"/>
                <a:ea typeface="Geist"/>
                <a:cs typeface="Geist"/>
              </a:defRPr>
            </a:defPPr>
          </a:lstStyle>
          <a:p xmlns:a="http://schemas.openxmlformats.org/drawingml/2006/main">
            <a:pPr>
              <a:buNone/>
              <a:defRPr sz="2100" b="1">
                <a:solidFill>
                  <a:srgbClr val="F7F7FA"/>
                </a:solidFill>
                <a:latin typeface="Geist"/>
                <a:ea typeface="Geist"/>
                <a:cs typeface="Geist"/>
              </a:defRPr>
            </a:pPr>
            <a:r>
              <a:rPr sz="2100" b="1">
                <a:solidFill>
                  <a:srgbClr val="F7F7FA"/>
                </a:solidFill>
                <a:latin typeface="Geist"/>
                <a:ea typeface="Geist"/>
                <a:cs typeface="Geist"/>
              </a:rPr>
              <a:t>Subscript</a:t>
            </a:r>
          </a:p>
        </p:txBody>
      </p:sp>
      <p:sp>
        <p:nvSpPr>
          <p:cNvPr id="2" name="">
            <a:extLst xmlns:a="http://schemas.openxmlformats.org/drawingml/2006/main">
              <a:ext uri="{FF2B5EF4-FFF2-40B4-BE49-F238E27FC236}">
                <a16:creationId xmlns:a16="http://schemas.microsoft.com/office/drawing/2014/main" id="{927740A5-A1C7-4CB0-A243-3C0E7329E3FC}"/>
              </a:ext>
            </a:extLst>
          </p:cNvPr>
          <p:cNvSpPr>
            <a:spLocks xmlns:a="http://schemas.openxmlformats.org/drawingml/2006/main" noGrp="1"/>
          </p:cNvSpPr>
          <p:nvPr/>
        </p:nvSpPr>
        <p:spPr>
          <a:xfrm xmlns:a="http://schemas.openxmlformats.org/drawingml/2006/main">
            <a:off x="13811250" y="447675"/>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A6A6AE"/>
                </a:solidFill>
                <a:latin typeface="Geist"/>
                <a:ea typeface="Geist"/>
                <a:cs typeface="Geist"/>
              </a:defRPr>
            </a:defPPr>
          </a:lstStyle>
          <a:p xmlns:a="http://schemas.openxmlformats.org/drawingml/2006/main">
            <a:pPr>
              <a:buNone/>
              <a:defRPr sz="1650" b="0">
                <a:solidFill>
                  <a:srgbClr val="A6A6AE"/>
                </a:solidFill>
                <a:latin typeface="Geist"/>
                <a:ea typeface="Geist"/>
                <a:cs typeface="Geist"/>
              </a:defRPr>
            </a:pPr>
            <a:r>
              <a:rPr sz="1650" b="0">
                <a:solidFill>
                  <a:srgbClr val="A6A6AE"/>
                </a:solidFill>
                <a:latin typeface="Geist"/>
                <a:ea typeface="Geist"/>
                <a:cs typeface="Geist"/>
              </a:rPr>
              <a:t>02</a:t>
            </a:r>
          </a:p>
        </p:txBody>
      </p:sp>
      <p:sp>
        <p:nvSpPr>
          <p:cNvPr id="3" name="">
            <a:extLst xmlns:a="http://schemas.openxmlformats.org/drawingml/2006/main">
              <a:ext uri="{FF2B5EF4-FFF2-40B4-BE49-F238E27FC236}">
                <a16:creationId xmlns:a16="http://schemas.microsoft.com/office/drawing/2014/main" id="{EC3B3068-F07D-4343-940E-485611A7A427}"/>
              </a:ext>
            </a:extLst>
          </p:cNvPr>
          <p:cNvSpPr>
            <a:spLocks xmlns:a="http://schemas.openxmlformats.org/drawingml/2006/main" noGrp="1"/>
          </p:cNvSpPr>
          <p:nvPr/>
        </p:nvSpPr>
        <p:spPr>
          <a:xfrm xmlns:a="http://schemas.openxmlformats.org/drawingml/2006/main">
            <a:off x="762000" y="1190625"/>
            <a:ext cx="133350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500" b="1">
                <a:solidFill>
                  <a:srgbClr val="F7F7FA"/>
                </a:solidFill>
                <a:latin typeface="Geist"/>
                <a:ea typeface="Geist"/>
                <a:cs typeface="Geist"/>
              </a:defRPr>
            </a:defPPr>
          </a:lstStyle>
          <a:p xmlns:a="http://schemas.openxmlformats.org/drawingml/2006/main">
            <a:pPr>
              <a:buNone/>
              <a:defRPr sz="4500" b="1">
                <a:solidFill>
                  <a:srgbClr val="F7F7FA"/>
                </a:solidFill>
                <a:latin typeface="Geist"/>
                <a:ea typeface="Geist"/>
                <a:cs typeface="Geist"/>
              </a:defRPr>
            </a:pPr>
            <a:r>
              <a:rPr sz="4500" b="1">
                <a:solidFill>
                  <a:srgbClr val="F7F7FA"/>
                </a:solidFill>
                <a:latin typeface="Geist"/>
                <a:ea typeface="Geist"/>
                <a:cs typeface="Geist"/>
              </a:rPr>
              <a:t>Voice &amp; persona</a:t>
            </a:r>
          </a:p>
        </p:txBody>
      </p:sp>
      <p:sp>
        <p:nvSpPr>
          <p:cNvPr id="4" name="">
            <a:extLst xmlns:a="http://schemas.openxmlformats.org/drawingml/2006/main">
              <a:ext uri="{FF2B5EF4-FFF2-40B4-BE49-F238E27FC236}">
                <a16:creationId xmlns:a16="http://schemas.microsoft.com/office/drawing/2014/main" id="{C0538E63-FF4F-499D-87EB-16579AA6F568}"/>
              </a:ext>
            </a:extLst>
          </p:cNvPr>
          <p:cNvSpPr>
            <a:spLocks xmlns:a="http://schemas.openxmlformats.org/drawingml/2006/main" noGrp="1"/>
          </p:cNvSpPr>
          <p:nvPr/>
        </p:nvSpPr>
        <p:spPr>
          <a:xfrm xmlns:a="http://schemas.openxmlformats.org/drawingml/2006/main">
            <a:off x="762000" y="2419350"/>
            <a:ext cx="13335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91B4FF"/>
                </a:solidFill>
                <a:latin typeface="Geist"/>
                <a:ea typeface="Geist"/>
                <a:cs typeface="Geist"/>
              </a:defRPr>
            </a:defPPr>
          </a:lstStyle>
          <a:p xmlns:a="http://schemas.openxmlformats.org/drawingml/2006/main">
            <a:pPr>
              <a:buNone/>
              <a:defRPr sz="3300" b="1">
                <a:solidFill>
                  <a:srgbClr val="91B4FF"/>
                </a:solidFill>
                <a:latin typeface="Geist"/>
                <a:ea typeface="Geist"/>
                <a:cs typeface="Geist"/>
              </a:defRPr>
            </a:pPr>
            <a:r>
              <a:rPr sz="3300" b="1">
                <a:solidFill>
                  <a:srgbClr val="91B4FF"/>
                </a:solidFill>
                <a:latin typeface="Geist"/>
                <a:ea typeface="Geist"/>
                <a:cs typeface="Geist"/>
              </a:rPr>
              <a:t>A clever, knowledgeable friend</a:t>
            </a:r>
          </a:p>
        </p:txBody>
      </p:sp>
      <p:sp>
        <p:nvSpPr>
          <p:cNvPr id="5" name="">
            <a:extLst xmlns:a="http://schemas.openxmlformats.org/drawingml/2006/main">
              <a:ext uri="{FF2B5EF4-FFF2-40B4-BE49-F238E27FC236}">
                <a16:creationId xmlns:a16="http://schemas.microsoft.com/office/drawing/2014/main" id="{F2606893-7E84-4DCC-9563-AF6DEB5F426A}"/>
              </a:ext>
            </a:extLst>
          </p:cNvPr>
          <p:cNvSpPr>
            <a:spLocks xmlns:a="http://schemas.openxmlformats.org/drawingml/2006/main" noGrp="1"/>
          </p:cNvSpPr>
          <p:nvPr/>
        </p:nvSpPr>
        <p:spPr>
          <a:xfrm xmlns:a="http://schemas.openxmlformats.org/drawingml/2006/main">
            <a:off x="762000" y="3086100"/>
            <a:ext cx="13335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0">
                <a:solidFill>
                  <a:srgbClr val="F7F7FA"/>
                </a:solidFill>
                <a:latin typeface="Geist"/>
                <a:ea typeface="Geist"/>
                <a:cs typeface="Geist"/>
              </a:defRPr>
            </a:defPPr>
          </a:lstStyle>
          <a:p xmlns:a="http://schemas.openxmlformats.org/drawingml/2006/main">
            <a:pPr>
              <a:buNone/>
              <a:defRPr sz="2250" b="0">
                <a:solidFill>
                  <a:srgbClr val="F7F7FA"/>
                </a:solidFill>
                <a:latin typeface="Geist"/>
                <a:ea typeface="Geist"/>
                <a:cs typeface="Geist"/>
              </a:defRPr>
            </a:pPr>
            <a:r>
              <a:rPr sz="2250" b="0">
                <a:solidFill>
                  <a:srgbClr val="F7F7FA"/>
                </a:solidFill>
                <a:latin typeface="Geist"/>
                <a:ea typeface="Geist"/>
                <a:cs typeface="Geist"/>
              </a:rPr>
              <a:t>Friendly in everyday moments. Clear when money is involved.</a:t>
            </a:r>
          </a:p>
        </p:txBody>
      </p:sp>
      <p:sp>
        <p:nvSpPr>
          <p:cNvPr id="6" name="">
            <a:extLst xmlns:a="http://schemas.openxmlformats.org/drawingml/2006/main">
              <a:ext uri="{FF2B5EF4-FFF2-40B4-BE49-F238E27FC236}">
                <a16:creationId xmlns:a16="http://schemas.microsoft.com/office/drawing/2014/main" id="{D45BBD60-03C5-4865-A725-1672CDC32A8F}"/>
              </a:ext>
            </a:extLst>
          </p:cNvPr>
          <p:cNvSpPr>
            <a:spLocks xmlns:a="http://schemas.openxmlformats.org/drawingml/2006/main" noGrp="1"/>
          </p:cNvSpPr>
          <p:nvPr/>
        </p:nvSpPr>
        <p:spPr>
          <a:xfrm xmlns:a="http://schemas.openxmlformats.org/drawingml/2006/main">
            <a:off x="762000" y="4238625"/>
            <a:ext cx="6191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825" b="1">
                <a:solidFill>
                  <a:srgbClr val="F7F7FA"/>
                </a:solidFill>
                <a:latin typeface="Geist"/>
                <a:ea typeface="Geist"/>
                <a:cs typeface="Geist"/>
              </a:defRPr>
            </a:defPPr>
          </a:lstStyle>
          <a:p xmlns:a="http://schemas.openxmlformats.org/drawingml/2006/main">
            <a:pPr>
              <a:buNone/>
              <a:defRPr sz="3825" b="1">
                <a:solidFill>
                  <a:srgbClr val="F7F7FA"/>
                </a:solidFill>
                <a:latin typeface="Geist"/>
                <a:ea typeface="Geist"/>
                <a:cs typeface="Geist"/>
              </a:defRPr>
            </a:pPr>
            <a:r>
              <a:rPr sz="3825" b="1">
                <a:solidFill>
                  <a:srgbClr val="F7F7FA"/>
                </a:solidFill>
                <a:latin typeface="Geist"/>
                <a:ea typeface="Geist"/>
                <a:cs typeface="Geist"/>
              </a:rPr>
              <a:t>Alex</a:t>
            </a:r>
          </a:p>
        </p:txBody>
      </p:sp>
      <p:sp>
        <p:nvSpPr>
          <p:cNvPr id="7" name="">
            <a:extLst xmlns:a="http://schemas.openxmlformats.org/drawingml/2006/main">
              <a:ext uri="{FF2B5EF4-FFF2-40B4-BE49-F238E27FC236}">
                <a16:creationId xmlns:a16="http://schemas.microsoft.com/office/drawing/2014/main" id="{3D60FC34-B402-41CA-899C-6FF3C8E7282D}"/>
              </a:ext>
            </a:extLst>
          </p:cNvPr>
          <p:cNvSpPr>
            <a:spLocks xmlns:a="http://schemas.openxmlformats.org/drawingml/2006/main" noGrp="1"/>
          </p:cNvSpPr>
          <p:nvPr/>
        </p:nvSpPr>
        <p:spPr>
          <a:xfrm xmlns:a="http://schemas.openxmlformats.org/drawingml/2006/main">
            <a:off x="762000" y="4943475"/>
            <a:ext cx="619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91B4FF"/>
                </a:solidFill>
                <a:latin typeface="Geist"/>
                <a:ea typeface="Geist"/>
                <a:cs typeface="Geist"/>
              </a:defRPr>
            </a:defPPr>
          </a:lstStyle>
          <a:p xmlns:a="http://schemas.openxmlformats.org/drawingml/2006/main">
            <a:pPr>
              <a:buNone/>
              <a:defRPr sz="1650" b="0">
                <a:solidFill>
                  <a:srgbClr val="91B4FF"/>
                </a:solidFill>
                <a:latin typeface="Geist"/>
                <a:ea typeface="Geist"/>
                <a:cs typeface="Geist"/>
              </a:defRPr>
            </a:pPr>
            <a:r>
              <a:rPr sz="1650" b="0">
                <a:solidFill>
                  <a:srgbClr val="91B4FF"/>
                </a:solidFill>
                <a:latin typeface="Geist"/>
                <a:ea typeface="Geist"/>
                <a:cs typeface="Geist"/>
              </a:rPr>
              <a:t>Working persona</a:t>
            </a:r>
          </a:p>
        </p:txBody>
      </p:sp>
      <p:sp>
        <p:nvSpPr>
          <p:cNvPr id="8" name="">
            <a:extLst xmlns:a="http://schemas.openxmlformats.org/drawingml/2006/main">
              <a:ext uri="{FF2B5EF4-FFF2-40B4-BE49-F238E27FC236}">
                <a16:creationId xmlns:a16="http://schemas.microsoft.com/office/drawing/2014/main" id="{77528917-DEC8-4764-8D2C-00CDE11C4FC6}"/>
              </a:ext>
            </a:extLst>
          </p:cNvPr>
          <p:cNvSpPr>
            <a:spLocks xmlns:a="http://schemas.openxmlformats.org/drawingml/2006/main" noGrp="1"/>
          </p:cNvSpPr>
          <p:nvPr/>
        </p:nvSpPr>
        <p:spPr>
          <a:xfrm xmlns:a="http://schemas.openxmlformats.org/drawingml/2006/main">
            <a:off x="762000" y="5381625"/>
            <a:ext cx="6191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0">
                <a:solidFill>
                  <a:srgbClr val="F7F7FA"/>
                </a:solidFill>
                <a:latin typeface="Geist"/>
                <a:ea typeface="Geist"/>
                <a:cs typeface="Geist"/>
              </a:defRPr>
            </a:defPPr>
          </a:lstStyle>
          <a:p xmlns:a="http://schemas.openxmlformats.org/drawingml/2006/main">
            <a:pPr>
              <a:buNone/>
              <a:defRPr sz="2100" b="0">
                <a:solidFill>
                  <a:srgbClr val="F7F7FA"/>
                </a:solidFill>
                <a:latin typeface="Geist"/>
                <a:ea typeface="Geist"/>
                <a:cs typeface="Geist"/>
              </a:defRPr>
            </a:pPr>
            <a:r>
              <a:rPr sz="2100" b="0">
                <a:solidFill>
                  <a:srgbClr val="F7F7FA"/>
                </a:solidFill>
                <a:latin typeface="Geist"/>
                <a:ea typeface="Geist"/>
                <a:cs typeface="Geist"/>
              </a:rPr>
              <a:t>A busy young professional with several monthly services and one yearly streaming plan.</a:t>
            </a:r>
          </a:p>
        </p:txBody>
      </p:sp>
      <p:sp>
        <p:nvSpPr>
          <p:cNvPr id="9" name="">
            <a:extLst xmlns:a="http://schemas.openxmlformats.org/drawingml/2006/main">
              <a:ext uri="{FF2B5EF4-FFF2-40B4-BE49-F238E27FC236}">
                <a16:creationId xmlns:a16="http://schemas.microsoft.com/office/drawing/2014/main" id="{95594144-640C-4316-B061-DE7843CD2C80}"/>
              </a:ext>
            </a:extLst>
          </p:cNvPr>
          <p:cNvSpPr>
            <a:spLocks xmlns:a="http://schemas.openxmlformats.org/drawingml/2006/main" noGrp="1"/>
          </p:cNvSpPr>
          <p:nvPr/>
        </p:nvSpPr>
        <p:spPr>
          <a:xfrm xmlns:a="http://schemas.openxmlformats.org/drawingml/2006/main">
            <a:off x="762000" y="6477000"/>
            <a:ext cx="61912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A6A6AE"/>
                </a:solidFill>
                <a:latin typeface="Geist"/>
                <a:ea typeface="Geist"/>
                <a:cs typeface="Geist"/>
              </a:defRPr>
            </a:defPPr>
          </a:lstStyle>
          <a:p xmlns:a="http://schemas.openxmlformats.org/drawingml/2006/main">
            <a:pPr>
              <a:buNone/>
              <a:defRPr sz="2025" b="0">
                <a:solidFill>
                  <a:srgbClr val="A6A6AE"/>
                </a:solidFill>
                <a:latin typeface="Geist"/>
                <a:ea typeface="Geist"/>
                <a:cs typeface="Geist"/>
              </a:defRPr>
            </a:pPr>
            <a:r>
              <a:rPr sz="2025" b="0">
                <a:solidFill>
                  <a:srgbClr val="A6A6AE"/>
                </a:solidFill>
                <a:latin typeface="Geist"/>
                <a:ea typeface="Geist"/>
                <a:cs typeface="Geist"/>
              </a:rPr>
              <a:t>Wants one clear overview of costs and renewals.</a:t>
            </a:r>
          </a:p>
          <a:p xmlns:a="http://schemas.openxmlformats.org/drawingml/2006/main">
            <a:pPr>
              <a:buNone/>
              <a:defRPr sz="2025" b="0">
                <a:solidFill>
                  <a:srgbClr val="A6A6AE"/>
                </a:solidFill>
                <a:latin typeface="Geist"/>
                <a:ea typeface="Geist"/>
                <a:cs typeface="Geist"/>
              </a:defRPr>
            </a:pPr>
            <a:r>
              <a:rPr sz="2025" b="0">
                <a:solidFill>
                  <a:srgbClr val="A6A6AE"/>
                </a:solidFill>
                <a:latin typeface="Geist"/>
                <a:ea typeface="Geist"/>
                <a:cs typeface="Geist"/>
              </a:rPr>
              <a:t>Worries about forgotten renewals, averages that look like bills, and whether cancellation stopped payments.</a:t>
            </a:r>
          </a:p>
        </p:txBody>
      </p:sp>
      <p:sp>
        <p:nvSpPr>
          <p:cNvPr id="10" name="">
            <a:extLst xmlns:a="http://schemas.openxmlformats.org/drawingml/2006/main">
              <a:ext uri="{FF2B5EF4-FFF2-40B4-BE49-F238E27FC236}">
                <a16:creationId xmlns:a16="http://schemas.microsoft.com/office/drawing/2014/main" id="{B7357D14-96B2-4D16-9D2F-D1ED2FE223FC}"/>
              </a:ext>
            </a:extLst>
          </p:cNvPr>
          <p:cNvSpPr>
            <a:spLocks xmlns:a="http://schemas.openxmlformats.org/drawingml/2006/main" noGrp="1"/>
          </p:cNvSpPr>
          <p:nvPr/>
        </p:nvSpPr>
        <p:spPr>
          <a:xfrm xmlns:a="http://schemas.openxmlformats.org/drawingml/2006/main">
            <a:off x="8096250" y="4238625"/>
            <a:ext cx="619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F7F7FA"/>
                </a:solidFill>
                <a:latin typeface="Geist"/>
                <a:ea typeface="Geist"/>
                <a:cs typeface="Geist"/>
              </a:defRPr>
            </a:defPPr>
          </a:lstStyle>
          <a:p xmlns:a="http://schemas.openxmlformats.org/drawingml/2006/main">
            <a:pPr>
              <a:buNone/>
              <a:defRPr sz="2250" b="1">
                <a:solidFill>
                  <a:srgbClr val="F7F7FA"/>
                </a:solidFill>
                <a:latin typeface="Geist"/>
                <a:ea typeface="Geist"/>
                <a:cs typeface="Geist"/>
              </a:defRPr>
            </a:pPr>
            <a:r>
              <a:rPr sz="2250" b="1">
                <a:solidFill>
                  <a:srgbClr val="F7F7FA"/>
                </a:solidFill>
                <a:latin typeface="Geist"/>
                <a:ea typeface="Geist"/>
                <a:cs typeface="Geist"/>
              </a:rPr>
              <a:t>Conversational</a:t>
            </a:r>
          </a:p>
        </p:txBody>
      </p:sp>
      <p:sp>
        <p:nvSpPr>
          <p:cNvPr id="11" name="">
            <a:extLst xmlns:a="http://schemas.openxmlformats.org/drawingml/2006/main">
              <a:ext uri="{FF2B5EF4-FFF2-40B4-BE49-F238E27FC236}">
                <a16:creationId xmlns:a16="http://schemas.microsoft.com/office/drawing/2014/main" id="{5C31DAB1-C3D9-470E-9178-E8BF06FF6DFB}"/>
              </a:ext>
            </a:extLst>
          </p:cNvPr>
          <p:cNvSpPr>
            <a:spLocks xmlns:a="http://schemas.openxmlformats.org/drawingml/2006/main" noGrp="1"/>
          </p:cNvSpPr>
          <p:nvPr/>
        </p:nvSpPr>
        <p:spPr>
          <a:xfrm xmlns:a="http://schemas.openxmlformats.org/drawingml/2006/main">
            <a:off x="8096250" y="4743450"/>
            <a:ext cx="6191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A6A6AE"/>
                </a:solidFill>
                <a:latin typeface="Geist"/>
                <a:ea typeface="Geist"/>
                <a:cs typeface="Geist"/>
              </a:defRPr>
            </a:defPPr>
          </a:lstStyle>
          <a:p xmlns:a="http://schemas.openxmlformats.org/drawingml/2006/main">
            <a:pPr>
              <a:buNone/>
              <a:defRPr sz="2025" b="0">
                <a:solidFill>
                  <a:srgbClr val="A6A6AE"/>
                </a:solidFill>
                <a:latin typeface="Geist"/>
                <a:ea typeface="Geist"/>
                <a:cs typeface="Geist"/>
              </a:defRPr>
            </a:pPr>
            <a:r>
              <a:rPr sz="2025" b="0">
                <a:solidFill>
                  <a:srgbClr val="A6A6AE"/>
                </a:solidFill>
                <a:latin typeface="Geist"/>
                <a:ea typeface="Geist"/>
                <a:cs typeface="Geist"/>
              </a:rPr>
              <a:t>A natural question, a personal welcome.</a:t>
            </a:r>
          </a:p>
          <a:p xmlns:a="http://schemas.openxmlformats.org/drawingml/2006/main">
            <a:pPr>
              <a:buNone/>
              <a:defRPr sz="2025" b="0">
                <a:solidFill>
                  <a:srgbClr val="A6A6AE"/>
                </a:solidFill>
                <a:latin typeface="Geist"/>
                <a:ea typeface="Geist"/>
                <a:cs typeface="Geist"/>
              </a:defRPr>
            </a:pPr>
            <a:r>
              <a:rPr sz="2025" b="0">
                <a:solidFill>
                  <a:srgbClr val="A6A6AE"/>
                </a:solidFill>
                <a:latin typeface="Geist"/>
                <a:ea typeface="Geist"/>
                <a:cs typeface="Geist"/>
              </a:rPr>
              <a:t>“What should we call you?”</a:t>
            </a:r>
          </a:p>
        </p:txBody>
      </p:sp>
      <p:sp>
        <p:nvSpPr>
          <p:cNvPr id="12" name="">
            <a:extLst xmlns:a="http://schemas.openxmlformats.org/drawingml/2006/main">
              <a:ext uri="{FF2B5EF4-FFF2-40B4-BE49-F238E27FC236}">
                <a16:creationId xmlns:a16="http://schemas.microsoft.com/office/drawing/2014/main" id="{7DE00668-612F-4BE6-BC63-27A51DEA3C48}"/>
              </a:ext>
            </a:extLst>
          </p:cNvPr>
          <p:cNvSpPr>
            <a:spLocks xmlns:a="http://schemas.openxmlformats.org/drawingml/2006/main" noGrp="1"/>
          </p:cNvSpPr>
          <p:nvPr/>
        </p:nvSpPr>
        <p:spPr>
          <a:xfrm xmlns:a="http://schemas.openxmlformats.org/drawingml/2006/main">
            <a:off x="8096250" y="5476875"/>
            <a:ext cx="619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F7F7FA"/>
                </a:solidFill>
                <a:latin typeface="Geist"/>
                <a:ea typeface="Geist"/>
                <a:cs typeface="Geist"/>
              </a:defRPr>
            </a:defPPr>
          </a:lstStyle>
          <a:p xmlns:a="http://schemas.openxmlformats.org/drawingml/2006/main">
            <a:pPr>
              <a:buNone/>
              <a:defRPr sz="2250" b="1">
                <a:solidFill>
                  <a:srgbClr val="F7F7FA"/>
                </a:solidFill>
                <a:latin typeface="Geist"/>
                <a:ea typeface="Geist"/>
                <a:cs typeface="Geist"/>
              </a:defRPr>
            </a:pPr>
            <a:r>
              <a:rPr sz="2250" b="1">
                <a:solidFill>
                  <a:srgbClr val="F7F7FA"/>
                </a:solidFill>
                <a:latin typeface="Geist"/>
                <a:ea typeface="Geist"/>
                <a:cs typeface="Geist"/>
              </a:rPr>
              <a:t>Knowledgeable</a:t>
            </a:r>
          </a:p>
        </p:txBody>
      </p:sp>
      <p:sp>
        <p:nvSpPr>
          <p:cNvPr id="13" name="">
            <a:extLst xmlns:a="http://schemas.openxmlformats.org/drawingml/2006/main">
              <a:ext uri="{FF2B5EF4-FFF2-40B4-BE49-F238E27FC236}">
                <a16:creationId xmlns:a16="http://schemas.microsoft.com/office/drawing/2014/main" id="{FFCBB5FB-1F8B-4039-A99E-38F345C11857}"/>
              </a:ext>
            </a:extLst>
          </p:cNvPr>
          <p:cNvSpPr>
            <a:spLocks xmlns:a="http://schemas.openxmlformats.org/drawingml/2006/main" noGrp="1"/>
          </p:cNvSpPr>
          <p:nvPr/>
        </p:nvSpPr>
        <p:spPr>
          <a:xfrm xmlns:a="http://schemas.openxmlformats.org/drawingml/2006/main">
            <a:off x="8096250" y="5981700"/>
            <a:ext cx="6191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A6A6AE"/>
                </a:solidFill>
                <a:latin typeface="Geist"/>
                <a:ea typeface="Geist"/>
                <a:cs typeface="Geist"/>
              </a:defRPr>
            </a:defPPr>
          </a:lstStyle>
          <a:p xmlns:a="http://schemas.openxmlformats.org/drawingml/2006/main">
            <a:pPr>
              <a:buNone/>
              <a:defRPr sz="2025" b="0">
                <a:solidFill>
                  <a:srgbClr val="A6A6AE"/>
                </a:solidFill>
                <a:latin typeface="Geist"/>
                <a:ea typeface="Geist"/>
                <a:cs typeface="Geist"/>
              </a:defRPr>
            </a:pPr>
            <a:r>
              <a:rPr sz="2025" b="0">
                <a:solidFill>
                  <a:srgbClr val="A6A6AE"/>
                </a:solidFill>
                <a:latin typeface="Geist"/>
                <a:ea typeface="Geist"/>
                <a:cs typeface="Geist"/>
              </a:rPr>
              <a:t>Explain costs and how we calculate them.</a:t>
            </a:r>
          </a:p>
          <a:p xmlns:a="http://schemas.openxmlformats.org/drawingml/2006/main">
            <a:pPr>
              <a:buNone/>
              <a:defRPr sz="2025" b="0">
                <a:solidFill>
                  <a:srgbClr val="A6A6AE"/>
                </a:solidFill>
                <a:latin typeface="Geist"/>
                <a:ea typeface="Geist"/>
                <a:cs typeface="Geist"/>
              </a:defRPr>
            </a:pPr>
            <a:r>
              <a:rPr sz="2025" b="0">
                <a:solidFill>
                  <a:srgbClr val="A6A6AE"/>
                </a:solidFill>
                <a:latin typeface="Geist"/>
                <a:ea typeface="Geist"/>
                <a:cs typeface="Geist"/>
              </a:rPr>
              <a:t>“Monthly average” / “Yearly plans divided by 12.”</a:t>
            </a:r>
          </a:p>
        </p:txBody>
      </p:sp>
      <p:sp>
        <p:nvSpPr>
          <p:cNvPr id="14" name="">
            <a:extLst xmlns:a="http://schemas.openxmlformats.org/drawingml/2006/main">
              <a:ext uri="{FF2B5EF4-FFF2-40B4-BE49-F238E27FC236}">
                <a16:creationId xmlns:a16="http://schemas.microsoft.com/office/drawing/2014/main" id="{A1416370-D5B0-4B73-804D-718F43821323}"/>
              </a:ext>
            </a:extLst>
          </p:cNvPr>
          <p:cNvSpPr>
            <a:spLocks xmlns:a="http://schemas.openxmlformats.org/drawingml/2006/main" noGrp="1"/>
          </p:cNvSpPr>
          <p:nvPr/>
        </p:nvSpPr>
        <p:spPr>
          <a:xfrm xmlns:a="http://schemas.openxmlformats.org/drawingml/2006/main">
            <a:off x="8096250" y="6715125"/>
            <a:ext cx="619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F7F7FA"/>
                </a:solidFill>
                <a:latin typeface="Geist"/>
                <a:ea typeface="Geist"/>
                <a:cs typeface="Geist"/>
              </a:defRPr>
            </a:defPPr>
          </a:lstStyle>
          <a:p xmlns:a="http://schemas.openxmlformats.org/drawingml/2006/main">
            <a:pPr>
              <a:buNone/>
              <a:defRPr sz="2250" b="1">
                <a:solidFill>
                  <a:srgbClr val="F7F7FA"/>
                </a:solidFill>
                <a:latin typeface="Geist"/>
                <a:ea typeface="Geist"/>
                <a:cs typeface="Geist"/>
              </a:defRPr>
            </a:pPr>
            <a:r>
              <a:rPr sz="2250" b="1">
                <a:solidFill>
                  <a:srgbClr val="F7F7FA"/>
                </a:solidFill>
                <a:latin typeface="Geist"/>
                <a:ea typeface="Geist"/>
                <a:cs typeface="Geist"/>
              </a:rPr>
              <a:t>Lightly playful</a:t>
            </a:r>
          </a:p>
        </p:txBody>
      </p:sp>
      <p:sp>
        <p:nvSpPr>
          <p:cNvPr id="15" name="">
            <a:extLst xmlns:a="http://schemas.openxmlformats.org/drawingml/2006/main">
              <a:ext uri="{FF2B5EF4-FFF2-40B4-BE49-F238E27FC236}">
                <a16:creationId xmlns:a16="http://schemas.microsoft.com/office/drawing/2014/main" id="{12A7B015-1014-4B7F-96C7-7437923293E6}"/>
              </a:ext>
            </a:extLst>
          </p:cNvPr>
          <p:cNvSpPr>
            <a:spLocks xmlns:a="http://schemas.openxmlformats.org/drawingml/2006/main" noGrp="1"/>
          </p:cNvSpPr>
          <p:nvPr/>
        </p:nvSpPr>
        <p:spPr>
          <a:xfrm xmlns:a="http://schemas.openxmlformats.org/drawingml/2006/main">
            <a:off x="8096250" y="7219950"/>
            <a:ext cx="6191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A6A6AE"/>
                </a:solidFill>
                <a:latin typeface="Geist"/>
                <a:ea typeface="Geist"/>
                <a:cs typeface="Geist"/>
              </a:defRPr>
            </a:defPPr>
          </a:lstStyle>
          <a:p xmlns:a="http://schemas.openxmlformats.org/drawingml/2006/main">
            <a:pPr>
              <a:buNone/>
              <a:defRPr sz="2025" b="0">
                <a:solidFill>
                  <a:srgbClr val="A6A6AE"/>
                </a:solidFill>
                <a:latin typeface="Geist"/>
                <a:ea typeface="Geist"/>
                <a:cs typeface="Geist"/>
              </a:defRPr>
            </a:pPr>
            <a:r>
              <a:rPr sz="2025" b="0">
                <a:solidFill>
                  <a:srgbClr val="A6A6AE"/>
                </a:solidFill>
                <a:latin typeface="Geist"/>
                <a:ea typeface="Geist"/>
                <a:cs typeface="Geist"/>
              </a:rPr>
              <a:t>“Meet your regulars.” “No accounts? No rush.”</a:t>
            </a:r>
          </a:p>
          <a:p xmlns:a="http://schemas.openxmlformats.org/drawingml/2006/main">
            <a:pPr>
              <a:buNone/>
              <a:defRPr sz="2025" b="0">
                <a:solidFill>
                  <a:srgbClr val="A6A6AE"/>
                </a:solidFill>
                <a:latin typeface="Geist"/>
                <a:ea typeface="Geist"/>
                <a:cs typeface="Geist"/>
              </a:defRPr>
            </a:pPr>
            <a:r>
              <a:rPr sz="2025" b="0">
                <a:solidFill>
                  <a:srgbClr val="A6A6AE"/>
                </a:solidFill>
                <a:latin typeface="Geist"/>
                <a:ea typeface="Geist"/>
                <a:cs typeface="Geist"/>
              </a:rPr>
              <a:t>A little wit, with room to choose.</a:t>
            </a:r>
          </a:p>
        </p:txBody>
      </p:sp>
    </p:spTree>
    <p:extLst>
      <p:ext uri="{BB962C8B-B14F-4D97-AF65-F5344CB8AC3E}">
        <p14:creationId xmlns:p14="http://schemas.microsoft.com/office/powerpoint/2010/main" val="1402305933"/>
      </p:ext>
    </p:extLst>
  </p:cSld>
</p:sld>
</file>

<file path=ppt/slides/slide3.xml><?xml version="1.0" encoding="utf-8"?>
<p:sld xmlns:p="http://schemas.openxmlformats.org/presentationml/2006/main">
  <p:cSld>
    <p:bg>
      <p:bgPr>
        <a:gradFill xmlns:a="http://schemas.openxmlformats.org/drawingml/2006/main">
          <a:gsLst>
            <a:gs pos="0">
              <a:srgbClr val="0B1034"/>
            </a:gs>
            <a:gs pos="58000">
              <a:srgbClr val="000000"/>
            </a:gs>
            <a:gs pos="100000">
              <a:srgbClr val="000000"/>
            </a:gs>
          </a:gsLst>
          <a:lin ang="7200000"/>
        </a:gra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163A82EB-FDBD-4171-84EE-D2A83BFC62A1}"/>
              </a:ext>
            </a:extLst>
          </p:cNvPr>
          <p:cNvSpPr>
            <a:spLocks xmlns:a="http://schemas.openxmlformats.org/drawingml/2006/main" noGrp="1"/>
          </p:cNvSpPr>
          <p:nvPr/>
        </p:nvSpPr>
        <p:spPr>
          <a:xfrm xmlns:a="http://schemas.openxmlformats.org/drawingml/2006/main">
            <a:off x="762000" y="40957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F7F7FA"/>
                </a:solidFill>
                <a:latin typeface="Geist"/>
                <a:ea typeface="Geist"/>
                <a:cs typeface="Geist"/>
              </a:defRPr>
            </a:defPPr>
          </a:lstStyle>
          <a:p xmlns:a="http://schemas.openxmlformats.org/drawingml/2006/main">
            <a:pPr>
              <a:buNone/>
              <a:defRPr sz="2100" b="1">
                <a:solidFill>
                  <a:srgbClr val="F7F7FA"/>
                </a:solidFill>
                <a:latin typeface="Geist"/>
                <a:ea typeface="Geist"/>
                <a:cs typeface="Geist"/>
              </a:defRPr>
            </a:pPr>
            <a:r>
              <a:rPr sz="2100" b="1">
                <a:solidFill>
                  <a:srgbClr val="F7F7FA"/>
                </a:solidFill>
                <a:latin typeface="Geist"/>
                <a:ea typeface="Geist"/>
                <a:cs typeface="Geist"/>
              </a:rPr>
              <a:t>Subscript</a:t>
            </a:r>
          </a:p>
        </p:txBody>
      </p:sp>
      <p:sp>
        <p:nvSpPr>
          <p:cNvPr id="2" name="">
            <a:extLst xmlns:a="http://schemas.openxmlformats.org/drawingml/2006/main">
              <a:ext uri="{FF2B5EF4-FFF2-40B4-BE49-F238E27FC236}">
                <a16:creationId xmlns:a16="http://schemas.microsoft.com/office/drawing/2014/main" id="{65C57340-CE57-4305-9E8A-FED56C20BD6B}"/>
              </a:ext>
            </a:extLst>
          </p:cNvPr>
          <p:cNvSpPr>
            <a:spLocks xmlns:a="http://schemas.openxmlformats.org/drawingml/2006/main" noGrp="1"/>
          </p:cNvSpPr>
          <p:nvPr/>
        </p:nvSpPr>
        <p:spPr>
          <a:xfrm xmlns:a="http://schemas.openxmlformats.org/drawingml/2006/main">
            <a:off x="13811250" y="447675"/>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A6A6AE"/>
                </a:solidFill>
                <a:latin typeface="Geist"/>
                <a:ea typeface="Geist"/>
                <a:cs typeface="Geist"/>
              </a:defRPr>
            </a:defPPr>
          </a:lstStyle>
          <a:p xmlns:a="http://schemas.openxmlformats.org/drawingml/2006/main">
            <a:pPr>
              <a:buNone/>
              <a:defRPr sz="1650" b="0">
                <a:solidFill>
                  <a:srgbClr val="A6A6AE"/>
                </a:solidFill>
                <a:latin typeface="Geist"/>
                <a:ea typeface="Geist"/>
                <a:cs typeface="Geist"/>
              </a:defRPr>
            </a:pPr>
            <a:r>
              <a:rPr sz="1650" b="0">
                <a:solidFill>
                  <a:srgbClr val="A6A6AE"/>
                </a:solidFill>
                <a:latin typeface="Geist"/>
                <a:ea typeface="Geist"/>
                <a:cs typeface="Geist"/>
              </a:rPr>
              <a:t>03</a:t>
            </a:r>
          </a:p>
        </p:txBody>
      </p:sp>
      <p:sp>
        <p:nvSpPr>
          <p:cNvPr id="3" name="">
            <a:extLst xmlns:a="http://schemas.openxmlformats.org/drawingml/2006/main">
              <a:ext uri="{FF2B5EF4-FFF2-40B4-BE49-F238E27FC236}">
                <a16:creationId xmlns:a16="http://schemas.microsoft.com/office/drawing/2014/main" id="{51FC21DE-C56C-4505-B2E8-86F5BC4A8DA4}"/>
              </a:ext>
            </a:extLst>
          </p:cNvPr>
          <p:cNvSpPr>
            <a:spLocks xmlns:a="http://schemas.openxmlformats.org/drawingml/2006/main" noGrp="1"/>
          </p:cNvSpPr>
          <p:nvPr/>
        </p:nvSpPr>
        <p:spPr>
          <a:xfrm xmlns:a="http://schemas.openxmlformats.org/drawingml/2006/main">
            <a:off x="762000" y="1190625"/>
            <a:ext cx="133350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500" b="1">
                <a:solidFill>
                  <a:srgbClr val="F7F7FA"/>
                </a:solidFill>
                <a:latin typeface="Geist"/>
                <a:ea typeface="Geist"/>
                <a:cs typeface="Geist"/>
              </a:defRPr>
            </a:defPPr>
          </a:lstStyle>
          <a:p xmlns:a="http://schemas.openxmlformats.org/drawingml/2006/main">
            <a:pPr>
              <a:buNone/>
              <a:defRPr sz="4500" b="1">
                <a:solidFill>
                  <a:srgbClr val="F7F7FA"/>
                </a:solidFill>
                <a:latin typeface="Geist"/>
                <a:ea typeface="Geist"/>
                <a:cs typeface="Geist"/>
              </a:defRPr>
            </a:pPr>
            <a:r>
              <a:rPr sz="4500" b="1">
                <a:solidFill>
                  <a:srgbClr val="F7F7FA"/>
                </a:solidFill>
                <a:latin typeface="Geist"/>
                <a:ea typeface="Geist"/>
                <a:cs typeface="Geist"/>
              </a:rPr>
              <a:t>Semantic research</a:t>
            </a:r>
          </a:p>
        </p:txBody>
      </p:sp>
      <p:sp>
        <p:nvSpPr>
          <p:cNvPr id="4" name="">
            <a:extLst xmlns:a="http://schemas.openxmlformats.org/drawingml/2006/main">
              <a:ext uri="{FF2B5EF4-FFF2-40B4-BE49-F238E27FC236}">
                <a16:creationId xmlns:a16="http://schemas.microsoft.com/office/drawing/2014/main" id="{30758E7F-D1FE-492A-8BC7-3A07F949B3C4}"/>
              </a:ext>
            </a:extLst>
          </p:cNvPr>
          <p:cNvSpPr>
            <a:spLocks xmlns:a="http://schemas.openxmlformats.org/drawingml/2006/main" noGrp="1"/>
          </p:cNvSpPr>
          <p:nvPr/>
        </p:nvSpPr>
        <p:spPr>
          <a:xfrm xmlns:a="http://schemas.openxmlformats.org/drawingml/2006/main">
            <a:off x="762000" y="2114550"/>
            <a:ext cx="1333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A6A6AE"/>
                </a:solidFill>
                <a:latin typeface="Geist"/>
                <a:ea typeface="Geist"/>
                <a:cs typeface="Geist"/>
              </a:defRPr>
            </a:defPPr>
          </a:lstStyle>
          <a:p xmlns:a="http://schemas.openxmlformats.org/drawingml/2006/main">
            <a:pPr>
              <a:buNone/>
              <a:defRPr sz="1875" b="0">
                <a:solidFill>
                  <a:srgbClr val="A6A6AE"/>
                </a:solidFill>
                <a:latin typeface="Geist"/>
                <a:ea typeface="Geist"/>
                <a:cs typeface="Geist"/>
              </a:defRPr>
            </a:pPr>
            <a:r>
              <a:rPr sz="1875" b="0">
                <a:solidFill>
                  <a:srgbClr val="A6A6AE"/>
                </a:solidFill>
                <a:latin typeface="Geist"/>
                <a:ea typeface="Geist"/>
                <a:cs typeface="Geist"/>
              </a:rPr>
              <a:t>Public desk research. These are forum posts, not interviews.</a:t>
            </a:r>
          </a:p>
        </p:txBody>
      </p:sp>
      <p:sp>
        <p:nvSpPr>
          <p:cNvPr id="5" name="">
            <a:extLst xmlns:a="http://schemas.openxmlformats.org/drawingml/2006/main">
              <a:ext uri="{FF2B5EF4-FFF2-40B4-BE49-F238E27FC236}">
                <a16:creationId xmlns:a16="http://schemas.microsoft.com/office/drawing/2014/main" id="{80599D56-1BF9-4546-9146-52DA23B521A7}"/>
              </a:ext>
            </a:extLst>
          </p:cNvPr>
          <p:cNvSpPr>
            <a:spLocks xmlns:a="http://schemas.openxmlformats.org/drawingml/2006/main" noGrp="1"/>
          </p:cNvSpPr>
          <p:nvPr/>
        </p:nvSpPr>
        <p:spPr>
          <a:xfrm xmlns:a="http://schemas.openxmlformats.org/drawingml/2006/main">
            <a:off x="762000" y="2800350"/>
            <a:ext cx="62865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F7F7FA"/>
                </a:solidFill>
                <a:latin typeface="Geist"/>
                <a:ea typeface="Geist"/>
                <a:cs typeface="Geist"/>
              </a:defRPr>
            </a:defPPr>
          </a:lstStyle>
          <a:p xmlns:a="http://schemas.openxmlformats.org/drawingml/2006/main">
            <a:pPr>
              <a:buNone/>
              <a:defRPr sz="1875" b="0">
                <a:solidFill>
                  <a:srgbClr val="F7F7FA"/>
                </a:solidFill>
                <a:latin typeface="Geist"/>
                <a:ea typeface="Geist"/>
                <a:cs typeface="Geist"/>
              </a:defRPr>
            </a:pPr>
            <a:r>
              <a:rPr sz="1875" b="0">
                <a:solidFill>
                  <a:srgbClr val="F7F7FA"/>
                </a:solidFill>
                <a:latin typeface="Geist"/>
                <a:ea typeface="Geist"/>
                <a:cs typeface="Geist"/>
              </a:rPr>
              <a:t>“I did not expect it to auto-renew.”</a:t>
            </a:r>
          </a:p>
        </p:txBody>
      </p:sp>
      <p:sp>
        <p:nvSpPr>
          <p:cNvPr id="6" name="">
            <a:extLst xmlns:a="http://schemas.openxmlformats.org/drawingml/2006/main">
              <a:ext uri="{FF2B5EF4-FFF2-40B4-BE49-F238E27FC236}">
                <a16:creationId xmlns:a16="http://schemas.microsoft.com/office/drawing/2014/main" id="{D796E772-7E68-489F-AE8E-3521292A6E8E}"/>
              </a:ext>
            </a:extLst>
          </p:cNvPr>
          <p:cNvSpPr>
            <a:spLocks xmlns:a="http://schemas.openxmlformats.org/drawingml/2006/main" noGrp="1"/>
          </p:cNvSpPr>
          <p:nvPr/>
        </p:nvSpPr>
        <p:spPr>
          <a:xfrm xmlns:a="http://schemas.openxmlformats.org/drawingml/2006/main">
            <a:off x="762000" y="3714750"/>
            <a:ext cx="628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00" b="0">
                <a:solidFill>
                  <a:srgbClr val="91B4FF"/>
                </a:solidFill>
                <a:latin typeface="Geist"/>
                <a:ea typeface="Geist"/>
                <a:cs typeface="Geist"/>
              </a:defRPr>
            </a:defPPr>
          </a:lstStyle>
          <a:p xmlns:a="http://schemas.openxmlformats.org/drawingml/2006/main">
            <a:pPr>
              <a:buNone/>
              <a:defRPr sz="1500" b="0">
                <a:solidFill>
                  <a:srgbClr val="91B4FF"/>
                </a:solidFill>
                <a:latin typeface="Geist"/>
                <a:ea typeface="Geist"/>
                <a:cs typeface="Geist"/>
              </a:defRPr>
            </a:pPr>
            <a:r>
              <a:rPr sz="1500" b="0">
                <a:solidFill>
                  <a:srgbClr val="91B4FF"/>
                </a:solidFill>
                <a:latin typeface="Geist"/>
                <a:ea typeface="Geist"/>
                <a:cs typeface="Geist"/>
                <a:hlinkClick xmlns:r="http://schemas.openxmlformats.org/officeDocument/2006/relationships" r:id="R79ef31b47f664a81"/>
              </a:rPr>
              <a:t>r/Windscribe</a:t>
            </a:r>
          </a:p>
        </p:txBody>
      </p:sp>
      <p:sp>
        <p:nvSpPr>
          <p:cNvPr id="7" name="">
            <a:extLst xmlns:a="http://schemas.openxmlformats.org/drawingml/2006/main">
              <a:ext uri="{FF2B5EF4-FFF2-40B4-BE49-F238E27FC236}">
                <a16:creationId xmlns:a16="http://schemas.microsoft.com/office/drawing/2014/main" id="{1906C3AE-6AD8-4C97-9BEB-CACBF79D45FB}"/>
              </a:ext>
            </a:extLst>
          </p:cNvPr>
          <p:cNvSpPr>
            <a:spLocks xmlns:a="http://schemas.openxmlformats.org/drawingml/2006/main" noGrp="1"/>
          </p:cNvSpPr>
          <p:nvPr/>
        </p:nvSpPr>
        <p:spPr>
          <a:xfrm xmlns:a="http://schemas.openxmlformats.org/drawingml/2006/main">
            <a:off x="762000" y="4105275"/>
            <a:ext cx="62865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F7F7FA"/>
                </a:solidFill>
                <a:latin typeface="Geist"/>
                <a:ea typeface="Geist"/>
                <a:cs typeface="Geist"/>
              </a:defRPr>
            </a:defPPr>
          </a:lstStyle>
          <a:p xmlns:a="http://schemas.openxmlformats.org/drawingml/2006/main">
            <a:pPr>
              <a:buNone/>
              <a:defRPr sz="1875" b="0">
                <a:solidFill>
                  <a:srgbClr val="F7F7FA"/>
                </a:solidFill>
                <a:latin typeface="Geist"/>
                <a:ea typeface="Geist"/>
                <a:cs typeface="Geist"/>
              </a:defRPr>
            </a:pPr>
            <a:r>
              <a:rPr sz="1875" b="0">
                <a:solidFill>
                  <a:srgbClr val="F7F7FA"/>
                </a:solidFill>
                <a:latin typeface="Geist"/>
                <a:ea typeface="Geist"/>
                <a:cs typeface="Geist"/>
              </a:rPr>
              <a:t>“I’ve been trying to cancel my subscription for almost an hour now and it’s driving me mental.”</a:t>
            </a:r>
          </a:p>
        </p:txBody>
      </p:sp>
      <p:sp>
        <p:nvSpPr>
          <p:cNvPr id="8" name="">
            <a:extLst xmlns:a="http://schemas.openxmlformats.org/drawingml/2006/main">
              <a:ext uri="{FF2B5EF4-FFF2-40B4-BE49-F238E27FC236}">
                <a16:creationId xmlns:a16="http://schemas.microsoft.com/office/drawing/2014/main" id="{89F7659F-EE59-44B3-9B7B-78C5F3579800}"/>
              </a:ext>
            </a:extLst>
          </p:cNvPr>
          <p:cNvSpPr>
            <a:spLocks xmlns:a="http://schemas.openxmlformats.org/drawingml/2006/main" noGrp="1"/>
          </p:cNvSpPr>
          <p:nvPr/>
        </p:nvSpPr>
        <p:spPr>
          <a:xfrm xmlns:a="http://schemas.openxmlformats.org/drawingml/2006/main">
            <a:off x="762000" y="5019675"/>
            <a:ext cx="628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00" b="0">
                <a:solidFill>
                  <a:srgbClr val="91B4FF"/>
                </a:solidFill>
                <a:latin typeface="Geist"/>
                <a:ea typeface="Geist"/>
                <a:cs typeface="Geist"/>
              </a:defRPr>
            </a:defPPr>
          </a:lstStyle>
          <a:p xmlns:a="http://schemas.openxmlformats.org/drawingml/2006/main">
            <a:pPr>
              <a:buNone/>
              <a:defRPr sz="1500" b="0">
                <a:solidFill>
                  <a:srgbClr val="91B4FF"/>
                </a:solidFill>
                <a:latin typeface="Geist"/>
                <a:ea typeface="Geist"/>
                <a:cs typeface="Geist"/>
              </a:defRPr>
            </a:pPr>
            <a:r>
              <a:rPr sz="1500" b="0">
                <a:solidFill>
                  <a:srgbClr val="91B4FF"/>
                </a:solidFill>
                <a:latin typeface="Geist"/>
                <a:ea typeface="Geist"/>
                <a:cs typeface="Geist"/>
                <a:hlinkClick xmlns:r="http://schemas.openxmlformats.org/officeDocument/2006/relationships" r:id="R0d8cf530779142fc"/>
              </a:rPr>
              <a:t>r/appletv</a:t>
            </a:r>
          </a:p>
        </p:txBody>
      </p:sp>
      <p:sp>
        <p:nvSpPr>
          <p:cNvPr id="9" name="">
            <a:extLst xmlns:a="http://schemas.openxmlformats.org/drawingml/2006/main">
              <a:ext uri="{FF2B5EF4-FFF2-40B4-BE49-F238E27FC236}">
                <a16:creationId xmlns:a16="http://schemas.microsoft.com/office/drawing/2014/main" id="{CEBE5D41-3BD7-4988-B053-A27161278C58}"/>
              </a:ext>
            </a:extLst>
          </p:cNvPr>
          <p:cNvSpPr>
            <a:spLocks xmlns:a="http://schemas.openxmlformats.org/drawingml/2006/main" noGrp="1"/>
          </p:cNvSpPr>
          <p:nvPr/>
        </p:nvSpPr>
        <p:spPr>
          <a:xfrm xmlns:a="http://schemas.openxmlformats.org/drawingml/2006/main">
            <a:off x="762000" y="5410200"/>
            <a:ext cx="62865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F7F7FA"/>
                </a:solidFill>
                <a:latin typeface="Geist"/>
                <a:ea typeface="Geist"/>
                <a:cs typeface="Geist"/>
              </a:defRPr>
            </a:defPPr>
          </a:lstStyle>
          <a:p xmlns:a="http://schemas.openxmlformats.org/drawingml/2006/main">
            <a:pPr>
              <a:buNone/>
              <a:defRPr sz="1875" b="0">
                <a:solidFill>
                  <a:srgbClr val="F7F7FA"/>
                </a:solidFill>
                <a:latin typeface="Geist"/>
                <a:ea typeface="Geist"/>
                <a:cs typeface="Geist"/>
              </a:defRPr>
            </a:pPr>
            <a:r>
              <a:rPr sz="1875" b="0">
                <a:solidFill>
                  <a:srgbClr val="F7F7FA"/>
                </a:solidFill>
                <a:latin typeface="Geist"/>
                <a:ea typeface="Geist"/>
                <a:cs typeface="Geist"/>
              </a:rPr>
              <a:t>“I want to find an easy way to keep track of everything and review it from time to time.”</a:t>
            </a:r>
          </a:p>
        </p:txBody>
      </p:sp>
      <p:sp>
        <p:nvSpPr>
          <p:cNvPr id="10" name="">
            <a:extLst xmlns:a="http://schemas.openxmlformats.org/drawingml/2006/main">
              <a:ext uri="{FF2B5EF4-FFF2-40B4-BE49-F238E27FC236}">
                <a16:creationId xmlns:a16="http://schemas.microsoft.com/office/drawing/2014/main" id="{A596D780-ED3E-4344-800A-3B5EC8A9F0A6}"/>
              </a:ext>
            </a:extLst>
          </p:cNvPr>
          <p:cNvSpPr>
            <a:spLocks xmlns:a="http://schemas.openxmlformats.org/drawingml/2006/main" noGrp="1"/>
          </p:cNvSpPr>
          <p:nvPr/>
        </p:nvSpPr>
        <p:spPr>
          <a:xfrm xmlns:a="http://schemas.openxmlformats.org/drawingml/2006/main">
            <a:off x="762000" y="6324600"/>
            <a:ext cx="628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00" b="0">
                <a:solidFill>
                  <a:srgbClr val="91B4FF"/>
                </a:solidFill>
                <a:latin typeface="Geist"/>
                <a:ea typeface="Geist"/>
                <a:cs typeface="Geist"/>
              </a:defRPr>
            </a:defPPr>
          </a:lstStyle>
          <a:p xmlns:a="http://schemas.openxmlformats.org/drawingml/2006/main">
            <a:pPr>
              <a:buNone/>
              <a:defRPr sz="1500" b="0">
                <a:solidFill>
                  <a:srgbClr val="91B4FF"/>
                </a:solidFill>
                <a:latin typeface="Geist"/>
                <a:ea typeface="Geist"/>
                <a:cs typeface="Geist"/>
              </a:defRPr>
            </a:pPr>
            <a:r>
              <a:rPr sz="1500" b="0">
                <a:solidFill>
                  <a:srgbClr val="91B4FF"/>
                </a:solidFill>
                <a:latin typeface="Geist"/>
                <a:ea typeface="Geist"/>
                <a:cs typeface="Geist"/>
                <a:hlinkClick xmlns:r="http://schemas.openxmlformats.org/officeDocument/2006/relationships" r:id="Rf767d02e40d04cb4"/>
              </a:rPr>
              <a:t>r/budgetingforbeginners</a:t>
            </a:r>
          </a:p>
        </p:txBody>
      </p:sp>
      <p:sp>
        <p:nvSpPr>
          <p:cNvPr id="11" name="">
            <a:extLst xmlns:a="http://schemas.openxmlformats.org/drawingml/2006/main">
              <a:ext uri="{FF2B5EF4-FFF2-40B4-BE49-F238E27FC236}">
                <a16:creationId xmlns:a16="http://schemas.microsoft.com/office/drawing/2014/main" id="{E950692A-F782-4CE3-8073-AA0E8275495A}"/>
              </a:ext>
            </a:extLst>
          </p:cNvPr>
          <p:cNvSpPr>
            <a:spLocks xmlns:a="http://schemas.openxmlformats.org/drawingml/2006/main" noGrp="1"/>
          </p:cNvSpPr>
          <p:nvPr/>
        </p:nvSpPr>
        <p:spPr>
          <a:xfrm xmlns:a="http://schemas.openxmlformats.org/drawingml/2006/main">
            <a:off x="762000" y="6715125"/>
            <a:ext cx="62865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F7F7FA"/>
                </a:solidFill>
                <a:latin typeface="Geist"/>
                <a:ea typeface="Geist"/>
                <a:cs typeface="Geist"/>
              </a:defRPr>
            </a:defPPr>
          </a:lstStyle>
          <a:p xmlns:a="http://schemas.openxmlformats.org/drawingml/2006/main">
            <a:pPr>
              <a:buNone/>
              <a:defRPr sz="1875" b="0">
                <a:solidFill>
                  <a:srgbClr val="F7F7FA"/>
                </a:solidFill>
                <a:latin typeface="Geist"/>
                <a:ea typeface="Geist"/>
                <a:cs typeface="Geist"/>
              </a:defRPr>
            </a:pPr>
            <a:r>
              <a:rPr sz="1875" b="0">
                <a:solidFill>
                  <a:srgbClr val="F7F7FA"/>
                </a:solidFill>
                <a:latin typeface="Geist"/>
                <a:ea typeface="Geist"/>
                <a:cs typeface="Geist"/>
              </a:rPr>
              <a:t>“Yes, I’ve forgotten about subscriptions. I forgot to cancel my ancestry subscription last month.”</a:t>
            </a:r>
          </a:p>
        </p:txBody>
      </p:sp>
      <p:sp>
        <p:nvSpPr>
          <p:cNvPr id="12" name="">
            <a:extLst xmlns:a="http://schemas.openxmlformats.org/drawingml/2006/main">
              <a:ext uri="{FF2B5EF4-FFF2-40B4-BE49-F238E27FC236}">
                <a16:creationId xmlns:a16="http://schemas.microsoft.com/office/drawing/2014/main" id="{B61A15F1-0B53-4965-BAAF-E8C6F218A417}"/>
              </a:ext>
            </a:extLst>
          </p:cNvPr>
          <p:cNvSpPr>
            <a:spLocks xmlns:a="http://schemas.openxmlformats.org/drawingml/2006/main" noGrp="1"/>
          </p:cNvSpPr>
          <p:nvPr/>
        </p:nvSpPr>
        <p:spPr>
          <a:xfrm xmlns:a="http://schemas.openxmlformats.org/drawingml/2006/main">
            <a:off x="762000" y="7629525"/>
            <a:ext cx="628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00" b="0">
                <a:solidFill>
                  <a:srgbClr val="91B4FF"/>
                </a:solidFill>
                <a:latin typeface="Geist"/>
                <a:ea typeface="Geist"/>
                <a:cs typeface="Geist"/>
              </a:defRPr>
            </a:defPPr>
          </a:lstStyle>
          <a:p xmlns:a="http://schemas.openxmlformats.org/drawingml/2006/main">
            <a:pPr>
              <a:buNone/>
              <a:defRPr sz="1500" b="0">
                <a:solidFill>
                  <a:srgbClr val="91B4FF"/>
                </a:solidFill>
                <a:latin typeface="Geist"/>
                <a:ea typeface="Geist"/>
                <a:cs typeface="Geist"/>
              </a:defRPr>
            </a:pPr>
            <a:r>
              <a:rPr sz="1500" b="0">
                <a:solidFill>
                  <a:srgbClr val="91B4FF"/>
                </a:solidFill>
                <a:latin typeface="Geist"/>
                <a:ea typeface="Geist"/>
                <a:cs typeface="Geist"/>
                <a:hlinkClick xmlns:r="http://schemas.openxmlformats.org/officeDocument/2006/relationships" r:id="Rca25f3b9918a4403"/>
              </a:rPr>
              <a:t>r/Millennials</a:t>
            </a:r>
          </a:p>
        </p:txBody>
      </p:sp>
      <p:sp>
        <p:nvSpPr>
          <p:cNvPr id="13" name="">
            <a:extLst xmlns:a="http://schemas.openxmlformats.org/drawingml/2006/main">
              <a:ext uri="{FF2B5EF4-FFF2-40B4-BE49-F238E27FC236}">
                <a16:creationId xmlns:a16="http://schemas.microsoft.com/office/drawing/2014/main" id="{C84AD7F7-8140-4229-B556-3EA7A138C410}"/>
              </a:ext>
            </a:extLst>
          </p:cNvPr>
          <p:cNvSpPr>
            <a:spLocks xmlns:a="http://schemas.openxmlformats.org/drawingml/2006/main" noGrp="1"/>
          </p:cNvSpPr>
          <p:nvPr/>
        </p:nvSpPr>
        <p:spPr>
          <a:xfrm xmlns:a="http://schemas.openxmlformats.org/drawingml/2006/main">
            <a:off x="7715250" y="2790825"/>
            <a:ext cx="666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75" b="1">
                <a:solidFill>
                  <a:srgbClr val="91B4FF"/>
                </a:solidFill>
                <a:latin typeface="Geist"/>
                <a:ea typeface="Geist"/>
                <a:cs typeface="Geist"/>
              </a:defRPr>
            </a:defPPr>
          </a:lstStyle>
          <a:p xmlns:a="http://schemas.openxmlformats.org/drawingml/2006/main">
            <a:pPr>
              <a:buNone/>
              <a:defRPr sz="2475" b="1">
                <a:solidFill>
                  <a:srgbClr val="91B4FF"/>
                </a:solidFill>
                <a:latin typeface="Geist"/>
                <a:ea typeface="Geist"/>
                <a:cs typeface="Geist"/>
              </a:defRPr>
            </a:pPr>
            <a:r>
              <a:rPr sz="2475" b="1">
                <a:solidFill>
                  <a:srgbClr val="91B4FF"/>
                </a:solidFill>
                <a:latin typeface="Geist"/>
                <a:ea typeface="Geist"/>
                <a:cs typeface="Geist"/>
              </a:rPr>
              <a:t>Words we reuse</a:t>
            </a:r>
          </a:p>
        </p:txBody>
      </p:sp>
      <p:graphicFrame>
        <p:nvGraphicFramePr>
          <p:cNvPr id="14" name="">
            <a:extLst xmlns:a="http://schemas.openxmlformats.org/drawingml/2006/main">
              <a:ext uri="{FF2B5EF4-FFF2-40B4-BE49-F238E27FC236}">
                <a16:creationId xmlns:a16="http://schemas.microsoft.com/office/drawing/2014/main" id="{74804876-2CAD-498E-AEF1-40BD37E3788A}"/>
              </a:ext>
            </a:extLst>
          </p:cNvPr>
          <p:cNvGraphicFramePr/>
          <p:nvPr/>
        </p:nvGraphicFramePr>
        <p:xfrm>
          <a:off xmlns:a="http://schemas.openxmlformats.org/drawingml/2006/main" x="7715250" y="3400425"/>
          <a:ext xmlns:a="http://schemas.openxmlformats.org/drawingml/2006/main" cx="6762750" cy="4276725"/>
        </p:xfrm>
        <a:graphic xmlns:a="http://schemas.openxmlformats.org/drawingml/2006/main">
          <a:graphicData uri="http://schemas.openxmlformats.org/drawingml/2006/table">
            <a:tbl>
              <a:tblPr/>
              <a:tblGrid>
                <a:gridCol w="3143250"/>
                <a:gridCol w="3619500"/>
              </a:tblGrid>
              <a:tr h="855345">
                <a:tc>
                  <a:txBody>
                    <a:bodyPr lIns="171450" tIns="171450" rIns="171450" bIns="171450"/>
                    <a:lstStyle/>
                    <a:p>
                      <a:r>
                        <a:rPr sz="1800" b="1">
                          <a:solidFill>
                            <a:srgbClr val="A6A6AE"/>
                          </a:solidFill>
                          <a:latin typeface="Geist"/>
                          <a:ea typeface="Geist"/>
                          <a:cs typeface="Geist"/>
                        </a:rPr>
                        <a:t>Company wording</a:t>
                      </a:r>
                    </a:p>
                  </a:txBody>
                  <a:tcPr marL="91440" marR="91440" marT="45720" marB="45720">
                    <a:solidFill>
                      <a:srgbClr val="232E83"/>
                    </a:solidFill>
                  </a:tcPr>
                </a:tc>
                <a:tc>
                  <a:txBody>
                    <a:bodyPr lIns="171450" tIns="171450" rIns="171450" bIns="171450"/>
                    <a:lstStyle/>
                    <a:p>
                      <a:r>
                        <a:rPr sz="1800" b="1">
                          <a:solidFill>
                            <a:srgbClr val="F7F7FA"/>
                          </a:solidFill>
                          <a:latin typeface="Geist"/>
                          <a:ea typeface="Geist"/>
                          <a:cs typeface="Geist"/>
                        </a:rPr>
                        <a:t>User wording</a:t>
                      </a:r>
                    </a:p>
                  </a:txBody>
                  <a:tcPr marL="91440" marR="91440" marT="45720" marB="45720">
                    <a:solidFill>
                      <a:srgbClr val="232E83"/>
                    </a:solidFill>
                  </a:tcPr>
                </a:tc>
              </a:tr>
              <a:tr h="855345">
                <a:tc>
                  <a:txBody>
                    <a:bodyPr lIns="171450" tIns="171450" rIns="171450" bIns="171450"/>
                    <a:lstStyle/>
                    <a:p>
                      <a:r>
                        <a:rPr sz="1875" b="0">
                          <a:solidFill>
                            <a:srgbClr val="A6A6AE"/>
                          </a:solidFill>
                          <a:latin typeface="Geist"/>
                          <a:ea typeface="Geist"/>
                          <a:cs typeface="Geist"/>
                        </a:rPr>
                        <a:t>Predicted renewal</a:t>
                      </a:r>
                    </a:p>
                  </a:txBody>
                  <a:tcPr marL="91440" marR="91440" marT="45720" marB="45720">
                    <a:solidFill>
                      <a:srgbClr val="19191F"/>
                    </a:solidFill>
                  </a:tcPr>
                </a:tc>
                <a:tc>
                  <a:txBody>
                    <a:bodyPr lIns="171450" tIns="171450" rIns="171450" bIns="171450"/>
                    <a:lstStyle/>
                    <a:p>
                      <a:r>
                        <a:rPr sz="1875" b="0">
                          <a:solidFill>
                            <a:srgbClr val="F7F7FA"/>
                          </a:solidFill>
                          <a:latin typeface="Geist"/>
                          <a:ea typeface="Geist"/>
                          <a:cs typeface="Geist"/>
                        </a:rPr>
                        <a:t>Estimated next payment</a:t>
                      </a:r>
                    </a:p>
                  </a:txBody>
                  <a:tcPr marL="91440" marR="91440" marT="45720" marB="45720">
                    <a:solidFill>
                      <a:srgbClr val="19191F"/>
                    </a:solidFill>
                  </a:tcPr>
                </a:tc>
              </a:tr>
              <a:tr h="855345">
                <a:tc>
                  <a:txBody>
                    <a:bodyPr lIns="171450" tIns="171450" rIns="171450" bIns="171450"/>
                    <a:lstStyle/>
                    <a:p>
                      <a:r>
                        <a:rPr sz="1875" b="0">
                          <a:solidFill>
                            <a:srgbClr val="A6A6AE"/>
                          </a:solidFill>
                          <a:latin typeface="Geist"/>
                          <a:ea typeface="Geist"/>
                          <a:cs typeface="Geist"/>
                        </a:rPr>
                        <a:t>Ongoing subscription portfolio</a:t>
                      </a:r>
                    </a:p>
                  </a:txBody>
                  <a:tcPr marL="91440" marR="91440" marT="45720" marB="45720">
                    <a:solidFill>
                      <a:srgbClr val="19191F"/>
                    </a:solidFill>
                  </a:tcPr>
                </a:tc>
                <a:tc>
                  <a:txBody>
                    <a:bodyPr lIns="171450" tIns="171450" rIns="171450" bIns="171450"/>
                    <a:lstStyle/>
                    <a:p>
                      <a:r>
                        <a:rPr sz="1875" b="0">
                          <a:solidFill>
                            <a:srgbClr val="F7F7FA"/>
                          </a:solidFill>
                          <a:latin typeface="Geist"/>
                          <a:ea typeface="Geist"/>
                          <a:cs typeface="Geist"/>
                        </a:rPr>
                        <a:t>Your subscriptions</a:t>
                      </a:r>
                    </a:p>
                  </a:txBody>
                  <a:tcPr marL="91440" marR="91440" marT="45720" marB="45720">
                    <a:solidFill>
                      <a:srgbClr val="19191F"/>
                    </a:solidFill>
                  </a:tcPr>
                </a:tc>
              </a:tr>
              <a:tr h="855345">
                <a:tc>
                  <a:txBody>
                    <a:bodyPr lIns="171450" tIns="171450" rIns="171450" bIns="171450"/>
                    <a:lstStyle/>
                    <a:p>
                      <a:r>
                        <a:rPr sz="1875" b="0">
                          <a:solidFill>
                            <a:srgbClr val="A6A6AE"/>
                          </a:solidFill>
                          <a:latin typeface="Geist"/>
                          <a:ea typeface="Geist"/>
                          <a:cs typeface="Geist"/>
                        </a:rPr>
                        <a:t>Normalized annual expenditure</a:t>
                      </a:r>
                    </a:p>
                  </a:txBody>
                  <a:tcPr marL="91440" marR="91440" marT="45720" marB="45720">
                    <a:solidFill>
                      <a:srgbClr val="19191F"/>
                    </a:solidFill>
                  </a:tcPr>
                </a:tc>
                <a:tc>
                  <a:txBody>
                    <a:bodyPr lIns="171450" tIns="171450" rIns="171450" bIns="171450"/>
                    <a:lstStyle/>
                    <a:p>
                      <a:r>
                        <a:rPr sz="1875" b="0">
                          <a:solidFill>
                            <a:srgbClr val="F7F7FA"/>
                          </a:solidFill>
                          <a:latin typeface="Geist"/>
                          <a:ea typeface="Geist"/>
                          <a:cs typeface="Geist"/>
                        </a:rPr>
                        <a:t>Yearly plans divided by 12</a:t>
                      </a:r>
                    </a:p>
                  </a:txBody>
                  <a:tcPr marL="91440" marR="91440" marT="45720" marB="45720">
                    <a:solidFill>
                      <a:srgbClr val="19191F"/>
                    </a:solidFill>
                  </a:tcPr>
                </a:tc>
              </a:tr>
              <a:tr h="855345">
                <a:tc>
                  <a:txBody>
                    <a:bodyPr lIns="171450" tIns="171450" rIns="171450" bIns="171450"/>
                    <a:lstStyle/>
                    <a:p>
                      <a:r>
                        <a:rPr sz="1875" b="0">
                          <a:solidFill>
                            <a:srgbClr val="A6A6AE"/>
                          </a:solidFill>
                          <a:latin typeface="Geist"/>
                          <a:ea typeface="Geist"/>
                          <a:cs typeface="Geist"/>
                        </a:rPr>
                        <a:t>Provider handoff / cancellation status update</a:t>
                      </a:r>
                    </a:p>
                  </a:txBody>
                  <a:tcPr marL="91440" marR="91440" marT="45720" marB="45720">
                    <a:solidFill>
                      <a:srgbClr val="19191F"/>
                    </a:solidFill>
                  </a:tcPr>
                </a:tc>
                <a:tc>
                  <a:txBody>
                    <a:bodyPr lIns="171450" tIns="171450" rIns="171450" bIns="171450"/>
                    <a:lstStyle/>
                    <a:p>
                      <a:r>
                        <a:rPr sz="1875" b="0">
                          <a:solidFill>
                            <a:srgbClr val="F7F7FA"/>
                          </a:solidFill>
                          <a:latin typeface="Geist"/>
                          <a:ea typeface="Geist"/>
                          <a:cs typeface="Geist"/>
                        </a:rPr>
                        <a:t>Cancel with Apple, then update Subscript</a:t>
                      </a:r>
                    </a:p>
                  </a:txBody>
                  <a:tcPr marL="91440" marR="91440" marT="45720" marB="45720">
                    <a:solidFill>
                      <a:srgbClr val="19191F"/>
                    </a:solidFill>
                  </a:tcPr>
                </a:tc>
              </a:tr>
            </a:tbl>
          </a:graphicData>
        </a:graphic>
      </p:graphicFrame>
    </p:spTree>
    <p:extLst>
      <p:ext uri="{BB962C8B-B14F-4D97-AF65-F5344CB8AC3E}">
        <p14:creationId xmlns:p14="http://schemas.microsoft.com/office/powerpoint/2010/main" val="2004353012"/>
      </p:ext>
    </p:extLst>
  </p:cSld>
</p:sld>
</file>

<file path=ppt/slides/slide4.xml><?xml version="1.0" encoding="utf-8"?>
<p:sld xmlns:p="http://schemas.openxmlformats.org/presentationml/2006/main">
  <p:cSld>
    <p:bg>
      <p:bgPr>
        <a:gradFill xmlns:a="http://schemas.openxmlformats.org/drawingml/2006/main">
          <a:gsLst>
            <a:gs pos="0">
              <a:srgbClr val="233AFA"/>
            </a:gs>
            <a:gs pos="65000">
              <a:srgbClr val="0B1034"/>
            </a:gs>
            <a:gs pos="100000">
              <a:srgbClr val="000000"/>
            </a:gs>
          </a:gsLst>
          <a:lin ang="7200000"/>
        </a:gra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11D5D8A-F80D-4892-8488-21C5F0B10FD5}"/>
              </a:ext>
            </a:extLst>
          </p:cNvPr>
          <p:cNvSpPr>
            <a:spLocks xmlns:a="http://schemas.openxmlformats.org/drawingml/2006/main" noGrp="1"/>
          </p:cNvSpPr>
          <p:nvPr/>
        </p:nvSpPr>
        <p:spPr>
          <a:xfrm xmlns:a="http://schemas.openxmlformats.org/drawingml/2006/main">
            <a:off x="762000" y="40957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F7F7FA"/>
                </a:solidFill>
                <a:latin typeface="Geist"/>
                <a:ea typeface="Geist"/>
                <a:cs typeface="Geist"/>
              </a:defRPr>
            </a:defPPr>
          </a:lstStyle>
          <a:p xmlns:a="http://schemas.openxmlformats.org/drawingml/2006/main">
            <a:pPr>
              <a:buNone/>
              <a:defRPr sz="2100" b="1">
                <a:solidFill>
                  <a:srgbClr val="F7F7FA"/>
                </a:solidFill>
                <a:latin typeface="Geist"/>
                <a:ea typeface="Geist"/>
                <a:cs typeface="Geist"/>
              </a:defRPr>
            </a:pPr>
            <a:r>
              <a:rPr sz="2100" b="1">
                <a:solidFill>
                  <a:srgbClr val="F7F7FA"/>
                </a:solidFill>
                <a:latin typeface="Geist"/>
                <a:ea typeface="Geist"/>
                <a:cs typeface="Geist"/>
              </a:rPr>
              <a:t>Subscript</a:t>
            </a:r>
          </a:p>
        </p:txBody>
      </p:sp>
      <p:sp>
        <p:nvSpPr>
          <p:cNvPr id="2" name="">
            <a:extLst xmlns:a="http://schemas.openxmlformats.org/drawingml/2006/main">
              <a:ext uri="{FF2B5EF4-FFF2-40B4-BE49-F238E27FC236}">
                <a16:creationId xmlns:a16="http://schemas.microsoft.com/office/drawing/2014/main" id="{552416B1-5BED-4C2C-B8DD-3E1F9ACE8C20}"/>
              </a:ext>
            </a:extLst>
          </p:cNvPr>
          <p:cNvSpPr>
            <a:spLocks xmlns:a="http://schemas.openxmlformats.org/drawingml/2006/main" noGrp="1"/>
          </p:cNvSpPr>
          <p:nvPr/>
        </p:nvSpPr>
        <p:spPr>
          <a:xfrm xmlns:a="http://schemas.openxmlformats.org/drawingml/2006/main">
            <a:off x="13811250" y="447675"/>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A6A6AE"/>
                </a:solidFill>
                <a:latin typeface="Geist"/>
                <a:ea typeface="Geist"/>
                <a:cs typeface="Geist"/>
              </a:defRPr>
            </a:defPPr>
          </a:lstStyle>
          <a:p xmlns:a="http://schemas.openxmlformats.org/drawingml/2006/main">
            <a:pPr>
              <a:buNone/>
              <a:defRPr sz="1650" b="0">
                <a:solidFill>
                  <a:srgbClr val="A6A6AE"/>
                </a:solidFill>
                <a:latin typeface="Geist"/>
                <a:ea typeface="Geist"/>
                <a:cs typeface="Geist"/>
              </a:defRPr>
            </a:pPr>
            <a:r>
              <a:rPr sz="1650" b="0">
                <a:solidFill>
                  <a:srgbClr val="A6A6AE"/>
                </a:solidFill>
                <a:latin typeface="Geist"/>
                <a:ea typeface="Geist"/>
                <a:cs typeface="Geist"/>
              </a:rPr>
              <a:t>04</a:t>
            </a:r>
          </a:p>
        </p:txBody>
      </p:sp>
      <p:sp>
        <p:nvSpPr>
          <p:cNvPr id="3" name="">
            <a:extLst xmlns:a="http://schemas.openxmlformats.org/drawingml/2006/main">
              <a:ext uri="{FF2B5EF4-FFF2-40B4-BE49-F238E27FC236}">
                <a16:creationId xmlns:a16="http://schemas.microsoft.com/office/drawing/2014/main" id="{09B47393-7A95-4744-9BD2-84DF21DF03FE}"/>
              </a:ext>
            </a:extLst>
          </p:cNvPr>
          <p:cNvSpPr>
            <a:spLocks xmlns:a="http://schemas.openxmlformats.org/drawingml/2006/main" noGrp="1"/>
          </p:cNvSpPr>
          <p:nvPr/>
        </p:nvSpPr>
        <p:spPr>
          <a:xfrm xmlns:a="http://schemas.openxmlformats.org/drawingml/2006/main">
            <a:off x="762000" y="1190625"/>
            <a:ext cx="133350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500" b="1">
                <a:solidFill>
                  <a:srgbClr val="F7F7FA"/>
                </a:solidFill>
                <a:latin typeface="Geist"/>
                <a:ea typeface="Geist"/>
                <a:cs typeface="Geist"/>
              </a:defRPr>
            </a:defPPr>
          </a:lstStyle>
          <a:p xmlns:a="http://schemas.openxmlformats.org/drawingml/2006/main">
            <a:pPr>
              <a:buNone/>
              <a:defRPr sz="4500" b="1">
                <a:solidFill>
                  <a:srgbClr val="F7F7FA"/>
                </a:solidFill>
                <a:latin typeface="Geist"/>
                <a:ea typeface="Geist"/>
                <a:cs typeface="Geist"/>
              </a:defRPr>
            </a:pPr>
            <a:r>
              <a:rPr sz="4500" b="1">
                <a:solidFill>
                  <a:srgbClr val="F7F7FA"/>
                </a:solidFill>
                <a:latin typeface="Geist"/>
                <a:ea typeface="Geist"/>
                <a:cs typeface="Geist"/>
              </a:rPr>
              <a:t>The interactive demos</a:t>
            </a:r>
          </a:p>
        </p:txBody>
      </p:sp>
      <p:sp>
        <p:nvSpPr>
          <p:cNvPr id="4" name="">
            <a:extLst xmlns:a="http://schemas.openxmlformats.org/drawingml/2006/main">
              <a:ext uri="{FF2B5EF4-FFF2-40B4-BE49-F238E27FC236}">
                <a16:creationId xmlns:a16="http://schemas.microsoft.com/office/drawing/2014/main" id="{5EFDBB63-C7FF-4602-B7C2-3CE4FDC355B4}"/>
              </a:ext>
            </a:extLst>
          </p:cNvPr>
          <p:cNvSpPr>
            <a:spLocks xmlns:a="http://schemas.openxmlformats.org/drawingml/2006/main" noGrp="1"/>
          </p:cNvSpPr>
          <p:nvPr/>
        </p:nvSpPr>
        <p:spPr>
          <a:xfrm xmlns:a="http://schemas.openxmlformats.org/drawingml/2006/main">
            <a:off x="762000" y="2857500"/>
            <a:ext cx="8001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750" b="1">
                <a:solidFill>
                  <a:srgbClr val="F7F7FA"/>
                </a:solidFill>
                <a:latin typeface="Geist"/>
                <a:ea typeface="Geist"/>
                <a:cs typeface="Geist"/>
              </a:defRPr>
            </a:defPPr>
          </a:lstStyle>
          <a:p xmlns:a="http://schemas.openxmlformats.org/drawingml/2006/main">
            <a:pPr>
              <a:buNone/>
              <a:defRPr sz="3750" b="1">
                <a:solidFill>
                  <a:srgbClr val="F7F7FA"/>
                </a:solidFill>
                <a:latin typeface="Geist"/>
                <a:ea typeface="Geist"/>
                <a:cs typeface="Geist"/>
              </a:defRPr>
            </a:pPr>
            <a:r>
              <a:rPr sz="3750" b="1">
                <a:solidFill>
                  <a:srgbClr val="F7F7FA"/>
                </a:solidFill>
                <a:latin typeface="Geist"/>
                <a:ea typeface="Geist"/>
                <a:cs typeface="Geist"/>
              </a:rPr>
              <a:t>Both prototypes, one voice</a:t>
            </a:r>
          </a:p>
        </p:txBody>
      </p:sp>
      <p:sp>
        <p:nvSpPr>
          <p:cNvPr id="5" name="">
            <a:extLst xmlns:a="http://schemas.openxmlformats.org/drawingml/2006/main">
              <a:ext uri="{FF2B5EF4-FFF2-40B4-BE49-F238E27FC236}">
                <a16:creationId xmlns:a16="http://schemas.microsoft.com/office/drawing/2014/main" id="{FE698947-C473-4C7B-9C79-F787F73F5AC0}"/>
              </a:ext>
            </a:extLst>
          </p:cNvPr>
          <p:cNvSpPr>
            <a:spLocks xmlns:a="http://schemas.openxmlformats.org/drawingml/2006/main" noGrp="1"/>
          </p:cNvSpPr>
          <p:nvPr/>
        </p:nvSpPr>
        <p:spPr>
          <a:xfrm xmlns:a="http://schemas.openxmlformats.org/drawingml/2006/main">
            <a:off x="762000" y="3905250"/>
            <a:ext cx="8239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00" b="0">
                <a:solidFill>
                  <a:srgbClr val="91B4FF"/>
                </a:solidFill>
                <a:latin typeface="Geist"/>
                <a:ea typeface="Geist"/>
                <a:cs typeface="Geist"/>
              </a:defRPr>
            </a:defPPr>
          </a:lstStyle>
          <a:p xmlns:a="http://schemas.openxmlformats.org/drawingml/2006/main">
            <a:pPr>
              <a:buNone/>
              <a:defRPr sz="2400" b="0">
                <a:solidFill>
                  <a:srgbClr val="91B4FF"/>
                </a:solidFill>
                <a:latin typeface="Geist"/>
                <a:ea typeface="Geist"/>
                <a:cs typeface="Geist"/>
              </a:defRPr>
            </a:pPr>
            <a:r>
              <a:rPr sz="2400" b="0">
                <a:solidFill>
                  <a:srgbClr val="91B4FF"/>
                </a:solidFill>
                <a:latin typeface="Geist"/>
                <a:ea typeface="Geist"/>
                <a:cs typeface="Geist"/>
                <a:hlinkClick xmlns:r="http://schemas.openxmlformats.org/officeDocument/2006/relationships" r:id="Rf340c7a95bad4632"/>
              </a:rPr>
              <a:t>subscription-app-alpha-vert.vercel.app</a:t>
            </a:r>
          </a:p>
        </p:txBody>
      </p:sp>
      <p:sp>
        <p:nvSpPr>
          <p:cNvPr id="6" name="">
            <a:extLst xmlns:a="http://schemas.openxmlformats.org/drawingml/2006/main">
              <a:ext uri="{FF2B5EF4-FFF2-40B4-BE49-F238E27FC236}">
                <a16:creationId xmlns:a16="http://schemas.microsoft.com/office/drawing/2014/main" id="{18D21551-DF5E-4C85-98B3-551C354FCAC8}"/>
              </a:ext>
            </a:extLst>
          </p:cNvPr>
          <p:cNvSpPr>
            <a:spLocks xmlns:a="http://schemas.openxmlformats.org/drawingml/2006/main" noGrp="1"/>
          </p:cNvSpPr>
          <p:nvPr/>
        </p:nvSpPr>
        <p:spPr>
          <a:xfrm xmlns:a="http://schemas.openxmlformats.org/drawingml/2006/main">
            <a:off x="762000" y="4781550"/>
            <a:ext cx="809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A6A6AE"/>
                </a:solidFill>
                <a:latin typeface="Geist"/>
                <a:ea typeface="Geist"/>
                <a:cs typeface="Geist"/>
              </a:defRPr>
            </a:defPPr>
          </a:lstStyle>
          <a:p xmlns:a="http://schemas.openxmlformats.org/drawingml/2006/main">
            <a:pPr>
              <a:buNone/>
              <a:defRPr sz="1725" b="0">
                <a:solidFill>
                  <a:srgbClr val="A6A6AE"/>
                </a:solidFill>
                <a:latin typeface="Geist"/>
                <a:ea typeface="Geist"/>
                <a:cs typeface="Geist"/>
              </a:defRPr>
            </a:pPr>
            <a:r>
              <a:rPr sz="1725" b="0">
                <a:solidFill>
                  <a:srgbClr val="A6A6AE"/>
                </a:solidFill>
                <a:latin typeface="Geist"/>
                <a:ea typeface="Geist"/>
                <a:cs typeface="Geist"/>
              </a:rPr>
              <a:t>Yellow prototype</a:t>
            </a:r>
          </a:p>
        </p:txBody>
      </p:sp>
      <p:sp>
        <p:nvSpPr>
          <p:cNvPr id="7" name="">
            <a:extLst xmlns:a="http://schemas.openxmlformats.org/drawingml/2006/main">
              <a:ext uri="{FF2B5EF4-FFF2-40B4-BE49-F238E27FC236}">
                <a16:creationId xmlns:a16="http://schemas.microsoft.com/office/drawing/2014/main" id="{2987800D-20F9-42C0-AFE8-2F5739FF2C0B}"/>
              </a:ext>
            </a:extLst>
          </p:cNvPr>
          <p:cNvSpPr>
            <a:spLocks xmlns:a="http://schemas.openxmlformats.org/drawingml/2006/main" noGrp="1"/>
          </p:cNvSpPr>
          <p:nvPr/>
        </p:nvSpPr>
        <p:spPr>
          <a:xfrm xmlns:a="http://schemas.openxmlformats.org/drawingml/2006/main">
            <a:off x="762000" y="6191250"/>
            <a:ext cx="7953375" cy="1285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0">
                <a:solidFill>
                  <a:srgbClr val="F7F7FA"/>
                </a:solidFill>
                <a:latin typeface="Geist"/>
                <a:ea typeface="Geist"/>
                <a:cs typeface="Geist"/>
              </a:defRPr>
            </a:defPPr>
          </a:lstStyle>
          <a:p xmlns:a="http://schemas.openxmlformats.org/drawingml/2006/main">
            <a:pPr>
              <a:buNone/>
              <a:defRPr sz="2175" b="0">
                <a:solidFill>
                  <a:srgbClr val="F7F7FA"/>
                </a:solidFill>
                <a:latin typeface="Geist"/>
                <a:ea typeface="Geist"/>
                <a:cs typeface="Geist"/>
              </a:defRPr>
            </a:pPr>
            <a:r>
              <a:rPr sz="2175" b="0">
                <a:solidFill>
                  <a:srgbClr val="F7F7FA"/>
                </a:solidFill>
                <a:latin typeface="Geist"/>
                <a:ea typeface="Geist"/>
                <a:cs typeface="Geist"/>
              </a:rPr>
              <a:t>Choose “Explore the demo” in either prototype.</a:t>
            </a:r>
          </a:p>
          <a:p xmlns:a="http://schemas.openxmlformats.org/drawingml/2006/main">
            <a:pPr>
              <a:buNone/>
              <a:defRPr sz="2175" b="0">
                <a:solidFill>
                  <a:srgbClr val="F7F7FA"/>
                </a:solidFill>
                <a:latin typeface="Geist"/>
                <a:ea typeface="Geist"/>
                <a:cs typeface="Geist"/>
              </a:defRPr>
            </a:pPr>
            <a:r>
              <a:rPr sz="2175" b="0">
                <a:solidFill>
                  <a:srgbClr val="F7F7FA"/>
                </a:solidFill>
                <a:latin typeface="Geist"/>
                <a:ea typeface="Geist"/>
                <a:cs typeface="Geist"/>
              </a:rPr>
              <a:t>Open Apple TV to review its renewal and cancellation steps.</a:t>
            </a:r>
          </a:p>
        </p:txBody>
      </p:sp>
      <p:sp>
        <p:nvSpPr>
          <p:cNvPr id="8" name="">
            <a:extLst xmlns:a="http://schemas.openxmlformats.org/drawingml/2006/main">
              <a:ext uri="{FF2B5EF4-FFF2-40B4-BE49-F238E27FC236}">
                <a16:creationId xmlns:a16="http://schemas.microsoft.com/office/drawing/2014/main" id="{6704F107-DABE-4F34-977F-DF7E24CC8908}"/>
              </a:ext>
            </a:extLst>
          </p:cNvPr>
          <p:cNvSpPr>
            <a:spLocks xmlns:a="http://schemas.openxmlformats.org/drawingml/2006/main" noGrp="1"/>
          </p:cNvSpPr>
          <p:nvPr/>
        </p:nvSpPr>
        <p:spPr>
          <a:xfrm xmlns:a="http://schemas.openxmlformats.org/drawingml/2006/main">
            <a:off x="762000" y="7667625"/>
            <a:ext cx="1238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A6A6AE"/>
                </a:solidFill>
                <a:latin typeface="Geist"/>
                <a:ea typeface="Geist"/>
                <a:cs typeface="Geist"/>
              </a:defRPr>
            </a:defPPr>
          </a:lstStyle>
          <a:p xmlns:a="http://schemas.openxmlformats.org/drawingml/2006/main">
            <a:pPr>
              <a:buNone/>
              <a:defRPr sz="1725" b="0">
                <a:solidFill>
                  <a:srgbClr val="A6A6AE"/>
                </a:solidFill>
                <a:latin typeface="Geist"/>
                <a:ea typeface="Geist"/>
                <a:cs typeface="Geist"/>
              </a:defRPr>
            </a:pPr>
            <a:r>
              <a:rPr sz="1725" b="0">
                <a:solidFill>
                  <a:srgbClr val="A6A6AE"/>
                </a:solidFill>
                <a:latin typeface="Geist"/>
                <a:ea typeface="Geist"/>
                <a:cs typeface="Geist"/>
              </a:rPr>
              <a:t>Sample data only. No real bank connection or payment.</a:t>
            </a:r>
          </a:p>
        </p:txBody>
      </p:sp>
      <p:pic>
        <p:nvPicPr>
          <p:cNvPr id="9" name="">
            <a:extLst xmlns:a="http://schemas.openxmlformats.org/drawingml/2006/main">
              <a:ext uri="{FF2B5EF4-FFF2-40B4-BE49-F238E27FC236}">
                <a16:creationId xmlns:a16="http://schemas.microsoft.com/office/drawing/2014/main" id="{B54347CE-6842-456F-B448-390C9C017AC1}"/>
              </a:ext>
            </a:extLst>
          </p:cNvPr>
          <p:cNvPicPr>
            <a:picLocks xmlns:a="http://schemas.openxmlformats.org/drawingml/2006/main" noChangeAspect="1"/>
          </p:cNvPicPr>
          <p:nvPr/>
        </p:nvPicPr>
        <p:blipFill>
          <a:blip xmlns:r="http://schemas.openxmlformats.org/officeDocument/2006/relationships" xmlns:a="http://schemas.openxmlformats.org/drawingml/2006/main" r:embed="Ra3e2adb0e9f24672"/>
          <a:stretch xmlns:a="http://schemas.openxmlformats.org/drawingml/2006/main"/>
        </p:blipFill>
        <p:spPr>
          <a:xfrm xmlns:a="http://schemas.openxmlformats.org/drawingml/2006/main">
            <a:off x="9810750" y="2667000"/>
            <a:ext cx="4572000" cy="45720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176C3B98-80DC-4C84-8AE1-2E92E993A6FA}"/>
              </a:ext>
            </a:extLst>
          </p:cNvPr>
          <p:cNvSpPr>
            <a:spLocks xmlns:a="http://schemas.openxmlformats.org/drawingml/2006/main" noGrp="1"/>
          </p:cNvSpPr>
          <p:nvPr/>
        </p:nvSpPr>
        <p:spPr>
          <a:xfrm xmlns:a="http://schemas.openxmlformats.org/drawingml/2006/main">
            <a:off x="762000" y="3590925"/>
            <a:ext cx="809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A6A6AE"/>
                </a:solidFill>
                <a:latin typeface="Geist"/>
                <a:ea typeface="Geist"/>
                <a:cs typeface="Geist"/>
              </a:defRPr>
            </a:defPPr>
          </a:lstStyle>
          <a:p xmlns:a="http://schemas.openxmlformats.org/drawingml/2006/main">
            <a:pPr>
              <a:defRPr sz="1725" b="0">
                <a:solidFill>
                  <a:srgbClr val="A6A6AE"/>
                </a:solidFill>
                <a:latin typeface="Geist"/>
                <a:ea typeface="Geist"/>
                <a:cs typeface="Geist"/>
              </a:defRPr>
            </a:pPr>
            <a:r>
              <a:rPr sz="1725" b="0">
                <a:solidFill>
                  <a:srgbClr val="A6A6AE"/>
                </a:solidFill>
                <a:latin typeface="Geist"/>
                <a:ea typeface="Geist"/>
                <a:cs typeface="Geist"/>
              </a:rPr>
              <a:t>Blue prototype</a:t>
            </a:r>
          </a:p>
        </p:txBody>
      </p:sp>
      <p:sp>
        <p:nvSpPr>
          <p:cNvPr id="12" name="">
            <a:extLst xmlns:a="http://schemas.openxmlformats.org/drawingml/2006/main">
              <a:ext uri="{FF2B5EF4-FFF2-40B4-BE49-F238E27FC236}">
                <a16:creationId xmlns:a16="http://schemas.microsoft.com/office/drawing/2014/main" id="{E7E87B9F-EFD9-48A9-8C3C-083244E34125}"/>
              </a:ext>
            </a:extLst>
          </p:cNvPr>
          <p:cNvSpPr>
            <a:spLocks xmlns:a="http://schemas.openxmlformats.org/drawingml/2006/main" noGrp="1"/>
          </p:cNvSpPr>
          <p:nvPr/>
        </p:nvSpPr>
        <p:spPr>
          <a:xfrm xmlns:a="http://schemas.openxmlformats.org/drawingml/2006/main">
            <a:off x="762000" y="5143500"/>
            <a:ext cx="819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91B4FF"/>
                </a:solidFill>
                <a:latin typeface="Geist"/>
                <a:ea typeface="Geist"/>
                <a:cs typeface="Geist"/>
              </a:defRPr>
            </a:defPPr>
          </a:lstStyle>
          <a:p xmlns:a="http://schemas.openxmlformats.org/drawingml/2006/main">
            <a:pPr>
              <a:defRPr sz="2400" b="0">
                <a:solidFill>
                  <a:srgbClr val="91B4FF"/>
                </a:solidFill>
                <a:latin typeface="Geist"/>
                <a:ea typeface="Geist"/>
                <a:cs typeface="Geist"/>
              </a:defRPr>
            </a:pPr>
            <a:r>
              <a:rPr sz="2400" b="0">
                <a:solidFill>
                  <a:srgbClr val="91B4FF"/>
                </a:solidFill>
                <a:latin typeface="Geist"/>
                <a:ea typeface="Geist"/>
                <a:cs typeface="Geist"/>
                <a:hlinkClick xmlns:r="http://schemas.openxmlformats.org/officeDocument/2006/relationships" r:id="Rcd5d1a809f134b94"/>
              </a:rPr>
              <a:t>subscript-yellow-prototype.vercel.app</a:t>
            </a:r>
          </a:p>
        </p:txBody>
      </p:sp>
      <p:sp>
        <p:nvSpPr>
          <p:cNvPr id="13" name="">
            <a:extLst xmlns:a="http://schemas.openxmlformats.org/drawingml/2006/main">
              <a:ext uri="{FF2B5EF4-FFF2-40B4-BE49-F238E27FC236}">
                <a16:creationId xmlns:a16="http://schemas.microsoft.com/office/drawing/2014/main" id="{A9786858-CB5A-4706-817A-928B90B40A3C}"/>
              </a:ext>
            </a:extLst>
          </p:cNvPr>
          <p:cNvSpPr>
            <a:spLocks xmlns:a="http://schemas.openxmlformats.org/drawingml/2006/main" noGrp="1"/>
          </p:cNvSpPr>
          <p:nvPr/>
        </p:nvSpPr>
        <p:spPr>
          <a:xfrm xmlns:a="http://schemas.openxmlformats.org/drawingml/2006/main">
            <a:off x="9810750" y="2219325"/>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F7F7FA"/>
                </a:solidFill>
                <a:latin typeface="Geist"/>
                <a:ea typeface="Geist"/>
                <a:cs typeface="Geist"/>
              </a:defRPr>
            </a:defPPr>
          </a:lstStyle>
          <a:p xmlns:a="http://schemas.openxmlformats.org/drawingml/2006/main">
            <a:pPr>
              <a:defRPr sz="1875" b="0">
                <a:solidFill>
                  <a:srgbClr val="F7F7FA"/>
                </a:solidFill>
                <a:latin typeface="Geist"/>
                <a:ea typeface="Geist"/>
                <a:cs typeface="Geist"/>
              </a:defRPr>
            </a:pPr>
            <a:r>
              <a:rPr sz="1875" b="0">
                <a:solidFill>
                  <a:srgbClr val="F7F7FA"/>
                </a:solidFill>
                <a:latin typeface="Geist"/>
                <a:ea typeface="Geist"/>
                <a:cs typeface="Geist"/>
              </a:rPr>
              <a:t>Scan for the blue prototype</a:t>
            </a:r>
          </a:p>
        </p:txBody>
      </p:sp>
    </p:spTree>
    <p:extLst>
      <p:ext uri="{BB962C8B-B14F-4D97-AF65-F5344CB8AC3E}">
        <p14:creationId xmlns:p14="http://schemas.microsoft.com/office/powerpoint/2010/main" val="1448924900"/>
      </p:ext>
    </p:extLst>
  </p:cSld>
</p:sld>
</file>

<file path=ppt/slides/slide5.xml><?xml version="1.0" encoding="utf-8"?>
<p:sld xmlns:p="http://schemas.openxmlformats.org/presentationml/2006/main">
  <p:cSld>
    <p:bg>
      <p:bgPr>
        <a:gradFill xmlns:a="http://schemas.openxmlformats.org/drawingml/2006/main">
          <a:gsLst>
            <a:gs pos="0">
              <a:srgbClr val="0B1034"/>
            </a:gs>
            <a:gs pos="58000">
              <a:srgbClr val="000000"/>
            </a:gs>
            <a:gs pos="100000">
              <a:srgbClr val="000000"/>
            </a:gs>
          </a:gsLst>
          <a:lin ang="7200000"/>
        </a:gra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4E08493-81D3-4C56-A3B0-CC1DF8E8A150}"/>
              </a:ext>
            </a:extLst>
          </p:cNvPr>
          <p:cNvSpPr>
            <a:spLocks xmlns:a="http://schemas.openxmlformats.org/drawingml/2006/main" noGrp="1"/>
          </p:cNvSpPr>
          <p:nvPr/>
        </p:nvSpPr>
        <p:spPr>
          <a:xfrm xmlns:a="http://schemas.openxmlformats.org/drawingml/2006/main">
            <a:off x="762000" y="40957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F7F7FA"/>
                </a:solidFill>
                <a:latin typeface="Geist"/>
                <a:ea typeface="Geist"/>
                <a:cs typeface="Geist"/>
              </a:defRPr>
            </a:defPPr>
          </a:lstStyle>
          <a:p xmlns:a="http://schemas.openxmlformats.org/drawingml/2006/main">
            <a:pPr>
              <a:buNone/>
              <a:defRPr sz="2100" b="1">
                <a:solidFill>
                  <a:srgbClr val="F7F7FA"/>
                </a:solidFill>
                <a:latin typeface="Geist"/>
                <a:ea typeface="Geist"/>
                <a:cs typeface="Geist"/>
              </a:defRPr>
            </a:pPr>
            <a:r>
              <a:rPr sz="2100" b="1">
                <a:solidFill>
                  <a:srgbClr val="F7F7FA"/>
                </a:solidFill>
                <a:latin typeface="Geist"/>
                <a:ea typeface="Geist"/>
                <a:cs typeface="Geist"/>
              </a:rPr>
              <a:t>Subscript</a:t>
            </a:r>
          </a:p>
        </p:txBody>
      </p:sp>
      <p:sp>
        <p:nvSpPr>
          <p:cNvPr id="2" name="">
            <a:extLst xmlns:a="http://schemas.openxmlformats.org/drawingml/2006/main">
              <a:ext uri="{FF2B5EF4-FFF2-40B4-BE49-F238E27FC236}">
                <a16:creationId xmlns:a16="http://schemas.microsoft.com/office/drawing/2014/main" id="{0B3679B3-595C-4C76-B5FF-CDDEAEE26203}"/>
              </a:ext>
            </a:extLst>
          </p:cNvPr>
          <p:cNvSpPr>
            <a:spLocks xmlns:a="http://schemas.openxmlformats.org/drawingml/2006/main" noGrp="1"/>
          </p:cNvSpPr>
          <p:nvPr/>
        </p:nvSpPr>
        <p:spPr>
          <a:xfrm xmlns:a="http://schemas.openxmlformats.org/drawingml/2006/main">
            <a:off x="13811250" y="447675"/>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A6A6AE"/>
                </a:solidFill>
                <a:latin typeface="Geist"/>
                <a:ea typeface="Geist"/>
                <a:cs typeface="Geist"/>
              </a:defRPr>
            </a:defPPr>
          </a:lstStyle>
          <a:p xmlns:a="http://schemas.openxmlformats.org/drawingml/2006/main">
            <a:pPr>
              <a:buNone/>
              <a:defRPr sz="1650" b="0">
                <a:solidFill>
                  <a:srgbClr val="A6A6AE"/>
                </a:solidFill>
                <a:latin typeface="Geist"/>
                <a:ea typeface="Geist"/>
                <a:cs typeface="Geist"/>
              </a:defRPr>
            </a:pPr>
            <a:r>
              <a:rPr sz="1650" b="0">
                <a:solidFill>
                  <a:srgbClr val="A6A6AE"/>
                </a:solidFill>
                <a:latin typeface="Geist"/>
                <a:ea typeface="Geist"/>
                <a:cs typeface="Geist"/>
              </a:rPr>
              <a:t>05</a:t>
            </a:r>
          </a:p>
        </p:txBody>
      </p:sp>
      <p:sp>
        <p:nvSpPr>
          <p:cNvPr id="3" name="">
            <a:extLst xmlns:a="http://schemas.openxmlformats.org/drawingml/2006/main">
              <a:ext uri="{FF2B5EF4-FFF2-40B4-BE49-F238E27FC236}">
                <a16:creationId xmlns:a16="http://schemas.microsoft.com/office/drawing/2014/main" id="{6C272F3B-38F8-4729-908D-D53A670F9E9F}"/>
              </a:ext>
            </a:extLst>
          </p:cNvPr>
          <p:cNvSpPr>
            <a:spLocks xmlns:a="http://schemas.openxmlformats.org/drawingml/2006/main" noGrp="1"/>
          </p:cNvSpPr>
          <p:nvPr/>
        </p:nvSpPr>
        <p:spPr>
          <a:xfrm xmlns:a="http://schemas.openxmlformats.org/drawingml/2006/main">
            <a:off x="762000" y="1285875"/>
            <a:ext cx="890587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800" b="1">
                <a:solidFill>
                  <a:srgbClr val="F7F7FA"/>
                </a:solidFill>
                <a:latin typeface="Geist"/>
                <a:ea typeface="Geist"/>
                <a:cs typeface="Geist"/>
              </a:defRPr>
            </a:defPPr>
          </a:lstStyle>
          <a:p xmlns:a="http://schemas.openxmlformats.org/drawingml/2006/main">
            <a:pPr>
              <a:buNone/>
              <a:defRPr sz="4800" b="1">
                <a:solidFill>
                  <a:srgbClr val="F7F7FA"/>
                </a:solidFill>
                <a:latin typeface="Geist"/>
                <a:ea typeface="Geist"/>
                <a:cs typeface="Geist"/>
              </a:defRPr>
            </a:pPr>
            <a:r>
              <a:rPr sz="4800" b="1">
                <a:solidFill>
                  <a:srgbClr val="F7F7FA"/>
                </a:solidFill>
                <a:latin typeface="Geist"/>
                <a:ea typeface="Geist"/>
                <a:cs typeface="Geist"/>
              </a:rPr>
              <a:t>The first screen</a:t>
            </a:r>
          </a:p>
        </p:txBody>
      </p:sp>
      <p:sp>
        <p:nvSpPr>
          <p:cNvPr id="4" name="">
            <a:extLst xmlns:a="http://schemas.openxmlformats.org/drawingml/2006/main">
              <a:ext uri="{FF2B5EF4-FFF2-40B4-BE49-F238E27FC236}">
                <a16:creationId xmlns:a16="http://schemas.microsoft.com/office/drawing/2014/main" id="{03B2803D-7650-44DE-9055-044F7A79D223}"/>
              </a:ext>
            </a:extLst>
          </p:cNvPr>
          <p:cNvSpPr>
            <a:spLocks xmlns:a="http://schemas.openxmlformats.org/drawingml/2006/main" noGrp="1"/>
          </p:cNvSpPr>
          <p:nvPr/>
        </p:nvSpPr>
        <p:spPr>
          <a:xfrm xmlns:a="http://schemas.openxmlformats.org/drawingml/2006/main">
            <a:off x="762000" y="2628900"/>
            <a:ext cx="8429625"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975" b="1">
                <a:solidFill>
                  <a:srgbClr val="91B4FF"/>
                </a:solidFill>
                <a:latin typeface="Geist"/>
                <a:ea typeface="Geist"/>
                <a:cs typeface="Geist"/>
              </a:defRPr>
            </a:defPPr>
          </a:lstStyle>
          <a:p xmlns:a="http://schemas.openxmlformats.org/drawingml/2006/main">
            <a:pPr>
              <a:buNone/>
              <a:defRPr sz="3975" b="1">
                <a:solidFill>
                  <a:srgbClr val="91B4FF"/>
                </a:solidFill>
                <a:latin typeface="Geist"/>
                <a:ea typeface="Geist"/>
                <a:cs typeface="Geist"/>
              </a:defRPr>
            </a:pPr>
            <a:r>
              <a:rPr sz="3975" b="1">
                <a:solidFill>
                  <a:srgbClr val="91B4FF"/>
                </a:solidFill>
                <a:latin typeface="Geist"/>
                <a:ea typeface="Geist"/>
                <a:cs typeface="Geist"/>
              </a:rPr>
              <a:t>A familiar moment,</a:t>
            </a:r>
          </a:p>
          <a:p xmlns:a="http://schemas.openxmlformats.org/drawingml/2006/main">
            <a:pPr>
              <a:buNone/>
              <a:defRPr sz="3975" b="1">
                <a:solidFill>
                  <a:srgbClr val="91B4FF"/>
                </a:solidFill>
                <a:latin typeface="Geist"/>
                <a:ea typeface="Geist"/>
                <a:cs typeface="Geist"/>
              </a:defRPr>
            </a:pPr>
            <a:r>
              <a:rPr sz="3975" b="1">
                <a:solidFill>
                  <a:srgbClr val="91B4FF"/>
                </a:solidFill>
                <a:latin typeface="Geist"/>
                <a:ea typeface="Geist"/>
                <a:cs typeface="Geist"/>
              </a:rPr>
              <a:t>a friendly invitation</a:t>
            </a:r>
          </a:p>
        </p:txBody>
      </p:sp>
      <p:sp>
        <p:nvSpPr>
          <p:cNvPr id="5" name="">
            <a:extLst xmlns:a="http://schemas.openxmlformats.org/drawingml/2006/main">
              <a:ext uri="{FF2B5EF4-FFF2-40B4-BE49-F238E27FC236}">
                <a16:creationId xmlns:a16="http://schemas.microsoft.com/office/drawing/2014/main" id="{F2A174BE-C198-492E-A221-ECE0A97D90A9}"/>
              </a:ext>
            </a:extLst>
          </p:cNvPr>
          <p:cNvSpPr>
            <a:spLocks xmlns:a="http://schemas.openxmlformats.org/drawingml/2006/main" noGrp="1"/>
          </p:cNvSpPr>
          <p:nvPr/>
        </p:nvSpPr>
        <p:spPr>
          <a:xfrm xmlns:a="http://schemas.openxmlformats.org/drawingml/2006/main">
            <a:off x="762000" y="4562475"/>
            <a:ext cx="8001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F7F7FA"/>
                </a:solidFill>
                <a:latin typeface="Geist"/>
                <a:ea typeface="Geist"/>
                <a:cs typeface="Geist"/>
              </a:defRPr>
            </a:defPPr>
          </a:lstStyle>
          <a:p xmlns:a="http://schemas.openxmlformats.org/drawingml/2006/main">
            <a:pPr>
              <a:buNone/>
              <a:defRPr sz="2250" b="1">
                <a:solidFill>
                  <a:srgbClr val="F7F7FA"/>
                </a:solidFill>
                <a:latin typeface="Geist"/>
                <a:ea typeface="Geist"/>
                <a:cs typeface="Geist"/>
              </a:defRPr>
            </a:pPr>
            <a:r>
              <a:rPr sz="2250" b="1">
                <a:solidFill>
                  <a:srgbClr val="F7F7FA"/>
                </a:solidFill>
                <a:latin typeface="Geist"/>
                <a:ea typeface="Geist"/>
                <a:cs typeface="Geist"/>
              </a:rPr>
              <a:t>“They renew. You remember.”</a:t>
            </a:r>
          </a:p>
        </p:txBody>
      </p:sp>
      <p:sp>
        <p:nvSpPr>
          <p:cNvPr id="6" name="">
            <a:extLst xmlns:a="http://schemas.openxmlformats.org/drawingml/2006/main">
              <a:ext uri="{FF2B5EF4-FFF2-40B4-BE49-F238E27FC236}">
                <a16:creationId xmlns:a16="http://schemas.microsoft.com/office/drawing/2014/main" id="{D1C9FA57-DFFB-4A7E-A290-05551699CCDC}"/>
              </a:ext>
            </a:extLst>
          </p:cNvPr>
          <p:cNvSpPr>
            <a:spLocks xmlns:a="http://schemas.openxmlformats.org/drawingml/2006/main" noGrp="1"/>
          </p:cNvSpPr>
          <p:nvPr/>
        </p:nvSpPr>
        <p:spPr>
          <a:xfrm xmlns:a="http://schemas.openxmlformats.org/drawingml/2006/main">
            <a:off x="762000" y="5067300"/>
            <a:ext cx="8001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A6A6AE"/>
                </a:solidFill>
                <a:latin typeface="Geist"/>
                <a:ea typeface="Geist"/>
                <a:cs typeface="Geist"/>
              </a:defRPr>
            </a:defPPr>
          </a:lstStyle>
          <a:p xmlns:a="http://schemas.openxmlformats.org/drawingml/2006/main">
            <a:pPr>
              <a:buNone/>
              <a:defRPr sz="2025" b="0">
                <a:solidFill>
                  <a:srgbClr val="A6A6AE"/>
                </a:solidFill>
                <a:latin typeface="Geist"/>
                <a:ea typeface="Geist"/>
                <a:cs typeface="Geist"/>
              </a:defRPr>
            </a:pPr>
            <a:r>
              <a:rPr sz="2025" b="0">
                <a:solidFill>
                  <a:srgbClr val="A6A6AE"/>
                </a:solidFill>
                <a:latin typeface="Geist"/>
                <a:ea typeface="Geist"/>
                <a:cs typeface="Geist"/>
              </a:rPr>
              <a:t>A short, memorable reminder of what Subscript helps you track.</a:t>
            </a:r>
          </a:p>
        </p:txBody>
      </p:sp>
      <p:sp>
        <p:nvSpPr>
          <p:cNvPr id="7" name="">
            <a:extLst xmlns:a="http://schemas.openxmlformats.org/drawingml/2006/main">
              <a:ext uri="{FF2B5EF4-FFF2-40B4-BE49-F238E27FC236}">
                <a16:creationId xmlns:a16="http://schemas.microsoft.com/office/drawing/2014/main" id="{25FBEEBB-8BE8-4ED4-BB99-00D2DE7A7467}"/>
              </a:ext>
            </a:extLst>
          </p:cNvPr>
          <p:cNvSpPr>
            <a:spLocks xmlns:a="http://schemas.openxmlformats.org/drawingml/2006/main" noGrp="1"/>
          </p:cNvSpPr>
          <p:nvPr/>
        </p:nvSpPr>
        <p:spPr>
          <a:xfrm xmlns:a="http://schemas.openxmlformats.org/drawingml/2006/main">
            <a:off x="762000" y="6143625"/>
            <a:ext cx="8001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F7F7FA"/>
                </a:solidFill>
                <a:latin typeface="Geist"/>
                <a:ea typeface="Geist"/>
                <a:cs typeface="Geist"/>
              </a:defRPr>
            </a:defPPr>
          </a:lstStyle>
          <a:p xmlns:a="http://schemas.openxmlformats.org/drawingml/2006/main">
            <a:pPr>
              <a:buNone/>
              <a:defRPr sz="2250" b="1">
                <a:solidFill>
                  <a:srgbClr val="F7F7FA"/>
                </a:solidFill>
                <a:latin typeface="Geist"/>
                <a:ea typeface="Geist"/>
                <a:cs typeface="Geist"/>
              </a:defRPr>
            </a:pPr>
            <a:r>
              <a:rPr sz="2250" b="1">
                <a:solidFill>
                  <a:srgbClr val="F7F7FA"/>
                </a:solidFill>
                <a:latin typeface="Geist"/>
                <a:ea typeface="Geist"/>
                <a:cs typeface="Geist"/>
              </a:rPr>
              <a:t>“Your subscriptions have a way of adding up.”</a:t>
            </a:r>
          </a:p>
        </p:txBody>
      </p:sp>
      <p:sp>
        <p:nvSpPr>
          <p:cNvPr id="8" name="">
            <a:extLst xmlns:a="http://schemas.openxmlformats.org/drawingml/2006/main">
              <a:ext uri="{FF2B5EF4-FFF2-40B4-BE49-F238E27FC236}">
                <a16:creationId xmlns:a16="http://schemas.microsoft.com/office/drawing/2014/main" id="{326BF83B-CC2A-4E33-8A6C-21D31DD1D984}"/>
              </a:ext>
            </a:extLst>
          </p:cNvPr>
          <p:cNvSpPr>
            <a:spLocks xmlns:a="http://schemas.openxmlformats.org/drawingml/2006/main" noGrp="1"/>
          </p:cNvSpPr>
          <p:nvPr/>
        </p:nvSpPr>
        <p:spPr>
          <a:xfrm xmlns:a="http://schemas.openxmlformats.org/drawingml/2006/main">
            <a:off x="762000" y="6648450"/>
            <a:ext cx="8001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A6A6AE"/>
                </a:solidFill>
                <a:latin typeface="Geist"/>
                <a:ea typeface="Geist"/>
                <a:cs typeface="Geist"/>
              </a:defRPr>
            </a:defPPr>
          </a:lstStyle>
          <a:p xmlns:a="http://schemas.openxmlformats.org/drawingml/2006/main">
            <a:pPr>
              <a:buNone/>
              <a:defRPr sz="2025" b="0">
                <a:solidFill>
                  <a:srgbClr val="A6A6AE"/>
                </a:solidFill>
                <a:latin typeface="Geist"/>
                <a:ea typeface="Geist"/>
                <a:cs typeface="Geist"/>
              </a:defRPr>
            </a:pPr>
            <a:r>
              <a:rPr sz="2025" b="0">
                <a:solidFill>
                  <a:srgbClr val="A6A6AE"/>
                </a:solidFill>
                <a:latin typeface="Geist"/>
                <a:ea typeface="Geist"/>
                <a:cs typeface="Geist"/>
              </a:rPr>
              <a:t>A knowing smile in the welcome. Clear buttons still explain what happens next.</a:t>
            </a:r>
          </a:p>
        </p:txBody>
      </p:sp>
      <p:sp>
        <p:nvSpPr>
          <p:cNvPr id="9" name="">
            <a:extLst xmlns:a="http://schemas.openxmlformats.org/drawingml/2006/main">
              <a:ext uri="{FF2B5EF4-FFF2-40B4-BE49-F238E27FC236}">
                <a16:creationId xmlns:a16="http://schemas.microsoft.com/office/drawing/2014/main" id="{E068DBD2-369B-426F-A3B7-96686A4E8116}"/>
              </a:ext>
            </a:extLst>
          </p:cNvPr>
          <p:cNvSpPr>
            <a:spLocks xmlns:a="http://schemas.openxmlformats.org/drawingml/2006/main" noGrp="1"/>
          </p:cNvSpPr>
          <p:nvPr/>
        </p:nvSpPr>
        <p:spPr>
          <a:xfrm xmlns:a="http://schemas.openxmlformats.org/drawingml/2006/main">
            <a:off x="10210800" y="609600"/>
            <a:ext cx="3533775" cy="7551110"/>
          </a:xfrm>
          <a:prstGeom xmlns:a="http://schemas.openxmlformats.org/drawingml/2006/main" prst="roundRect">
            <a:avLst>
              <a:gd name="adj" fmla="val 13477"/>
            </a:avLst>
          </a:prstGeom>
          <a:solidFill xmlns:a="http://schemas.openxmlformats.org/drawingml/2006/main">
            <a:srgbClr val="111115"/>
          </a:solidFill>
          <a:ln xmlns:a="http://schemas.openxmlformats.org/drawingml/2006/main" w="28575">
            <a:solidFill>
              <a:srgbClr val="62626D"/>
            </a:solidFill>
            <a:prstDash val="solid"/>
          </a:ln>
        </p:spPr>
      </p:sp>
      <p:pic>
        <p:nvPicPr>
          <p:cNvPr id="10" name="">
            <a:extLst xmlns:a="http://schemas.openxmlformats.org/drawingml/2006/main">
              <a:ext uri="{FF2B5EF4-FFF2-40B4-BE49-F238E27FC236}">
                <a16:creationId xmlns:a16="http://schemas.microsoft.com/office/drawing/2014/main" id="{20930A6B-6927-46A7-B528-F28AD4F0614D}"/>
              </a:ext>
            </a:extLst>
          </p:cNvPr>
          <p:cNvPicPr>
            <a:picLocks xmlns:a="http://schemas.openxmlformats.org/drawingml/2006/main" noChangeAspect="1"/>
          </p:cNvPicPr>
          <p:nvPr/>
        </p:nvPicPr>
        <p:blipFill>
          <a:blip xmlns:r="http://schemas.openxmlformats.org/officeDocument/2006/relationships" xmlns:a="http://schemas.openxmlformats.org/drawingml/2006/main" r:embed="Rff5a1b67d9234033"/>
          <a:stretch xmlns:a="http://schemas.openxmlformats.org/drawingml/2006/main"/>
        </p:blipFill>
        <p:spPr>
          <a:xfrm xmlns:a="http://schemas.openxmlformats.org/drawingml/2006/main" flipH="0" flipV="0">
            <a:off x="10334625" y="828675"/>
            <a:ext cx="3286125" cy="7122485"/>
          </a:xfrm>
          <a:prstGeom xmlns:a="http://schemas.openxmlformats.org/drawingml/2006/main" prst="roundRect">
            <a:avLst>
              <a:gd name="adj" fmla="val 10725"/>
            </a:avLst>
          </a:prstGeom>
        </p:spPr>
      </p:pic>
      <p:sp>
        <p:nvSpPr>
          <p:cNvPr id="11" name="">
            <a:extLst xmlns:a="http://schemas.openxmlformats.org/drawingml/2006/main">
              <a:ext uri="{FF2B5EF4-FFF2-40B4-BE49-F238E27FC236}">
                <a16:creationId xmlns:a16="http://schemas.microsoft.com/office/drawing/2014/main" id="{4350F7D3-DAB5-4B8C-B845-C1CE0863345F}"/>
              </a:ext>
            </a:extLst>
          </p:cNvPr>
          <p:cNvSpPr>
            <a:spLocks xmlns:a="http://schemas.openxmlformats.org/drawingml/2006/main" noGrp="1"/>
          </p:cNvSpPr>
          <p:nvPr/>
        </p:nvSpPr>
        <p:spPr>
          <a:xfrm xmlns:a="http://schemas.openxmlformats.org/drawingml/2006/main">
            <a:off x="11568113" y="895350"/>
            <a:ext cx="819150" cy="161925"/>
          </a:xfrm>
          <a:prstGeom xmlns:a="http://schemas.openxmlformats.org/drawingml/2006/main" prst="roundRect">
            <a:avLst>
              <a:gd name="adj" fmla="val 50000"/>
            </a:avLst>
          </a:prstGeom>
          <a:solidFill xmlns:a="http://schemas.openxmlformats.org/drawingml/2006/main">
            <a:srgbClr val="000000"/>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FDB3B832-450A-45CA-BCA1-692E76FC37E0}"/>
              </a:ext>
            </a:extLst>
          </p:cNvPr>
          <p:cNvSpPr>
            <a:spLocks xmlns:a="http://schemas.openxmlformats.org/drawingml/2006/main" noGrp="1"/>
          </p:cNvSpPr>
          <p:nvPr/>
        </p:nvSpPr>
        <p:spPr>
          <a:xfrm xmlns:a="http://schemas.openxmlformats.org/drawingml/2006/main">
            <a:off x="11463338" y="8036885"/>
            <a:ext cx="1028700" cy="38100"/>
          </a:xfrm>
          <a:prstGeom xmlns:a="http://schemas.openxmlformats.org/drawingml/2006/main" prst="roundRect">
            <a:avLst>
              <a:gd name="adj" fmla="val 50000"/>
            </a:avLst>
          </a:prstGeom>
          <a:solidFill xmlns:a="http://schemas.openxmlformats.org/drawingml/2006/main">
            <a:srgbClr val="F7F7FA"/>
          </a:solidFill>
          <a:ln xmlns:a="http://schemas.openxmlformats.org/drawingml/2006/main" w="0">
            <a:solidFill>
              <a:srgbClr val="F7F7FA"/>
            </a:solidFill>
            <a:prstDash val="solid"/>
          </a:ln>
        </p:spPr>
      </p:sp>
    </p:spTree>
    <p:extLst>
      <p:ext uri="{BB962C8B-B14F-4D97-AF65-F5344CB8AC3E}">
        <p14:creationId xmlns:p14="http://schemas.microsoft.com/office/powerpoint/2010/main" val="2052591029"/>
      </p:ext>
    </p:extLst>
  </p:cSld>
</p:sld>
</file>

<file path=ppt/slides/slide6.xml><?xml version="1.0" encoding="utf-8"?>
<p:sld xmlns:p="http://schemas.openxmlformats.org/presentationml/2006/main">
  <p:cSld>
    <p:bg>
      <p:bgPr>
        <a:gradFill xmlns:a="http://schemas.openxmlformats.org/drawingml/2006/main">
          <a:gsLst>
            <a:gs pos="0">
              <a:srgbClr val="0B1034"/>
            </a:gs>
            <a:gs pos="58000">
              <a:srgbClr val="000000"/>
            </a:gs>
            <a:gs pos="100000">
              <a:srgbClr val="000000"/>
            </a:gs>
          </a:gsLst>
          <a:lin ang="7200000"/>
        </a:gra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7BC7D3F-E156-4E94-8425-3F1E02F724BA}"/>
              </a:ext>
            </a:extLst>
          </p:cNvPr>
          <p:cNvSpPr>
            <a:spLocks xmlns:a="http://schemas.openxmlformats.org/drawingml/2006/main" noGrp="1"/>
          </p:cNvSpPr>
          <p:nvPr/>
        </p:nvSpPr>
        <p:spPr>
          <a:xfrm xmlns:a="http://schemas.openxmlformats.org/drawingml/2006/main">
            <a:off x="762000" y="40957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F7F7FA"/>
                </a:solidFill>
                <a:latin typeface="Geist"/>
                <a:ea typeface="Geist"/>
                <a:cs typeface="Geist"/>
              </a:defRPr>
            </a:defPPr>
          </a:lstStyle>
          <a:p xmlns:a="http://schemas.openxmlformats.org/drawingml/2006/main">
            <a:pPr>
              <a:buNone/>
              <a:defRPr sz="2100" b="1">
                <a:solidFill>
                  <a:srgbClr val="F7F7FA"/>
                </a:solidFill>
                <a:latin typeface="Geist"/>
                <a:ea typeface="Geist"/>
                <a:cs typeface="Geist"/>
              </a:defRPr>
            </a:pPr>
            <a:r>
              <a:rPr sz="2100" b="1">
                <a:solidFill>
                  <a:srgbClr val="F7F7FA"/>
                </a:solidFill>
                <a:latin typeface="Geist"/>
                <a:ea typeface="Geist"/>
                <a:cs typeface="Geist"/>
              </a:rPr>
              <a:t>Subscript</a:t>
            </a:r>
          </a:p>
        </p:txBody>
      </p:sp>
      <p:sp>
        <p:nvSpPr>
          <p:cNvPr id="2" name="">
            <a:extLst xmlns:a="http://schemas.openxmlformats.org/drawingml/2006/main">
              <a:ext uri="{FF2B5EF4-FFF2-40B4-BE49-F238E27FC236}">
                <a16:creationId xmlns:a16="http://schemas.microsoft.com/office/drawing/2014/main" id="{071FD03D-EC21-4777-A77F-35E7569BD816}"/>
              </a:ext>
            </a:extLst>
          </p:cNvPr>
          <p:cNvSpPr>
            <a:spLocks xmlns:a="http://schemas.openxmlformats.org/drawingml/2006/main" noGrp="1"/>
          </p:cNvSpPr>
          <p:nvPr/>
        </p:nvSpPr>
        <p:spPr>
          <a:xfrm xmlns:a="http://schemas.openxmlformats.org/drawingml/2006/main">
            <a:off x="13811250" y="447675"/>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A6A6AE"/>
                </a:solidFill>
                <a:latin typeface="Geist"/>
                <a:ea typeface="Geist"/>
                <a:cs typeface="Geist"/>
              </a:defRPr>
            </a:defPPr>
          </a:lstStyle>
          <a:p xmlns:a="http://schemas.openxmlformats.org/drawingml/2006/main">
            <a:pPr>
              <a:buNone/>
              <a:defRPr sz="1650" b="0">
                <a:solidFill>
                  <a:srgbClr val="A6A6AE"/>
                </a:solidFill>
                <a:latin typeface="Geist"/>
                <a:ea typeface="Geist"/>
                <a:cs typeface="Geist"/>
              </a:defRPr>
            </a:pPr>
            <a:r>
              <a:rPr sz="1650" b="0">
                <a:solidFill>
                  <a:srgbClr val="A6A6AE"/>
                </a:solidFill>
                <a:latin typeface="Geist"/>
                <a:ea typeface="Geist"/>
                <a:cs typeface="Geist"/>
              </a:rPr>
              <a:t>06</a:t>
            </a:r>
          </a:p>
        </p:txBody>
      </p:sp>
      <p:sp>
        <p:nvSpPr>
          <p:cNvPr id="3" name="">
            <a:extLst xmlns:a="http://schemas.openxmlformats.org/drawingml/2006/main">
              <a:ext uri="{FF2B5EF4-FFF2-40B4-BE49-F238E27FC236}">
                <a16:creationId xmlns:a16="http://schemas.microsoft.com/office/drawing/2014/main" id="{AA2B44E8-6769-4422-9564-5CE20E3A7737}"/>
              </a:ext>
            </a:extLst>
          </p:cNvPr>
          <p:cNvSpPr>
            <a:spLocks xmlns:a="http://schemas.openxmlformats.org/drawingml/2006/main" noGrp="1"/>
          </p:cNvSpPr>
          <p:nvPr/>
        </p:nvSpPr>
        <p:spPr>
          <a:xfrm xmlns:a="http://schemas.openxmlformats.org/drawingml/2006/main">
            <a:off x="762000" y="1285875"/>
            <a:ext cx="890587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800" b="1">
                <a:solidFill>
                  <a:srgbClr val="F7F7FA"/>
                </a:solidFill>
                <a:latin typeface="Geist"/>
                <a:ea typeface="Geist"/>
                <a:cs typeface="Geist"/>
              </a:defRPr>
            </a:defPPr>
          </a:lstStyle>
          <a:p xmlns:a="http://schemas.openxmlformats.org/drawingml/2006/main">
            <a:pPr>
              <a:buNone/>
              <a:defRPr sz="4800" b="1">
                <a:solidFill>
                  <a:srgbClr val="F7F7FA"/>
                </a:solidFill>
                <a:latin typeface="Geist"/>
                <a:ea typeface="Geist"/>
                <a:cs typeface="Geist"/>
              </a:defRPr>
            </a:pPr>
            <a:r>
              <a:rPr sz="4800" b="1">
                <a:solidFill>
                  <a:srgbClr val="F7F7FA"/>
                </a:solidFill>
                <a:latin typeface="Geist"/>
                <a:ea typeface="Geist"/>
                <a:cs typeface="Geist"/>
              </a:rPr>
              <a:t>Home</a:t>
            </a:r>
          </a:p>
        </p:txBody>
      </p:sp>
      <p:sp>
        <p:nvSpPr>
          <p:cNvPr id="4" name="">
            <a:extLst xmlns:a="http://schemas.openxmlformats.org/drawingml/2006/main">
              <a:ext uri="{FF2B5EF4-FFF2-40B4-BE49-F238E27FC236}">
                <a16:creationId xmlns:a16="http://schemas.microsoft.com/office/drawing/2014/main" id="{B377FA21-269D-4F71-BFE7-0ED16F48E39F}"/>
              </a:ext>
            </a:extLst>
          </p:cNvPr>
          <p:cNvSpPr>
            <a:spLocks xmlns:a="http://schemas.openxmlformats.org/drawingml/2006/main" noGrp="1"/>
          </p:cNvSpPr>
          <p:nvPr/>
        </p:nvSpPr>
        <p:spPr>
          <a:xfrm xmlns:a="http://schemas.openxmlformats.org/drawingml/2006/main">
            <a:off x="762000" y="2571750"/>
            <a:ext cx="8239125"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975" b="1">
                <a:solidFill>
                  <a:srgbClr val="91B4FF"/>
                </a:solidFill>
                <a:latin typeface="Geist"/>
                <a:ea typeface="Geist"/>
                <a:cs typeface="Geist"/>
              </a:defRPr>
            </a:defPPr>
          </a:lstStyle>
          <a:p xmlns:a="http://schemas.openxmlformats.org/drawingml/2006/main">
            <a:pPr>
              <a:buNone/>
              <a:defRPr sz="3975" b="1">
                <a:solidFill>
                  <a:srgbClr val="91B4FF"/>
                </a:solidFill>
                <a:latin typeface="Geist"/>
                <a:ea typeface="Geist"/>
                <a:cs typeface="Geist"/>
              </a:defRPr>
            </a:pPr>
            <a:r>
              <a:rPr sz="3975" b="1">
                <a:solidFill>
                  <a:srgbClr val="91B4FF"/>
                </a:solidFill>
                <a:latin typeface="Geist"/>
                <a:ea typeface="Geist"/>
                <a:cs typeface="Geist"/>
              </a:rPr>
              <a:t>One overview of</a:t>
            </a:r>
          </a:p>
          <a:p xmlns:a="http://schemas.openxmlformats.org/drawingml/2006/main">
            <a:pPr>
              <a:buNone/>
              <a:defRPr sz="3975" b="1">
                <a:solidFill>
                  <a:srgbClr val="91B4FF"/>
                </a:solidFill>
                <a:latin typeface="Geist"/>
                <a:ea typeface="Geist"/>
                <a:cs typeface="Geist"/>
              </a:defRPr>
            </a:pPr>
            <a:r>
              <a:rPr sz="3975" b="1">
                <a:solidFill>
                  <a:srgbClr val="91B4FF"/>
                </a:solidFill>
                <a:latin typeface="Geist"/>
                <a:ea typeface="Geist"/>
                <a:cs typeface="Geist"/>
              </a:rPr>
              <a:t>costs and renewals</a:t>
            </a:r>
          </a:p>
        </p:txBody>
      </p:sp>
      <p:sp>
        <p:nvSpPr>
          <p:cNvPr id="5" name="">
            <a:extLst xmlns:a="http://schemas.openxmlformats.org/drawingml/2006/main">
              <a:ext uri="{FF2B5EF4-FFF2-40B4-BE49-F238E27FC236}">
                <a16:creationId xmlns:a16="http://schemas.microsoft.com/office/drawing/2014/main" id="{014AFE24-E229-48A8-869F-AB301AE45AB3}"/>
              </a:ext>
            </a:extLst>
          </p:cNvPr>
          <p:cNvSpPr>
            <a:spLocks xmlns:a="http://schemas.openxmlformats.org/drawingml/2006/main" noGrp="1"/>
          </p:cNvSpPr>
          <p:nvPr/>
        </p:nvSpPr>
        <p:spPr>
          <a:xfrm xmlns:a="http://schemas.openxmlformats.org/drawingml/2006/main">
            <a:off x="762000" y="4352925"/>
            <a:ext cx="809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F7F7FA"/>
                </a:solidFill>
                <a:latin typeface="Geist"/>
                <a:ea typeface="Geist"/>
                <a:cs typeface="Geist"/>
              </a:defRPr>
            </a:defPPr>
          </a:lstStyle>
          <a:p xmlns:a="http://schemas.openxmlformats.org/drawingml/2006/main">
            <a:pPr>
              <a:buNone/>
              <a:defRPr sz="2250" b="1">
                <a:solidFill>
                  <a:srgbClr val="F7F7FA"/>
                </a:solidFill>
                <a:latin typeface="Geist"/>
                <a:ea typeface="Geist"/>
                <a:cs typeface="Geist"/>
              </a:defRPr>
            </a:pPr>
            <a:r>
              <a:rPr sz="2250" b="1">
                <a:solidFill>
                  <a:srgbClr val="F7F7FA"/>
                </a:solidFill>
                <a:latin typeface="Geist"/>
                <a:ea typeface="Geist"/>
                <a:cs typeface="Geist"/>
              </a:rPr>
              <a:t>“Monthly average” with the calculation</a:t>
            </a:r>
          </a:p>
        </p:txBody>
      </p:sp>
      <p:sp>
        <p:nvSpPr>
          <p:cNvPr id="6" name="">
            <a:extLst xmlns:a="http://schemas.openxmlformats.org/drawingml/2006/main">
              <a:ext uri="{FF2B5EF4-FFF2-40B4-BE49-F238E27FC236}">
                <a16:creationId xmlns:a16="http://schemas.microsoft.com/office/drawing/2014/main" id="{98DB639C-C540-4921-AFC3-5F08BDAC49BE}"/>
              </a:ext>
            </a:extLst>
          </p:cNvPr>
          <p:cNvSpPr>
            <a:spLocks xmlns:a="http://schemas.openxmlformats.org/drawingml/2006/main" noGrp="1"/>
          </p:cNvSpPr>
          <p:nvPr/>
        </p:nvSpPr>
        <p:spPr>
          <a:xfrm xmlns:a="http://schemas.openxmlformats.org/drawingml/2006/main">
            <a:off x="762000" y="4857750"/>
            <a:ext cx="8096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A6A6AE"/>
                </a:solidFill>
                <a:latin typeface="Geist"/>
                <a:ea typeface="Geist"/>
                <a:cs typeface="Geist"/>
              </a:defRPr>
            </a:defPPr>
          </a:lstStyle>
          <a:p xmlns:a="http://schemas.openxmlformats.org/drawingml/2006/main">
            <a:pPr>
              <a:buNone/>
              <a:defRPr sz="2025" b="0">
                <a:solidFill>
                  <a:srgbClr val="A6A6AE"/>
                </a:solidFill>
                <a:latin typeface="Geist"/>
                <a:ea typeface="Geist"/>
                <a:cs typeface="Geist"/>
              </a:defRPr>
            </a:pPr>
            <a:r>
              <a:rPr sz="2025" b="0">
                <a:solidFill>
                  <a:srgbClr val="A6A6AE"/>
                </a:solidFill>
                <a:latin typeface="Geist"/>
                <a:ea typeface="Geist"/>
                <a:cs typeface="Geist"/>
              </a:rPr>
              <a:t>“Yearly plans divided by 12” explains what the €39 represents.</a:t>
            </a:r>
          </a:p>
        </p:txBody>
      </p:sp>
      <p:sp>
        <p:nvSpPr>
          <p:cNvPr id="7" name="">
            <a:extLst xmlns:a="http://schemas.openxmlformats.org/drawingml/2006/main">
              <a:ext uri="{FF2B5EF4-FFF2-40B4-BE49-F238E27FC236}">
                <a16:creationId xmlns:a16="http://schemas.microsoft.com/office/drawing/2014/main" id="{BD5FD893-9330-40E6-A86E-76293FEF381D}"/>
              </a:ext>
            </a:extLst>
          </p:cNvPr>
          <p:cNvSpPr>
            <a:spLocks xmlns:a="http://schemas.openxmlformats.org/drawingml/2006/main" noGrp="1"/>
          </p:cNvSpPr>
          <p:nvPr/>
        </p:nvSpPr>
        <p:spPr>
          <a:xfrm xmlns:a="http://schemas.openxmlformats.org/drawingml/2006/main">
            <a:off x="762000" y="5886450"/>
            <a:ext cx="809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F7F7FA"/>
                </a:solidFill>
                <a:latin typeface="Geist"/>
                <a:ea typeface="Geist"/>
                <a:cs typeface="Geist"/>
              </a:defRPr>
            </a:defPPr>
          </a:lstStyle>
          <a:p xmlns:a="http://schemas.openxmlformats.org/drawingml/2006/main">
            <a:pPr>
              <a:buNone/>
              <a:defRPr sz="2250" b="1">
                <a:solidFill>
                  <a:srgbClr val="F7F7FA"/>
                </a:solidFill>
                <a:latin typeface="Geist"/>
                <a:ea typeface="Geist"/>
                <a:cs typeface="Geist"/>
              </a:defRPr>
            </a:pPr>
            <a:r>
              <a:rPr sz="2250" b="1">
                <a:solidFill>
                  <a:srgbClr val="F7F7FA"/>
                </a:solidFill>
                <a:latin typeface="Geist"/>
                <a:ea typeface="Geist"/>
                <a:cs typeface="Geist"/>
              </a:rPr>
              <a:t>“Estimated next payments”</a:t>
            </a:r>
          </a:p>
        </p:txBody>
      </p:sp>
      <p:sp>
        <p:nvSpPr>
          <p:cNvPr id="8" name="">
            <a:extLst xmlns:a="http://schemas.openxmlformats.org/drawingml/2006/main">
              <a:ext uri="{FF2B5EF4-FFF2-40B4-BE49-F238E27FC236}">
                <a16:creationId xmlns:a16="http://schemas.microsoft.com/office/drawing/2014/main" id="{8E219024-582F-4463-B681-86CA5643EE82}"/>
              </a:ext>
            </a:extLst>
          </p:cNvPr>
          <p:cNvSpPr>
            <a:spLocks xmlns:a="http://schemas.openxmlformats.org/drawingml/2006/main" noGrp="1"/>
          </p:cNvSpPr>
          <p:nvPr/>
        </p:nvSpPr>
        <p:spPr>
          <a:xfrm xmlns:a="http://schemas.openxmlformats.org/drawingml/2006/main">
            <a:off x="762000" y="6391275"/>
            <a:ext cx="8096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A6A6AE"/>
                </a:solidFill>
                <a:latin typeface="Geist"/>
                <a:ea typeface="Geist"/>
                <a:cs typeface="Geist"/>
              </a:defRPr>
            </a:defPPr>
          </a:lstStyle>
          <a:p xmlns:a="http://schemas.openxmlformats.org/drawingml/2006/main">
            <a:pPr>
              <a:buNone/>
              <a:defRPr sz="2025" b="0">
                <a:solidFill>
                  <a:srgbClr val="A6A6AE"/>
                </a:solidFill>
                <a:latin typeface="Geist"/>
                <a:ea typeface="Geist"/>
                <a:cs typeface="Geist"/>
              </a:defRPr>
            </a:pPr>
            <a:r>
              <a:rPr sz="2025" b="0">
                <a:solidFill>
                  <a:srgbClr val="A6A6AE"/>
                </a:solidFill>
                <a:latin typeface="Geist"/>
                <a:ea typeface="Geist"/>
                <a:cs typeface="Geist"/>
              </a:rPr>
              <a:t>Apple TV still shows €120, billed yearly. Its €10 monthly average helps compare costs without changing the bill.</a:t>
            </a:r>
          </a:p>
        </p:txBody>
      </p:sp>
      <p:sp>
        <p:nvSpPr>
          <p:cNvPr id="9" name="">
            <a:extLst xmlns:a="http://schemas.openxmlformats.org/drawingml/2006/main">
              <a:ext uri="{FF2B5EF4-FFF2-40B4-BE49-F238E27FC236}">
                <a16:creationId xmlns:a16="http://schemas.microsoft.com/office/drawing/2014/main" id="{D28461C1-84E8-4CB1-935E-39E0179EAC70}"/>
              </a:ext>
            </a:extLst>
          </p:cNvPr>
          <p:cNvSpPr>
            <a:spLocks xmlns:a="http://schemas.openxmlformats.org/drawingml/2006/main" noGrp="1"/>
          </p:cNvSpPr>
          <p:nvPr/>
        </p:nvSpPr>
        <p:spPr>
          <a:xfrm xmlns:a="http://schemas.openxmlformats.org/drawingml/2006/main">
            <a:off x="762000" y="7734300"/>
            <a:ext cx="8096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A6A6AE"/>
                </a:solidFill>
                <a:latin typeface="Geist"/>
                <a:ea typeface="Geist"/>
                <a:cs typeface="Geist"/>
              </a:defRPr>
            </a:defPPr>
          </a:lstStyle>
          <a:p xmlns:a="http://schemas.openxmlformats.org/drawingml/2006/main">
            <a:pPr>
              <a:buNone/>
              <a:defRPr sz="1725" b="0">
                <a:solidFill>
                  <a:srgbClr val="A6A6AE"/>
                </a:solidFill>
                <a:latin typeface="Geist"/>
                <a:ea typeface="Geist"/>
                <a:cs typeface="Geist"/>
              </a:defRPr>
            </a:pPr>
            <a:r>
              <a:rPr sz="1725" b="0">
                <a:solidFill>
                  <a:srgbClr val="A6A6AE"/>
                </a:solidFill>
                <a:latin typeface="Geist"/>
                <a:ea typeface="Geist"/>
                <a:cs typeface="Geist"/>
              </a:rPr>
              <a:t>Demo snapshot: November 2026</a:t>
            </a:r>
          </a:p>
        </p:txBody>
      </p:sp>
      <p:sp>
        <p:nvSpPr>
          <p:cNvPr id="10" name="">
            <a:extLst xmlns:a="http://schemas.openxmlformats.org/drawingml/2006/main">
              <a:ext uri="{FF2B5EF4-FFF2-40B4-BE49-F238E27FC236}">
                <a16:creationId xmlns:a16="http://schemas.microsoft.com/office/drawing/2014/main" id="{C2D4B12E-5ABE-436C-B19E-5F6757C4FA48}"/>
              </a:ext>
            </a:extLst>
          </p:cNvPr>
          <p:cNvSpPr>
            <a:spLocks xmlns:a="http://schemas.openxmlformats.org/drawingml/2006/main" noGrp="1"/>
          </p:cNvSpPr>
          <p:nvPr/>
        </p:nvSpPr>
        <p:spPr>
          <a:xfrm xmlns:a="http://schemas.openxmlformats.org/drawingml/2006/main">
            <a:off x="10210800" y="609600"/>
            <a:ext cx="3533775" cy="7551110"/>
          </a:xfrm>
          <a:prstGeom xmlns:a="http://schemas.openxmlformats.org/drawingml/2006/main" prst="roundRect">
            <a:avLst>
              <a:gd name="adj" fmla="val 13477"/>
            </a:avLst>
          </a:prstGeom>
          <a:solidFill xmlns:a="http://schemas.openxmlformats.org/drawingml/2006/main">
            <a:srgbClr val="111115"/>
          </a:solidFill>
          <a:ln xmlns:a="http://schemas.openxmlformats.org/drawingml/2006/main" w="28575">
            <a:solidFill>
              <a:srgbClr val="62626D"/>
            </a:solidFill>
            <a:prstDash val="solid"/>
          </a:ln>
        </p:spPr>
      </p:sp>
      <p:pic>
        <p:nvPicPr>
          <p:cNvPr id="11" name="">
            <a:extLst xmlns:a="http://schemas.openxmlformats.org/drawingml/2006/main">
              <a:ext uri="{FF2B5EF4-FFF2-40B4-BE49-F238E27FC236}">
                <a16:creationId xmlns:a16="http://schemas.microsoft.com/office/drawing/2014/main" id="{CB330496-A4F4-49ED-B651-5B191A943C60}"/>
              </a:ext>
            </a:extLst>
          </p:cNvPr>
          <p:cNvPicPr>
            <a:picLocks xmlns:a="http://schemas.openxmlformats.org/drawingml/2006/main" noChangeAspect="1"/>
          </p:cNvPicPr>
          <p:nvPr/>
        </p:nvPicPr>
        <p:blipFill>
          <a:blip xmlns:r="http://schemas.openxmlformats.org/officeDocument/2006/relationships" xmlns:a="http://schemas.openxmlformats.org/drawingml/2006/main" r:embed="R373855a0d844462c"/>
          <a:stretch xmlns:a="http://schemas.openxmlformats.org/drawingml/2006/main"/>
        </p:blipFill>
        <p:spPr>
          <a:xfrm xmlns:a="http://schemas.openxmlformats.org/drawingml/2006/main" flipH="0" flipV="0">
            <a:off x="10334625" y="828675"/>
            <a:ext cx="3286125" cy="7122485"/>
          </a:xfrm>
          <a:prstGeom xmlns:a="http://schemas.openxmlformats.org/drawingml/2006/main" prst="roundRect">
            <a:avLst>
              <a:gd name="adj" fmla="val 10725"/>
            </a:avLst>
          </a:prstGeom>
        </p:spPr>
      </p:pic>
      <p:sp>
        <p:nvSpPr>
          <p:cNvPr id="12" name="">
            <a:extLst xmlns:a="http://schemas.openxmlformats.org/drawingml/2006/main">
              <a:ext uri="{FF2B5EF4-FFF2-40B4-BE49-F238E27FC236}">
                <a16:creationId xmlns:a16="http://schemas.microsoft.com/office/drawing/2014/main" id="{3B3E638B-22C5-4DC3-9439-1E3D51A246F0}"/>
              </a:ext>
            </a:extLst>
          </p:cNvPr>
          <p:cNvSpPr>
            <a:spLocks xmlns:a="http://schemas.openxmlformats.org/drawingml/2006/main" noGrp="1"/>
          </p:cNvSpPr>
          <p:nvPr/>
        </p:nvSpPr>
        <p:spPr>
          <a:xfrm xmlns:a="http://schemas.openxmlformats.org/drawingml/2006/main">
            <a:off x="11568113" y="895350"/>
            <a:ext cx="819150" cy="161925"/>
          </a:xfrm>
          <a:prstGeom xmlns:a="http://schemas.openxmlformats.org/drawingml/2006/main" prst="roundRect">
            <a:avLst>
              <a:gd name="adj" fmla="val 50000"/>
            </a:avLst>
          </a:prstGeom>
          <a:solidFill xmlns:a="http://schemas.openxmlformats.org/drawingml/2006/main">
            <a:srgbClr val="000000"/>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DF4C2109-3A3B-4483-9958-6B481ECFD0B7}"/>
              </a:ext>
            </a:extLst>
          </p:cNvPr>
          <p:cNvSpPr>
            <a:spLocks xmlns:a="http://schemas.openxmlformats.org/drawingml/2006/main" noGrp="1"/>
          </p:cNvSpPr>
          <p:nvPr/>
        </p:nvSpPr>
        <p:spPr>
          <a:xfrm xmlns:a="http://schemas.openxmlformats.org/drawingml/2006/main">
            <a:off x="11463338" y="8036885"/>
            <a:ext cx="1028700" cy="38100"/>
          </a:xfrm>
          <a:prstGeom xmlns:a="http://schemas.openxmlformats.org/drawingml/2006/main" prst="roundRect">
            <a:avLst>
              <a:gd name="adj" fmla="val 50000"/>
            </a:avLst>
          </a:prstGeom>
          <a:solidFill xmlns:a="http://schemas.openxmlformats.org/drawingml/2006/main">
            <a:srgbClr val="F7F7FA"/>
          </a:solidFill>
          <a:ln xmlns:a="http://schemas.openxmlformats.org/drawingml/2006/main" w="0">
            <a:solidFill>
              <a:srgbClr val="F7F7FA"/>
            </a:solidFill>
            <a:prstDash val="solid"/>
          </a:ln>
        </p:spPr>
      </p:sp>
    </p:spTree>
    <p:extLst>
      <p:ext uri="{BB962C8B-B14F-4D97-AF65-F5344CB8AC3E}">
        <p14:creationId xmlns:p14="http://schemas.microsoft.com/office/powerpoint/2010/main" val="1470393846"/>
      </p:ext>
    </p:extLst>
  </p:cSld>
</p:sld>
</file>

<file path=ppt/slides/slide7.xml><?xml version="1.0" encoding="utf-8"?>
<p:sld xmlns:p="http://schemas.openxmlformats.org/presentationml/2006/main">
  <p:cSld>
    <p:bg>
      <p:bgPr>
        <a:gradFill xmlns:a="http://schemas.openxmlformats.org/drawingml/2006/main">
          <a:gsLst>
            <a:gs pos="0">
              <a:srgbClr val="0B1034"/>
            </a:gs>
            <a:gs pos="58000">
              <a:srgbClr val="000000"/>
            </a:gs>
            <a:gs pos="100000">
              <a:srgbClr val="000000"/>
            </a:gs>
          </a:gsLst>
          <a:lin ang="7200000"/>
        </a:gra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062C0F3-F08C-4EBE-BF4D-9A11541620F5}"/>
              </a:ext>
            </a:extLst>
          </p:cNvPr>
          <p:cNvSpPr>
            <a:spLocks xmlns:a="http://schemas.openxmlformats.org/drawingml/2006/main" noGrp="1"/>
          </p:cNvSpPr>
          <p:nvPr/>
        </p:nvSpPr>
        <p:spPr>
          <a:xfrm xmlns:a="http://schemas.openxmlformats.org/drawingml/2006/main">
            <a:off x="762000" y="40957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F7F7FA"/>
                </a:solidFill>
                <a:latin typeface="Geist"/>
                <a:ea typeface="Geist"/>
                <a:cs typeface="Geist"/>
              </a:defRPr>
            </a:defPPr>
          </a:lstStyle>
          <a:p xmlns:a="http://schemas.openxmlformats.org/drawingml/2006/main">
            <a:pPr>
              <a:buNone/>
              <a:defRPr sz="2100" b="1">
                <a:solidFill>
                  <a:srgbClr val="F7F7FA"/>
                </a:solidFill>
                <a:latin typeface="Geist"/>
                <a:ea typeface="Geist"/>
                <a:cs typeface="Geist"/>
              </a:defRPr>
            </a:pPr>
            <a:r>
              <a:rPr sz="2100" b="1">
                <a:solidFill>
                  <a:srgbClr val="F7F7FA"/>
                </a:solidFill>
                <a:latin typeface="Geist"/>
                <a:ea typeface="Geist"/>
                <a:cs typeface="Geist"/>
              </a:rPr>
              <a:t>Subscript</a:t>
            </a:r>
          </a:p>
        </p:txBody>
      </p:sp>
      <p:sp>
        <p:nvSpPr>
          <p:cNvPr id="2" name="">
            <a:extLst xmlns:a="http://schemas.openxmlformats.org/drawingml/2006/main">
              <a:ext uri="{FF2B5EF4-FFF2-40B4-BE49-F238E27FC236}">
                <a16:creationId xmlns:a16="http://schemas.microsoft.com/office/drawing/2014/main" id="{147B9096-570A-4B23-A588-1185D1E73E01}"/>
              </a:ext>
            </a:extLst>
          </p:cNvPr>
          <p:cNvSpPr>
            <a:spLocks xmlns:a="http://schemas.openxmlformats.org/drawingml/2006/main" noGrp="1"/>
          </p:cNvSpPr>
          <p:nvPr/>
        </p:nvSpPr>
        <p:spPr>
          <a:xfrm xmlns:a="http://schemas.openxmlformats.org/drawingml/2006/main">
            <a:off x="13811250" y="447675"/>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A6A6AE"/>
                </a:solidFill>
                <a:latin typeface="Geist"/>
                <a:ea typeface="Geist"/>
                <a:cs typeface="Geist"/>
              </a:defRPr>
            </a:defPPr>
          </a:lstStyle>
          <a:p xmlns:a="http://schemas.openxmlformats.org/drawingml/2006/main">
            <a:pPr>
              <a:buNone/>
              <a:defRPr sz="1650" b="0">
                <a:solidFill>
                  <a:srgbClr val="A6A6AE"/>
                </a:solidFill>
                <a:latin typeface="Geist"/>
                <a:ea typeface="Geist"/>
                <a:cs typeface="Geist"/>
              </a:defRPr>
            </a:pPr>
            <a:r>
              <a:rPr sz="1650" b="0">
                <a:solidFill>
                  <a:srgbClr val="A6A6AE"/>
                </a:solidFill>
                <a:latin typeface="Geist"/>
                <a:ea typeface="Geist"/>
                <a:cs typeface="Geist"/>
              </a:rPr>
              <a:t>07</a:t>
            </a:r>
          </a:p>
        </p:txBody>
      </p:sp>
      <p:sp>
        <p:nvSpPr>
          <p:cNvPr id="3" name="">
            <a:extLst xmlns:a="http://schemas.openxmlformats.org/drawingml/2006/main">
              <a:ext uri="{FF2B5EF4-FFF2-40B4-BE49-F238E27FC236}">
                <a16:creationId xmlns:a16="http://schemas.microsoft.com/office/drawing/2014/main" id="{B1C9701E-D87F-4E64-A430-14AA0D3E731F}"/>
              </a:ext>
            </a:extLst>
          </p:cNvPr>
          <p:cNvSpPr>
            <a:spLocks xmlns:a="http://schemas.openxmlformats.org/drawingml/2006/main" noGrp="1"/>
          </p:cNvSpPr>
          <p:nvPr/>
        </p:nvSpPr>
        <p:spPr>
          <a:xfrm xmlns:a="http://schemas.openxmlformats.org/drawingml/2006/main">
            <a:off x="762000" y="1285875"/>
            <a:ext cx="890587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800" b="1">
                <a:solidFill>
                  <a:srgbClr val="F7F7FA"/>
                </a:solidFill>
                <a:latin typeface="Geist"/>
                <a:ea typeface="Geist"/>
                <a:cs typeface="Geist"/>
              </a:defRPr>
            </a:defPPr>
          </a:lstStyle>
          <a:p xmlns:a="http://schemas.openxmlformats.org/drawingml/2006/main">
            <a:pPr>
              <a:buNone/>
              <a:defRPr sz="4800" b="1">
                <a:solidFill>
                  <a:srgbClr val="F7F7FA"/>
                </a:solidFill>
                <a:latin typeface="Geist"/>
                <a:ea typeface="Geist"/>
                <a:cs typeface="Geist"/>
              </a:defRPr>
            </a:pPr>
            <a:r>
              <a:rPr sz="4800" b="1">
                <a:solidFill>
                  <a:srgbClr val="F7F7FA"/>
                </a:solidFill>
                <a:latin typeface="Geist"/>
                <a:ea typeface="Geist"/>
                <a:cs typeface="Geist"/>
              </a:rPr>
              <a:t>Profile</a:t>
            </a:r>
          </a:p>
        </p:txBody>
      </p:sp>
      <p:sp>
        <p:nvSpPr>
          <p:cNvPr id="4" name="">
            <a:extLst xmlns:a="http://schemas.openxmlformats.org/drawingml/2006/main">
              <a:ext uri="{FF2B5EF4-FFF2-40B4-BE49-F238E27FC236}">
                <a16:creationId xmlns:a16="http://schemas.microsoft.com/office/drawing/2014/main" id="{83AE4FD9-9608-4E54-AD2C-B31211D12C85}"/>
              </a:ext>
            </a:extLst>
          </p:cNvPr>
          <p:cNvSpPr>
            <a:spLocks xmlns:a="http://schemas.openxmlformats.org/drawingml/2006/main" noGrp="1"/>
          </p:cNvSpPr>
          <p:nvPr/>
        </p:nvSpPr>
        <p:spPr>
          <a:xfrm xmlns:a="http://schemas.openxmlformats.org/drawingml/2006/main">
            <a:off x="762000" y="2571750"/>
            <a:ext cx="8239125"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975" b="1">
                <a:solidFill>
                  <a:srgbClr val="91B4FF"/>
                </a:solidFill>
                <a:latin typeface="Geist"/>
                <a:ea typeface="Geist"/>
                <a:cs typeface="Geist"/>
              </a:defRPr>
            </a:defPPr>
          </a:lstStyle>
          <a:p xmlns:a="http://schemas.openxmlformats.org/drawingml/2006/main">
            <a:pPr>
              <a:buNone/>
              <a:defRPr sz="3975" b="1">
                <a:solidFill>
                  <a:srgbClr val="91B4FF"/>
                </a:solidFill>
                <a:latin typeface="Geist"/>
                <a:ea typeface="Geist"/>
                <a:cs typeface="Geist"/>
              </a:defRPr>
            </a:pPr>
            <a:r>
              <a:rPr sz="3975" b="1">
                <a:solidFill>
                  <a:srgbClr val="91B4FF"/>
                </a:solidFill>
                <a:latin typeface="Geist"/>
                <a:ea typeface="Geist"/>
                <a:cs typeface="Geist"/>
              </a:rPr>
              <a:t>Account information</a:t>
            </a:r>
          </a:p>
          <a:p xmlns:a="http://schemas.openxmlformats.org/drawingml/2006/main">
            <a:pPr>
              <a:buNone/>
              <a:defRPr sz="3975" b="1">
                <a:solidFill>
                  <a:srgbClr val="91B4FF"/>
                </a:solidFill>
                <a:latin typeface="Geist"/>
                <a:ea typeface="Geist"/>
                <a:cs typeface="Geist"/>
              </a:defRPr>
            </a:pPr>
            <a:r>
              <a:rPr sz="3975" b="1">
                <a:solidFill>
                  <a:srgbClr val="91B4FF"/>
                </a:solidFill>
                <a:latin typeface="Geist"/>
                <a:ea typeface="Geist"/>
                <a:cs typeface="Geist"/>
              </a:rPr>
              <a:t>and controls together</a:t>
            </a:r>
          </a:p>
        </p:txBody>
      </p:sp>
      <p:sp>
        <p:nvSpPr>
          <p:cNvPr id="5" name="">
            <a:extLst xmlns:a="http://schemas.openxmlformats.org/drawingml/2006/main">
              <a:ext uri="{FF2B5EF4-FFF2-40B4-BE49-F238E27FC236}">
                <a16:creationId xmlns:a16="http://schemas.microsoft.com/office/drawing/2014/main" id="{21F1408D-E1AF-4BB3-A75A-734C40A715C3}"/>
              </a:ext>
            </a:extLst>
          </p:cNvPr>
          <p:cNvSpPr>
            <a:spLocks xmlns:a="http://schemas.openxmlformats.org/drawingml/2006/main" noGrp="1"/>
          </p:cNvSpPr>
          <p:nvPr/>
        </p:nvSpPr>
        <p:spPr>
          <a:xfrm xmlns:a="http://schemas.openxmlformats.org/drawingml/2006/main">
            <a:off x="762000" y="4333875"/>
            <a:ext cx="809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F7F7FA"/>
                </a:solidFill>
                <a:latin typeface="Geist"/>
                <a:ea typeface="Geist"/>
                <a:cs typeface="Geist"/>
              </a:defRPr>
            </a:defPPr>
          </a:lstStyle>
          <a:p xmlns:a="http://schemas.openxmlformats.org/drawingml/2006/main">
            <a:pPr>
              <a:buNone/>
              <a:defRPr sz="2250" b="1">
                <a:solidFill>
                  <a:srgbClr val="F7F7FA"/>
                </a:solidFill>
                <a:latin typeface="Geist"/>
                <a:ea typeface="Geist"/>
                <a:cs typeface="Geist"/>
              </a:defRPr>
            </a:pPr>
            <a:r>
              <a:rPr sz="2250" b="1">
                <a:solidFill>
                  <a:srgbClr val="F7F7FA"/>
                </a:solidFill>
                <a:latin typeface="Geist"/>
                <a:ea typeface="Geist"/>
                <a:cs typeface="Geist"/>
              </a:rPr>
              <a:t>“Linked accounts” and “Your subscriptions”</a:t>
            </a:r>
          </a:p>
        </p:txBody>
      </p:sp>
      <p:sp>
        <p:nvSpPr>
          <p:cNvPr id="6" name="">
            <a:extLst xmlns:a="http://schemas.openxmlformats.org/drawingml/2006/main">
              <a:ext uri="{FF2B5EF4-FFF2-40B4-BE49-F238E27FC236}">
                <a16:creationId xmlns:a16="http://schemas.microsoft.com/office/drawing/2014/main" id="{5AEF3338-36D4-4F88-ADFA-62A33B76DE61}"/>
              </a:ext>
            </a:extLst>
          </p:cNvPr>
          <p:cNvSpPr>
            <a:spLocks xmlns:a="http://schemas.openxmlformats.org/drawingml/2006/main" noGrp="1"/>
          </p:cNvSpPr>
          <p:nvPr/>
        </p:nvSpPr>
        <p:spPr>
          <a:xfrm xmlns:a="http://schemas.openxmlformats.org/drawingml/2006/main">
            <a:off x="762000" y="4838700"/>
            <a:ext cx="8096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A6A6AE"/>
                </a:solidFill>
                <a:latin typeface="Geist"/>
                <a:ea typeface="Geist"/>
                <a:cs typeface="Geist"/>
              </a:defRPr>
            </a:defPPr>
          </a:lstStyle>
          <a:p xmlns:a="http://schemas.openxmlformats.org/drawingml/2006/main">
            <a:pPr>
              <a:buNone/>
              <a:defRPr sz="2025" b="0">
                <a:solidFill>
                  <a:srgbClr val="A6A6AE"/>
                </a:solidFill>
                <a:latin typeface="Geist"/>
                <a:ea typeface="Geist"/>
                <a:cs typeface="Geist"/>
              </a:defRPr>
            </a:pPr>
            <a:r>
              <a:rPr sz="2025" b="0">
                <a:solidFill>
                  <a:srgbClr val="A6A6AE"/>
                </a:solidFill>
                <a:latin typeface="Geist"/>
                <a:ea typeface="Geist"/>
                <a:cs typeface="Geist"/>
              </a:rPr>
              <a:t>Visible counts make the current account state easy to read.</a:t>
            </a:r>
          </a:p>
        </p:txBody>
      </p:sp>
      <p:sp>
        <p:nvSpPr>
          <p:cNvPr id="7" name="">
            <a:extLst xmlns:a="http://schemas.openxmlformats.org/drawingml/2006/main">
              <a:ext uri="{FF2B5EF4-FFF2-40B4-BE49-F238E27FC236}">
                <a16:creationId xmlns:a16="http://schemas.microsoft.com/office/drawing/2014/main" id="{B8F2DBE5-51A9-4F31-8328-B62231E3291A}"/>
              </a:ext>
            </a:extLst>
          </p:cNvPr>
          <p:cNvSpPr>
            <a:spLocks xmlns:a="http://schemas.openxmlformats.org/drawingml/2006/main" noGrp="1"/>
          </p:cNvSpPr>
          <p:nvPr/>
        </p:nvSpPr>
        <p:spPr>
          <a:xfrm xmlns:a="http://schemas.openxmlformats.org/drawingml/2006/main">
            <a:off x="762000" y="5857875"/>
            <a:ext cx="809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F7F7FA"/>
                </a:solidFill>
                <a:latin typeface="Geist"/>
                <a:ea typeface="Geist"/>
                <a:cs typeface="Geist"/>
              </a:defRPr>
            </a:defPPr>
          </a:lstStyle>
          <a:p xmlns:a="http://schemas.openxmlformats.org/drawingml/2006/main">
            <a:pPr>
              <a:buNone/>
              <a:defRPr sz="2250" b="1">
                <a:solidFill>
                  <a:srgbClr val="F7F7FA"/>
                </a:solidFill>
                <a:latin typeface="Geist"/>
                <a:ea typeface="Geist"/>
                <a:cs typeface="Geist"/>
              </a:defRPr>
            </a:pPr>
            <a:r>
              <a:rPr sz="2250" b="1">
                <a:solidFill>
                  <a:srgbClr val="F7F7FA"/>
                </a:solidFill>
                <a:latin typeface="Geist"/>
                <a:ea typeface="Geist"/>
                <a:cs typeface="Geist"/>
              </a:rPr>
              <a:t>“Glad you asked” in Help</a:t>
            </a:r>
          </a:p>
        </p:txBody>
      </p:sp>
      <p:sp>
        <p:nvSpPr>
          <p:cNvPr id="8" name="">
            <a:extLst xmlns:a="http://schemas.openxmlformats.org/drawingml/2006/main">
              <a:ext uri="{FF2B5EF4-FFF2-40B4-BE49-F238E27FC236}">
                <a16:creationId xmlns:a16="http://schemas.microsoft.com/office/drawing/2014/main" id="{A51E85C3-5466-4AE7-A04E-354970C4A953}"/>
              </a:ext>
            </a:extLst>
          </p:cNvPr>
          <p:cNvSpPr>
            <a:spLocks xmlns:a="http://schemas.openxmlformats.org/drawingml/2006/main" noGrp="1"/>
          </p:cNvSpPr>
          <p:nvPr/>
        </p:nvSpPr>
        <p:spPr>
          <a:xfrm xmlns:a="http://schemas.openxmlformats.org/drawingml/2006/main">
            <a:off x="762000" y="6362700"/>
            <a:ext cx="8096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A6A6AE"/>
                </a:solidFill>
                <a:latin typeface="Geist"/>
                <a:ea typeface="Geist"/>
                <a:cs typeface="Geist"/>
              </a:defRPr>
            </a:defPPr>
          </a:lstStyle>
          <a:p xmlns:a="http://schemas.openxmlformats.org/drawingml/2006/main">
            <a:pPr>
              <a:buNone/>
              <a:defRPr sz="2025" b="0">
                <a:solidFill>
                  <a:srgbClr val="A6A6AE"/>
                </a:solidFill>
                <a:latin typeface="Geist"/>
                <a:ea typeface="Geist"/>
                <a:cs typeface="Geist"/>
              </a:defRPr>
            </a:pPr>
            <a:r>
              <a:rPr sz="2025" b="0">
                <a:solidFill>
                  <a:srgbClr val="A6A6AE"/>
                </a:solidFill>
                <a:latin typeface="Geist"/>
                <a:ea typeface="Geist"/>
                <a:cs typeface="Geist"/>
              </a:rPr>
              <a:t>Questions get a warm welcome. Account and privacy controls keep familiar labels.</a:t>
            </a:r>
          </a:p>
        </p:txBody>
      </p:sp>
      <p:sp>
        <p:nvSpPr>
          <p:cNvPr id="9" name="">
            <a:extLst xmlns:a="http://schemas.openxmlformats.org/drawingml/2006/main">
              <a:ext uri="{FF2B5EF4-FFF2-40B4-BE49-F238E27FC236}">
                <a16:creationId xmlns:a16="http://schemas.microsoft.com/office/drawing/2014/main" id="{8E0E53C1-FB8D-470F-A7F1-DDD62798CB3C}"/>
              </a:ext>
            </a:extLst>
          </p:cNvPr>
          <p:cNvSpPr>
            <a:spLocks xmlns:a="http://schemas.openxmlformats.org/drawingml/2006/main" noGrp="1"/>
          </p:cNvSpPr>
          <p:nvPr/>
        </p:nvSpPr>
        <p:spPr>
          <a:xfrm xmlns:a="http://schemas.openxmlformats.org/drawingml/2006/main">
            <a:off x="762000" y="7734300"/>
            <a:ext cx="8096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A6A6AE"/>
                </a:solidFill>
                <a:latin typeface="Geist"/>
                <a:ea typeface="Geist"/>
                <a:cs typeface="Geist"/>
              </a:defRPr>
            </a:defPPr>
          </a:lstStyle>
          <a:p xmlns:a="http://schemas.openxmlformats.org/drawingml/2006/main">
            <a:pPr>
              <a:buNone/>
              <a:defRPr sz="1725" b="0">
                <a:solidFill>
                  <a:srgbClr val="A6A6AE"/>
                </a:solidFill>
                <a:latin typeface="Geist"/>
                <a:ea typeface="Geist"/>
                <a:cs typeface="Geist"/>
              </a:defRPr>
            </a:pPr>
            <a:r>
              <a:rPr sz="1725" b="0">
                <a:solidFill>
                  <a:srgbClr val="A6A6AE"/>
                </a:solidFill>
                <a:latin typeface="Geist"/>
                <a:ea typeface="Geist"/>
                <a:cs typeface="Geist"/>
              </a:rPr>
              <a:t>Alex Morgan is the fictional demo profile.</a:t>
            </a:r>
          </a:p>
        </p:txBody>
      </p:sp>
      <p:sp>
        <p:nvSpPr>
          <p:cNvPr id="10" name="">
            <a:extLst xmlns:a="http://schemas.openxmlformats.org/drawingml/2006/main">
              <a:ext uri="{FF2B5EF4-FFF2-40B4-BE49-F238E27FC236}">
                <a16:creationId xmlns:a16="http://schemas.microsoft.com/office/drawing/2014/main" id="{83E60355-B693-4C9A-A4F6-0272BEBC3961}"/>
              </a:ext>
            </a:extLst>
          </p:cNvPr>
          <p:cNvSpPr>
            <a:spLocks xmlns:a="http://schemas.openxmlformats.org/drawingml/2006/main" noGrp="1"/>
          </p:cNvSpPr>
          <p:nvPr/>
        </p:nvSpPr>
        <p:spPr>
          <a:xfrm xmlns:a="http://schemas.openxmlformats.org/drawingml/2006/main">
            <a:off x="10210800" y="609600"/>
            <a:ext cx="3533775" cy="7551110"/>
          </a:xfrm>
          <a:prstGeom xmlns:a="http://schemas.openxmlformats.org/drawingml/2006/main" prst="roundRect">
            <a:avLst>
              <a:gd name="adj" fmla="val 13477"/>
            </a:avLst>
          </a:prstGeom>
          <a:solidFill xmlns:a="http://schemas.openxmlformats.org/drawingml/2006/main">
            <a:srgbClr val="111115"/>
          </a:solidFill>
          <a:ln xmlns:a="http://schemas.openxmlformats.org/drawingml/2006/main" w="28575">
            <a:solidFill>
              <a:srgbClr val="62626D"/>
            </a:solidFill>
            <a:prstDash val="solid"/>
          </a:ln>
        </p:spPr>
      </p:sp>
      <p:pic>
        <p:nvPicPr>
          <p:cNvPr id="11" name="">
            <a:extLst xmlns:a="http://schemas.openxmlformats.org/drawingml/2006/main">
              <a:ext uri="{FF2B5EF4-FFF2-40B4-BE49-F238E27FC236}">
                <a16:creationId xmlns:a16="http://schemas.microsoft.com/office/drawing/2014/main" id="{669B3D19-CF23-487B-9AEB-3BC1A1FD76DD}"/>
              </a:ext>
            </a:extLst>
          </p:cNvPr>
          <p:cNvPicPr>
            <a:picLocks xmlns:a="http://schemas.openxmlformats.org/drawingml/2006/main" noChangeAspect="1"/>
          </p:cNvPicPr>
          <p:nvPr/>
        </p:nvPicPr>
        <p:blipFill>
          <a:blip xmlns:r="http://schemas.openxmlformats.org/officeDocument/2006/relationships" xmlns:a="http://schemas.openxmlformats.org/drawingml/2006/main" r:embed="R9d6b2e12efd3486c"/>
          <a:stretch xmlns:a="http://schemas.openxmlformats.org/drawingml/2006/main"/>
        </p:blipFill>
        <p:spPr>
          <a:xfrm xmlns:a="http://schemas.openxmlformats.org/drawingml/2006/main" flipH="0" flipV="0">
            <a:off x="10334625" y="828675"/>
            <a:ext cx="3286125" cy="7122485"/>
          </a:xfrm>
          <a:prstGeom xmlns:a="http://schemas.openxmlformats.org/drawingml/2006/main" prst="roundRect">
            <a:avLst>
              <a:gd name="adj" fmla="val 10725"/>
            </a:avLst>
          </a:prstGeom>
        </p:spPr>
      </p:pic>
      <p:sp>
        <p:nvSpPr>
          <p:cNvPr id="12" name="">
            <a:extLst xmlns:a="http://schemas.openxmlformats.org/drawingml/2006/main">
              <a:ext uri="{FF2B5EF4-FFF2-40B4-BE49-F238E27FC236}">
                <a16:creationId xmlns:a16="http://schemas.microsoft.com/office/drawing/2014/main" id="{FF345A05-C6FF-4F72-BDE2-F9E74E3BC89F}"/>
              </a:ext>
            </a:extLst>
          </p:cNvPr>
          <p:cNvSpPr>
            <a:spLocks xmlns:a="http://schemas.openxmlformats.org/drawingml/2006/main" noGrp="1"/>
          </p:cNvSpPr>
          <p:nvPr/>
        </p:nvSpPr>
        <p:spPr>
          <a:xfrm xmlns:a="http://schemas.openxmlformats.org/drawingml/2006/main">
            <a:off x="11568113" y="895350"/>
            <a:ext cx="819150" cy="161925"/>
          </a:xfrm>
          <a:prstGeom xmlns:a="http://schemas.openxmlformats.org/drawingml/2006/main" prst="roundRect">
            <a:avLst>
              <a:gd name="adj" fmla="val 50000"/>
            </a:avLst>
          </a:prstGeom>
          <a:solidFill xmlns:a="http://schemas.openxmlformats.org/drawingml/2006/main">
            <a:srgbClr val="000000"/>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A2334514-FF50-41D2-AD52-F099E202919C}"/>
              </a:ext>
            </a:extLst>
          </p:cNvPr>
          <p:cNvSpPr>
            <a:spLocks xmlns:a="http://schemas.openxmlformats.org/drawingml/2006/main" noGrp="1"/>
          </p:cNvSpPr>
          <p:nvPr/>
        </p:nvSpPr>
        <p:spPr>
          <a:xfrm xmlns:a="http://schemas.openxmlformats.org/drawingml/2006/main">
            <a:off x="11463338" y="8036885"/>
            <a:ext cx="1028700" cy="38100"/>
          </a:xfrm>
          <a:prstGeom xmlns:a="http://schemas.openxmlformats.org/drawingml/2006/main" prst="roundRect">
            <a:avLst>
              <a:gd name="adj" fmla="val 50000"/>
            </a:avLst>
          </a:prstGeom>
          <a:solidFill xmlns:a="http://schemas.openxmlformats.org/drawingml/2006/main">
            <a:srgbClr val="F7F7FA"/>
          </a:solidFill>
          <a:ln xmlns:a="http://schemas.openxmlformats.org/drawingml/2006/main" w="0">
            <a:solidFill>
              <a:srgbClr val="F7F7FA"/>
            </a:solidFill>
            <a:prstDash val="solid"/>
          </a:ln>
        </p:spPr>
      </p:sp>
    </p:spTree>
    <p:extLst>
      <p:ext uri="{BB962C8B-B14F-4D97-AF65-F5344CB8AC3E}">
        <p14:creationId xmlns:p14="http://schemas.microsoft.com/office/powerpoint/2010/main" val="639722775"/>
      </p:ext>
    </p:extLst>
  </p:cSld>
</p:sld>
</file>

<file path=ppt/slides/slide8.xml><?xml version="1.0" encoding="utf-8"?>
<p:sld xmlns:p="http://schemas.openxmlformats.org/presentationml/2006/main">
  <p:cSld>
    <p:bg>
      <p:bgPr>
        <a:gradFill xmlns:a="http://schemas.openxmlformats.org/drawingml/2006/main">
          <a:gsLst>
            <a:gs pos="0">
              <a:srgbClr val="0B1034"/>
            </a:gs>
            <a:gs pos="58000">
              <a:srgbClr val="000000"/>
            </a:gs>
            <a:gs pos="100000">
              <a:srgbClr val="000000"/>
            </a:gs>
          </a:gsLst>
          <a:lin ang="7200000"/>
        </a:gra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94C6711-22D1-4805-8BF2-CFCDC9ECBE02}"/>
              </a:ext>
            </a:extLst>
          </p:cNvPr>
          <p:cNvSpPr>
            <a:spLocks xmlns:a="http://schemas.openxmlformats.org/drawingml/2006/main" noGrp="1"/>
          </p:cNvSpPr>
          <p:nvPr/>
        </p:nvSpPr>
        <p:spPr>
          <a:xfrm xmlns:a="http://schemas.openxmlformats.org/drawingml/2006/main">
            <a:off x="762000" y="40957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F7F7FA"/>
                </a:solidFill>
                <a:latin typeface="Geist"/>
                <a:ea typeface="Geist"/>
                <a:cs typeface="Geist"/>
              </a:defRPr>
            </a:defPPr>
          </a:lstStyle>
          <a:p xmlns:a="http://schemas.openxmlformats.org/drawingml/2006/main">
            <a:pPr>
              <a:buNone/>
              <a:defRPr sz="2100" b="1">
                <a:solidFill>
                  <a:srgbClr val="F7F7FA"/>
                </a:solidFill>
                <a:latin typeface="Geist"/>
                <a:ea typeface="Geist"/>
                <a:cs typeface="Geist"/>
              </a:defRPr>
            </a:pPr>
            <a:r>
              <a:rPr sz="2100" b="1">
                <a:solidFill>
                  <a:srgbClr val="F7F7FA"/>
                </a:solidFill>
                <a:latin typeface="Geist"/>
                <a:ea typeface="Geist"/>
                <a:cs typeface="Geist"/>
              </a:rPr>
              <a:t>Subscript</a:t>
            </a:r>
          </a:p>
        </p:txBody>
      </p:sp>
      <p:sp>
        <p:nvSpPr>
          <p:cNvPr id="2" name="">
            <a:extLst xmlns:a="http://schemas.openxmlformats.org/drawingml/2006/main">
              <a:ext uri="{FF2B5EF4-FFF2-40B4-BE49-F238E27FC236}">
                <a16:creationId xmlns:a16="http://schemas.microsoft.com/office/drawing/2014/main" id="{E7C8873F-E2E5-4704-9EE1-17BC4BF4BFE7}"/>
              </a:ext>
            </a:extLst>
          </p:cNvPr>
          <p:cNvSpPr>
            <a:spLocks xmlns:a="http://schemas.openxmlformats.org/drawingml/2006/main" noGrp="1"/>
          </p:cNvSpPr>
          <p:nvPr/>
        </p:nvSpPr>
        <p:spPr>
          <a:xfrm xmlns:a="http://schemas.openxmlformats.org/drawingml/2006/main">
            <a:off x="13811250" y="447675"/>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A6A6AE"/>
                </a:solidFill>
                <a:latin typeface="Geist"/>
                <a:ea typeface="Geist"/>
                <a:cs typeface="Geist"/>
              </a:defRPr>
            </a:defPPr>
          </a:lstStyle>
          <a:p xmlns:a="http://schemas.openxmlformats.org/drawingml/2006/main">
            <a:pPr>
              <a:buNone/>
              <a:defRPr sz="1650" b="0">
                <a:solidFill>
                  <a:srgbClr val="A6A6AE"/>
                </a:solidFill>
                <a:latin typeface="Geist"/>
                <a:ea typeface="Geist"/>
                <a:cs typeface="Geist"/>
              </a:defRPr>
            </a:pPr>
            <a:r>
              <a:rPr sz="1650" b="0">
                <a:solidFill>
                  <a:srgbClr val="A6A6AE"/>
                </a:solidFill>
                <a:latin typeface="Geist"/>
                <a:ea typeface="Geist"/>
                <a:cs typeface="Geist"/>
              </a:rPr>
              <a:t>08</a:t>
            </a:r>
          </a:p>
        </p:txBody>
      </p:sp>
      <p:sp>
        <p:nvSpPr>
          <p:cNvPr id="3" name="">
            <a:extLst xmlns:a="http://schemas.openxmlformats.org/drawingml/2006/main">
              <a:ext uri="{FF2B5EF4-FFF2-40B4-BE49-F238E27FC236}">
                <a16:creationId xmlns:a16="http://schemas.microsoft.com/office/drawing/2014/main" id="{8ACBE380-C7E8-408E-92C9-BABDCEE13F8F}"/>
              </a:ext>
            </a:extLst>
          </p:cNvPr>
          <p:cNvSpPr>
            <a:spLocks xmlns:a="http://schemas.openxmlformats.org/drawingml/2006/main" noGrp="1"/>
          </p:cNvSpPr>
          <p:nvPr/>
        </p:nvSpPr>
        <p:spPr>
          <a:xfrm xmlns:a="http://schemas.openxmlformats.org/drawingml/2006/main">
            <a:off x="762000" y="1190625"/>
            <a:ext cx="133350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500" b="1">
                <a:solidFill>
                  <a:srgbClr val="F7F7FA"/>
                </a:solidFill>
                <a:latin typeface="Geist"/>
                <a:ea typeface="Geist"/>
                <a:cs typeface="Geist"/>
              </a:defRPr>
            </a:defPPr>
          </a:lstStyle>
          <a:p xmlns:a="http://schemas.openxmlformats.org/drawingml/2006/main">
            <a:pPr>
              <a:buNone/>
              <a:defRPr sz="4500" b="1">
                <a:solidFill>
                  <a:srgbClr val="F7F7FA"/>
                </a:solidFill>
                <a:latin typeface="Geist"/>
                <a:ea typeface="Geist"/>
                <a:cs typeface="Geist"/>
              </a:defRPr>
            </a:pPr>
            <a:r>
              <a:rPr sz="4500" b="1">
                <a:solidFill>
                  <a:srgbClr val="F7F7FA"/>
                </a:solidFill>
                <a:latin typeface="Geist"/>
                <a:ea typeface="Geist"/>
                <a:cs typeface="Geist"/>
              </a:rPr>
              <a:t>Conclusion</a:t>
            </a:r>
          </a:p>
        </p:txBody>
      </p:sp>
      <p:sp>
        <p:nvSpPr>
          <p:cNvPr id="4" name="">
            <a:extLst xmlns:a="http://schemas.openxmlformats.org/drawingml/2006/main">
              <a:ext uri="{FF2B5EF4-FFF2-40B4-BE49-F238E27FC236}">
                <a16:creationId xmlns:a16="http://schemas.microsoft.com/office/drawing/2014/main" id="{66D6F132-B765-4DA9-8A49-DD3EA79F0A9F}"/>
              </a:ext>
            </a:extLst>
          </p:cNvPr>
          <p:cNvSpPr>
            <a:spLocks xmlns:a="http://schemas.openxmlformats.org/drawingml/2006/main" noGrp="1"/>
          </p:cNvSpPr>
          <p:nvPr/>
        </p:nvSpPr>
        <p:spPr>
          <a:xfrm xmlns:a="http://schemas.openxmlformats.org/drawingml/2006/main">
            <a:off x="762000" y="2438400"/>
            <a:ext cx="13620750" cy="2047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050" b="1">
                <a:solidFill>
                  <a:srgbClr val="91B4FF"/>
                </a:solidFill>
                <a:latin typeface="Geist"/>
                <a:ea typeface="Geist"/>
                <a:cs typeface="Geist"/>
              </a:defRPr>
            </a:defPPr>
          </a:lstStyle>
          <a:p xmlns:a="http://schemas.openxmlformats.org/drawingml/2006/main">
            <a:pPr>
              <a:buNone/>
              <a:defRPr sz="4050" b="1">
                <a:solidFill>
                  <a:srgbClr val="91B4FF"/>
                </a:solidFill>
                <a:latin typeface="Geist"/>
                <a:ea typeface="Geist"/>
                <a:cs typeface="Geist"/>
              </a:defRPr>
            </a:pPr>
            <a:r>
              <a:rPr sz="4050" b="1">
                <a:solidFill>
                  <a:srgbClr val="91B4FF"/>
                </a:solidFill>
                <a:latin typeface="Geist"/>
                <a:ea typeface="Geist"/>
                <a:cs typeface="Geist"/>
              </a:rPr>
              <a:t>A friendly voice makes the app approachable.</a:t>
            </a:r>
          </a:p>
          <a:p xmlns:a="http://schemas.openxmlformats.org/drawingml/2006/main">
            <a:pPr>
              <a:buNone/>
              <a:defRPr sz="4050" b="1">
                <a:solidFill>
                  <a:srgbClr val="91B4FF"/>
                </a:solidFill>
                <a:latin typeface="Geist"/>
                <a:ea typeface="Geist"/>
                <a:cs typeface="Geist"/>
              </a:defRPr>
            </a:pPr>
            <a:r>
              <a:rPr sz="4050" b="1">
                <a:solidFill>
                  <a:srgbClr val="91B4FF"/>
                </a:solidFill>
                <a:latin typeface="Geist"/>
                <a:ea typeface="Geist"/>
                <a:cs typeface="Geist"/>
              </a:rPr>
              <a:t>Precise payment and cancellation copy</a:t>
            </a:r>
          </a:p>
          <a:p xmlns:a="http://schemas.openxmlformats.org/drawingml/2006/main">
            <a:pPr>
              <a:buNone/>
              <a:defRPr sz="4050" b="1">
                <a:solidFill>
                  <a:srgbClr val="91B4FF"/>
                </a:solidFill>
                <a:latin typeface="Geist"/>
                <a:ea typeface="Geist"/>
                <a:cs typeface="Geist"/>
              </a:defRPr>
            </a:pPr>
            <a:r>
              <a:rPr sz="4050" b="1">
                <a:solidFill>
                  <a:srgbClr val="91B4FF"/>
                </a:solidFill>
                <a:latin typeface="Geist"/>
                <a:ea typeface="Geist"/>
                <a:cs typeface="Geist"/>
              </a:rPr>
              <a:t>helps people decide what to do.</a:t>
            </a:r>
          </a:p>
        </p:txBody>
      </p:sp>
      <p:sp>
        <p:nvSpPr>
          <p:cNvPr id="5" name="">
            <a:extLst xmlns:a="http://schemas.openxmlformats.org/drawingml/2006/main">
              <a:ext uri="{FF2B5EF4-FFF2-40B4-BE49-F238E27FC236}">
                <a16:creationId xmlns:a16="http://schemas.microsoft.com/office/drawing/2014/main" id="{7DD82F56-4342-439D-882B-EF6166553516}"/>
              </a:ext>
            </a:extLst>
          </p:cNvPr>
          <p:cNvSpPr>
            <a:spLocks xmlns:a="http://schemas.openxmlformats.org/drawingml/2006/main" noGrp="1"/>
          </p:cNvSpPr>
          <p:nvPr/>
        </p:nvSpPr>
        <p:spPr>
          <a:xfrm xmlns:a="http://schemas.openxmlformats.org/drawingml/2006/main">
            <a:off x="762000" y="5153025"/>
            <a:ext cx="4286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00" b="1">
                <a:solidFill>
                  <a:srgbClr val="F7F7FA"/>
                </a:solidFill>
                <a:latin typeface="Geist"/>
                <a:ea typeface="Geist"/>
                <a:cs typeface="Geist"/>
              </a:defRPr>
            </a:defPPr>
          </a:lstStyle>
          <a:p xmlns:a="http://schemas.openxmlformats.org/drawingml/2006/main">
            <a:pPr>
              <a:buNone/>
              <a:defRPr sz="2400" b="1">
                <a:solidFill>
                  <a:srgbClr val="F7F7FA"/>
                </a:solidFill>
                <a:latin typeface="Geist"/>
                <a:ea typeface="Geist"/>
                <a:cs typeface="Geist"/>
              </a:defRPr>
            </a:pPr>
            <a:r>
              <a:rPr sz="2400" b="1">
                <a:solidFill>
                  <a:srgbClr val="F7F7FA"/>
                </a:solidFill>
                <a:latin typeface="Geist"/>
                <a:ea typeface="Geist"/>
                <a:cs typeface="Geist"/>
              </a:rPr>
              <a:t>Cost comprehension</a:t>
            </a:r>
          </a:p>
        </p:txBody>
      </p:sp>
      <p:sp>
        <p:nvSpPr>
          <p:cNvPr id="6" name="">
            <a:extLst xmlns:a="http://schemas.openxmlformats.org/drawingml/2006/main">
              <a:ext uri="{FF2B5EF4-FFF2-40B4-BE49-F238E27FC236}">
                <a16:creationId xmlns:a16="http://schemas.microsoft.com/office/drawing/2014/main" id="{739C3F25-62F4-4BD6-9AD0-2B91CC7CBE6D}"/>
              </a:ext>
            </a:extLst>
          </p:cNvPr>
          <p:cNvSpPr>
            <a:spLocks xmlns:a="http://schemas.openxmlformats.org/drawingml/2006/main" noGrp="1"/>
          </p:cNvSpPr>
          <p:nvPr/>
        </p:nvSpPr>
        <p:spPr>
          <a:xfrm xmlns:a="http://schemas.openxmlformats.org/drawingml/2006/main">
            <a:off x="762000" y="5953125"/>
            <a:ext cx="4286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A6A6AE"/>
                </a:solidFill>
                <a:latin typeface="Geist"/>
                <a:ea typeface="Geist"/>
                <a:cs typeface="Geist"/>
              </a:defRPr>
            </a:defPPr>
          </a:lstStyle>
          <a:p xmlns:a="http://schemas.openxmlformats.org/drawingml/2006/main">
            <a:pPr>
              <a:buNone/>
              <a:defRPr sz="2025" b="0">
                <a:solidFill>
                  <a:srgbClr val="A6A6AE"/>
                </a:solidFill>
                <a:latin typeface="Geist"/>
                <a:ea typeface="Geist"/>
                <a:cs typeface="Geist"/>
              </a:defRPr>
            </a:pPr>
            <a:r>
              <a:rPr sz="2025" b="0">
                <a:solidFill>
                  <a:srgbClr val="A6A6AE"/>
                </a:solidFill>
                <a:latin typeface="Geist"/>
                <a:ea typeface="Geist"/>
                <a:cs typeface="Geist"/>
              </a:rPr>
              <a:t>Fewer questions about the €39 monthly average and the €120 yearly payment.</a:t>
            </a:r>
          </a:p>
        </p:txBody>
      </p:sp>
      <p:sp>
        <p:nvSpPr>
          <p:cNvPr id="7" name="">
            <a:extLst xmlns:a="http://schemas.openxmlformats.org/drawingml/2006/main">
              <a:ext uri="{FF2B5EF4-FFF2-40B4-BE49-F238E27FC236}">
                <a16:creationId xmlns:a16="http://schemas.microsoft.com/office/drawing/2014/main" id="{581AEC19-B734-46C4-B33F-6D17CD35E843}"/>
              </a:ext>
            </a:extLst>
          </p:cNvPr>
          <p:cNvSpPr>
            <a:spLocks xmlns:a="http://schemas.openxmlformats.org/drawingml/2006/main" noGrp="1"/>
          </p:cNvSpPr>
          <p:nvPr/>
        </p:nvSpPr>
        <p:spPr>
          <a:xfrm xmlns:a="http://schemas.openxmlformats.org/drawingml/2006/main">
            <a:off x="762000" y="7191375"/>
            <a:ext cx="42862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91B4FF"/>
                </a:solidFill>
                <a:latin typeface="Geist"/>
                <a:ea typeface="Geist"/>
                <a:cs typeface="Geist"/>
              </a:defRPr>
            </a:defPPr>
          </a:lstStyle>
          <a:p xmlns:a="http://schemas.openxmlformats.org/drawingml/2006/main">
            <a:pPr>
              <a:buNone/>
              <a:defRPr sz="1875" b="0">
                <a:solidFill>
                  <a:srgbClr val="91B4FF"/>
                </a:solidFill>
                <a:latin typeface="Geist"/>
                <a:ea typeface="Geist"/>
                <a:cs typeface="Geist"/>
              </a:defRPr>
            </a:pPr>
            <a:r>
              <a:rPr sz="1875" b="0">
                <a:solidFill>
                  <a:srgbClr val="91B4FF"/>
                </a:solidFill>
                <a:latin typeface="Geist"/>
                <a:ea typeface="Geist"/>
                <a:cs typeface="Geist"/>
              </a:rPr>
              <a:t>Measure whether users explain the difference.</a:t>
            </a:r>
          </a:p>
        </p:txBody>
      </p:sp>
      <p:sp>
        <p:nvSpPr>
          <p:cNvPr id="8" name="">
            <a:extLst xmlns:a="http://schemas.openxmlformats.org/drawingml/2006/main">
              <a:ext uri="{FF2B5EF4-FFF2-40B4-BE49-F238E27FC236}">
                <a16:creationId xmlns:a16="http://schemas.microsoft.com/office/drawing/2014/main" id="{ADA0BC97-29E9-4C64-BFF7-7EE880501437}"/>
              </a:ext>
            </a:extLst>
          </p:cNvPr>
          <p:cNvSpPr>
            <a:spLocks xmlns:a="http://schemas.openxmlformats.org/drawingml/2006/main" noGrp="1"/>
          </p:cNvSpPr>
          <p:nvPr/>
        </p:nvSpPr>
        <p:spPr>
          <a:xfrm xmlns:a="http://schemas.openxmlformats.org/drawingml/2006/main">
            <a:off x="5495925" y="5153025"/>
            <a:ext cx="4286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00" b="1">
                <a:solidFill>
                  <a:srgbClr val="F7F7FA"/>
                </a:solidFill>
                <a:latin typeface="Geist"/>
                <a:ea typeface="Geist"/>
                <a:cs typeface="Geist"/>
              </a:defRPr>
            </a:defPPr>
          </a:lstStyle>
          <a:p xmlns:a="http://schemas.openxmlformats.org/drawingml/2006/main">
            <a:pPr>
              <a:buNone/>
              <a:defRPr sz="2400" b="1">
                <a:solidFill>
                  <a:srgbClr val="F7F7FA"/>
                </a:solidFill>
                <a:latin typeface="Geist"/>
                <a:ea typeface="Geist"/>
                <a:cs typeface="Geist"/>
              </a:defRPr>
            </a:pPr>
            <a:r>
              <a:rPr sz="2400" b="1">
                <a:solidFill>
                  <a:srgbClr val="F7F7FA"/>
                </a:solidFill>
                <a:latin typeface="Geist"/>
                <a:ea typeface="Geist"/>
                <a:cs typeface="Geist"/>
              </a:rPr>
              <a:t>Cancellation clarity</a:t>
            </a:r>
          </a:p>
        </p:txBody>
      </p:sp>
      <p:sp>
        <p:nvSpPr>
          <p:cNvPr id="9" name="">
            <a:extLst xmlns:a="http://schemas.openxmlformats.org/drawingml/2006/main">
              <a:ext uri="{FF2B5EF4-FFF2-40B4-BE49-F238E27FC236}">
                <a16:creationId xmlns:a16="http://schemas.microsoft.com/office/drawing/2014/main" id="{46098007-E825-4285-8D3F-71219B2F007E}"/>
              </a:ext>
            </a:extLst>
          </p:cNvPr>
          <p:cNvSpPr>
            <a:spLocks xmlns:a="http://schemas.openxmlformats.org/drawingml/2006/main" noGrp="1"/>
          </p:cNvSpPr>
          <p:nvPr/>
        </p:nvSpPr>
        <p:spPr>
          <a:xfrm xmlns:a="http://schemas.openxmlformats.org/drawingml/2006/main">
            <a:off x="5495925" y="5953125"/>
            <a:ext cx="4286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A6A6AE"/>
                </a:solidFill>
                <a:latin typeface="Geist"/>
                <a:ea typeface="Geist"/>
                <a:cs typeface="Geist"/>
              </a:defRPr>
            </a:defPPr>
          </a:lstStyle>
          <a:p xmlns:a="http://schemas.openxmlformats.org/drawingml/2006/main">
            <a:pPr>
              <a:buNone/>
              <a:defRPr sz="2025" b="0">
                <a:solidFill>
                  <a:srgbClr val="A6A6AE"/>
                </a:solidFill>
                <a:latin typeface="Geist"/>
                <a:ea typeface="Geist"/>
                <a:cs typeface="Geist"/>
              </a:defRPr>
            </a:pPr>
            <a:r>
              <a:rPr sz="2025" b="0">
                <a:solidFill>
                  <a:srgbClr val="A6A6AE"/>
                </a:solidFill>
                <a:latin typeface="Geist"/>
                <a:ea typeface="Geist"/>
                <a:cs typeface="Geist"/>
              </a:rPr>
              <a:t>Fewer mistaken cancellation reports and billing-support requests.</a:t>
            </a:r>
          </a:p>
        </p:txBody>
      </p:sp>
      <p:sp>
        <p:nvSpPr>
          <p:cNvPr id="10" name="">
            <a:extLst xmlns:a="http://schemas.openxmlformats.org/drawingml/2006/main">
              <a:ext uri="{FF2B5EF4-FFF2-40B4-BE49-F238E27FC236}">
                <a16:creationId xmlns:a16="http://schemas.microsoft.com/office/drawing/2014/main" id="{269AB5F6-6E0E-41AE-8469-0F48D1EFCD10}"/>
              </a:ext>
            </a:extLst>
          </p:cNvPr>
          <p:cNvSpPr>
            <a:spLocks xmlns:a="http://schemas.openxmlformats.org/drawingml/2006/main" noGrp="1"/>
          </p:cNvSpPr>
          <p:nvPr/>
        </p:nvSpPr>
        <p:spPr>
          <a:xfrm xmlns:a="http://schemas.openxmlformats.org/drawingml/2006/main">
            <a:off x="5495925" y="7191375"/>
            <a:ext cx="42862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91B4FF"/>
                </a:solidFill>
                <a:latin typeface="Geist"/>
                <a:ea typeface="Geist"/>
                <a:cs typeface="Geist"/>
              </a:defRPr>
            </a:defPPr>
          </a:lstStyle>
          <a:p xmlns:a="http://schemas.openxmlformats.org/drawingml/2006/main">
            <a:pPr>
              <a:buNone/>
              <a:defRPr sz="1875" b="0">
                <a:solidFill>
                  <a:srgbClr val="91B4FF"/>
                </a:solidFill>
                <a:latin typeface="Geist"/>
                <a:ea typeface="Geist"/>
                <a:cs typeface="Geist"/>
              </a:defRPr>
            </a:pPr>
            <a:r>
              <a:rPr sz="1875" b="0">
                <a:solidFill>
                  <a:srgbClr val="91B4FF"/>
                </a:solidFill>
                <a:latin typeface="Geist"/>
                <a:ea typeface="Geist"/>
                <a:cs typeface="Geist"/>
              </a:rPr>
              <a:t>Test whether users identify Apple as the canceller.</a:t>
            </a:r>
          </a:p>
        </p:txBody>
      </p:sp>
      <p:sp>
        <p:nvSpPr>
          <p:cNvPr id="11" name="">
            <a:extLst xmlns:a="http://schemas.openxmlformats.org/drawingml/2006/main">
              <a:ext uri="{FF2B5EF4-FFF2-40B4-BE49-F238E27FC236}">
                <a16:creationId xmlns:a16="http://schemas.microsoft.com/office/drawing/2014/main" id="{D4B909A0-C13D-40A2-A337-B254EF83A84A}"/>
              </a:ext>
            </a:extLst>
          </p:cNvPr>
          <p:cNvSpPr>
            <a:spLocks xmlns:a="http://schemas.openxmlformats.org/drawingml/2006/main" noGrp="1"/>
          </p:cNvSpPr>
          <p:nvPr/>
        </p:nvSpPr>
        <p:spPr>
          <a:xfrm xmlns:a="http://schemas.openxmlformats.org/drawingml/2006/main">
            <a:off x="10229850" y="5153025"/>
            <a:ext cx="4286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00" b="1">
                <a:solidFill>
                  <a:srgbClr val="F7F7FA"/>
                </a:solidFill>
                <a:latin typeface="Geist"/>
                <a:ea typeface="Geist"/>
                <a:cs typeface="Geist"/>
              </a:defRPr>
            </a:defPPr>
          </a:lstStyle>
          <a:p xmlns:a="http://schemas.openxmlformats.org/drawingml/2006/main">
            <a:pPr>
              <a:buNone/>
              <a:defRPr sz="2400" b="1">
                <a:solidFill>
                  <a:srgbClr val="F7F7FA"/>
                </a:solidFill>
                <a:latin typeface="Geist"/>
                <a:ea typeface="Geist"/>
                <a:cs typeface="Geist"/>
              </a:defRPr>
            </a:pPr>
            <a:r>
              <a:rPr sz="2400" b="1">
                <a:solidFill>
                  <a:srgbClr val="F7F7FA"/>
                </a:solidFill>
                <a:latin typeface="Geist"/>
                <a:ea typeface="Geist"/>
                <a:cs typeface="Geist"/>
              </a:rPr>
              <a:t>Decision confidence</a:t>
            </a:r>
          </a:p>
        </p:txBody>
      </p:sp>
      <p:sp>
        <p:nvSpPr>
          <p:cNvPr id="12" name="">
            <a:extLst xmlns:a="http://schemas.openxmlformats.org/drawingml/2006/main">
              <a:ext uri="{FF2B5EF4-FFF2-40B4-BE49-F238E27FC236}">
                <a16:creationId xmlns:a16="http://schemas.microsoft.com/office/drawing/2014/main" id="{A6EB45FB-E643-41B2-A63F-5FA562D333D7}"/>
              </a:ext>
            </a:extLst>
          </p:cNvPr>
          <p:cNvSpPr>
            <a:spLocks xmlns:a="http://schemas.openxmlformats.org/drawingml/2006/main" noGrp="1"/>
          </p:cNvSpPr>
          <p:nvPr/>
        </p:nvSpPr>
        <p:spPr>
          <a:xfrm xmlns:a="http://schemas.openxmlformats.org/drawingml/2006/main">
            <a:off x="10229850" y="5953125"/>
            <a:ext cx="4286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A6A6AE"/>
                </a:solidFill>
                <a:latin typeface="Geist"/>
                <a:ea typeface="Geist"/>
                <a:cs typeface="Geist"/>
              </a:defRPr>
            </a:defPPr>
          </a:lstStyle>
          <a:p xmlns:a="http://schemas.openxmlformats.org/drawingml/2006/main">
            <a:pPr>
              <a:buNone/>
              <a:defRPr sz="2025" b="0">
                <a:solidFill>
                  <a:srgbClr val="A6A6AE"/>
                </a:solidFill>
                <a:latin typeface="Geist"/>
                <a:ea typeface="Geist"/>
                <a:cs typeface="Geist"/>
              </a:defRPr>
            </a:pPr>
            <a:r>
              <a:rPr sz="2025" b="0">
                <a:solidFill>
                  <a:srgbClr val="A6A6AE"/>
                </a:solidFill>
                <a:latin typeface="Geist"/>
                <a:ea typeface="Geist"/>
                <a:cs typeface="Geist"/>
              </a:rPr>
              <a:t>More confident keep, edit or cancel decisions.</a:t>
            </a:r>
          </a:p>
        </p:txBody>
      </p:sp>
      <p:sp>
        <p:nvSpPr>
          <p:cNvPr id="13" name="">
            <a:extLst xmlns:a="http://schemas.openxmlformats.org/drawingml/2006/main">
              <a:ext uri="{FF2B5EF4-FFF2-40B4-BE49-F238E27FC236}">
                <a16:creationId xmlns:a16="http://schemas.microsoft.com/office/drawing/2014/main" id="{85C3244D-A3C8-4578-B5E9-30FBC2C0AFFE}"/>
              </a:ext>
            </a:extLst>
          </p:cNvPr>
          <p:cNvSpPr>
            <a:spLocks xmlns:a="http://schemas.openxmlformats.org/drawingml/2006/main" noGrp="1"/>
          </p:cNvSpPr>
          <p:nvPr/>
        </p:nvSpPr>
        <p:spPr>
          <a:xfrm xmlns:a="http://schemas.openxmlformats.org/drawingml/2006/main">
            <a:off x="10229850" y="7191375"/>
            <a:ext cx="42862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91B4FF"/>
                </a:solidFill>
                <a:latin typeface="Geist"/>
                <a:ea typeface="Geist"/>
                <a:cs typeface="Geist"/>
              </a:defRPr>
            </a:defPPr>
          </a:lstStyle>
          <a:p xmlns:a="http://schemas.openxmlformats.org/drawingml/2006/main">
            <a:pPr>
              <a:buNone/>
              <a:defRPr sz="1875" b="0">
                <a:solidFill>
                  <a:srgbClr val="91B4FF"/>
                </a:solidFill>
                <a:latin typeface="Geist"/>
                <a:ea typeface="Geist"/>
                <a:cs typeface="Geist"/>
              </a:defRPr>
            </a:pPr>
            <a:r>
              <a:rPr sz="1875" b="0">
                <a:solidFill>
                  <a:srgbClr val="91B4FF"/>
                </a:solidFill>
                <a:latin typeface="Geist"/>
                <a:ea typeface="Geist"/>
                <a:cs typeface="Geist"/>
              </a:rPr>
              <a:t>Measure completion and perceived clarity.</a:t>
            </a:r>
          </a:p>
        </p:txBody>
      </p:sp>
      <p:sp>
        <p:nvSpPr>
          <p:cNvPr id="14" name="">
            <a:extLst xmlns:a="http://schemas.openxmlformats.org/drawingml/2006/main">
              <a:ext uri="{FF2B5EF4-FFF2-40B4-BE49-F238E27FC236}">
                <a16:creationId xmlns:a16="http://schemas.microsoft.com/office/drawing/2014/main" id="{6DFD7F31-D0DB-4219-9F0A-E8C5CC0F1B5A}"/>
              </a:ext>
            </a:extLst>
          </p:cNvPr>
          <p:cNvSpPr>
            <a:spLocks xmlns:a="http://schemas.openxmlformats.org/drawingml/2006/main" noGrp="1"/>
          </p:cNvSpPr>
          <p:nvPr/>
        </p:nvSpPr>
        <p:spPr>
          <a:xfrm xmlns:a="http://schemas.openxmlformats.org/drawingml/2006/main">
            <a:off x="762000" y="8124825"/>
            <a:ext cx="134302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0">
                <a:solidFill>
                  <a:srgbClr val="A6A6AE"/>
                </a:solidFill>
                <a:latin typeface="Geist"/>
                <a:ea typeface="Geist"/>
                <a:cs typeface="Geist"/>
              </a:defRPr>
            </a:defPPr>
          </a:lstStyle>
          <a:p xmlns:a="http://schemas.openxmlformats.org/drawingml/2006/main">
            <a:pPr>
              <a:buNone/>
              <a:defRPr sz="1575" b="0">
                <a:solidFill>
                  <a:srgbClr val="A6A6AE"/>
                </a:solidFill>
                <a:latin typeface="Geist"/>
                <a:ea typeface="Geist"/>
                <a:cs typeface="Geist"/>
              </a:defRPr>
            </a:pPr>
            <a:r>
              <a:rPr sz="1575" b="0">
                <a:solidFill>
                  <a:srgbClr val="A6A6AE"/>
                </a:solidFill>
                <a:latin typeface="Geist"/>
                <a:ea typeface="Geist"/>
                <a:cs typeface="Geist"/>
              </a:rPr>
              <a:t>Expected impacts to test, not measured results or verified savings.</a:t>
            </a:r>
          </a:p>
        </p:txBody>
      </p:sp>
    </p:spTree>
    <p:extLst>
      <p:ext uri="{BB962C8B-B14F-4D97-AF65-F5344CB8AC3E}">
        <p14:creationId xmlns:p14="http://schemas.microsoft.com/office/powerpoint/2010/main" val="1251763573"/>
      </p:ext>
    </p:extLst>
  </p:cSld>
</p:sld>
</file>

<file path=ppt/slides/slide9.xml><?xml version="1.0" encoding="utf-8"?>
<p:sld xmlns:p="http://schemas.openxmlformats.org/presentationml/2006/main">
  <p:cSld>
    <p:bg>
      <p:bgPr>
        <a:gradFill xmlns:a="http://schemas.openxmlformats.org/drawingml/2006/main">
          <a:gsLst>
            <a:gs pos="0">
              <a:srgbClr val="233AFA"/>
            </a:gs>
            <a:gs pos="65000">
              <a:srgbClr val="0B1034"/>
            </a:gs>
            <a:gs pos="100000">
              <a:srgbClr val="000000"/>
            </a:gs>
          </a:gsLst>
          <a:lin ang="7200000"/>
        </a:gra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B3CC9BE-F34B-44BA-87E6-FE72FB582553}"/>
              </a:ext>
            </a:extLst>
          </p:cNvPr>
          <p:cNvSpPr>
            <a:spLocks xmlns:a="http://schemas.openxmlformats.org/drawingml/2006/main" noGrp="1"/>
          </p:cNvSpPr>
          <p:nvPr/>
        </p:nvSpPr>
        <p:spPr>
          <a:xfrm xmlns:a="http://schemas.openxmlformats.org/drawingml/2006/main">
            <a:off x="762000" y="40957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F7F7FA"/>
                </a:solidFill>
                <a:latin typeface="Geist"/>
                <a:ea typeface="Geist"/>
                <a:cs typeface="Geist"/>
              </a:defRPr>
            </a:defPPr>
          </a:lstStyle>
          <a:p xmlns:a="http://schemas.openxmlformats.org/drawingml/2006/main">
            <a:pPr>
              <a:buNone/>
              <a:defRPr sz="2100" b="1">
                <a:solidFill>
                  <a:srgbClr val="F7F7FA"/>
                </a:solidFill>
                <a:latin typeface="Geist"/>
                <a:ea typeface="Geist"/>
                <a:cs typeface="Geist"/>
              </a:defRPr>
            </a:pPr>
            <a:r>
              <a:rPr sz="2100" b="1">
                <a:solidFill>
                  <a:srgbClr val="F7F7FA"/>
                </a:solidFill>
                <a:latin typeface="Geist"/>
                <a:ea typeface="Geist"/>
                <a:cs typeface="Geist"/>
              </a:rPr>
              <a:t>Subscript</a:t>
            </a:r>
          </a:p>
        </p:txBody>
      </p:sp>
      <p:sp>
        <p:nvSpPr>
          <p:cNvPr id="2" name="">
            <a:extLst xmlns:a="http://schemas.openxmlformats.org/drawingml/2006/main">
              <a:ext uri="{FF2B5EF4-FFF2-40B4-BE49-F238E27FC236}">
                <a16:creationId xmlns:a16="http://schemas.microsoft.com/office/drawing/2014/main" id="{1F6A8BDF-2F46-482E-A5CE-60CC6AD66BF7}"/>
              </a:ext>
            </a:extLst>
          </p:cNvPr>
          <p:cNvSpPr>
            <a:spLocks xmlns:a="http://schemas.openxmlformats.org/drawingml/2006/main" noGrp="1"/>
          </p:cNvSpPr>
          <p:nvPr/>
        </p:nvSpPr>
        <p:spPr>
          <a:xfrm xmlns:a="http://schemas.openxmlformats.org/drawingml/2006/main">
            <a:off x="13811250" y="447675"/>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A6A6AE"/>
                </a:solidFill>
                <a:latin typeface="Geist"/>
                <a:ea typeface="Geist"/>
                <a:cs typeface="Geist"/>
              </a:defRPr>
            </a:defPPr>
          </a:lstStyle>
          <a:p xmlns:a="http://schemas.openxmlformats.org/drawingml/2006/main">
            <a:pPr>
              <a:buNone/>
              <a:defRPr sz="1650" b="0">
                <a:solidFill>
                  <a:srgbClr val="A6A6AE"/>
                </a:solidFill>
                <a:latin typeface="Geist"/>
                <a:ea typeface="Geist"/>
                <a:cs typeface="Geist"/>
              </a:defRPr>
            </a:pPr>
            <a:r>
              <a:rPr sz="1650" b="0">
                <a:solidFill>
                  <a:srgbClr val="A6A6AE"/>
                </a:solidFill>
                <a:latin typeface="Geist"/>
                <a:ea typeface="Geist"/>
                <a:cs typeface="Geist"/>
              </a:rPr>
              <a:t>09</a:t>
            </a:r>
          </a:p>
        </p:txBody>
      </p:sp>
      <p:sp>
        <p:nvSpPr>
          <p:cNvPr id="3" name="">
            <a:extLst xmlns:a="http://schemas.openxmlformats.org/drawingml/2006/main">
              <a:ext uri="{FF2B5EF4-FFF2-40B4-BE49-F238E27FC236}">
                <a16:creationId xmlns:a16="http://schemas.microsoft.com/office/drawing/2014/main" id="{6B8755AF-99DB-440A-8260-A1DA8BD77A34}"/>
              </a:ext>
            </a:extLst>
          </p:cNvPr>
          <p:cNvSpPr>
            <a:spLocks xmlns:a="http://schemas.openxmlformats.org/drawingml/2006/main" noGrp="1"/>
          </p:cNvSpPr>
          <p:nvPr/>
        </p:nvSpPr>
        <p:spPr>
          <a:xfrm xmlns:a="http://schemas.openxmlformats.org/drawingml/2006/main">
            <a:off x="762000" y="1190625"/>
            <a:ext cx="133350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500" b="1">
                <a:solidFill>
                  <a:srgbClr val="F7F7FA"/>
                </a:solidFill>
                <a:latin typeface="Geist"/>
                <a:ea typeface="Geist"/>
                <a:cs typeface="Geist"/>
              </a:defRPr>
            </a:defPPr>
          </a:lstStyle>
          <a:p xmlns:a="http://schemas.openxmlformats.org/drawingml/2006/main">
            <a:pPr>
              <a:buNone/>
              <a:defRPr sz="4500" b="1">
                <a:solidFill>
                  <a:srgbClr val="F7F7FA"/>
                </a:solidFill>
                <a:latin typeface="Geist"/>
                <a:ea typeface="Geist"/>
                <a:cs typeface="Geist"/>
              </a:defRPr>
            </a:pPr>
            <a:r>
              <a:rPr sz="4500" b="1">
                <a:solidFill>
                  <a:srgbClr val="F7F7FA"/>
                </a:solidFill>
                <a:latin typeface="Geist"/>
                <a:ea typeface="Geist"/>
                <a:cs typeface="Geist"/>
              </a:rPr>
              <a:t>Going further</a:t>
            </a:r>
          </a:p>
        </p:txBody>
      </p:sp>
      <p:sp>
        <p:nvSpPr>
          <p:cNvPr id="4" name="">
            <a:extLst xmlns:a="http://schemas.openxmlformats.org/drawingml/2006/main">
              <a:ext uri="{FF2B5EF4-FFF2-40B4-BE49-F238E27FC236}">
                <a16:creationId xmlns:a16="http://schemas.microsoft.com/office/drawing/2014/main" id="{ADA6F2DA-56F6-4B66-917D-75E6FAB75C4A}"/>
              </a:ext>
            </a:extLst>
          </p:cNvPr>
          <p:cNvSpPr>
            <a:spLocks xmlns:a="http://schemas.openxmlformats.org/drawingml/2006/main" noGrp="1"/>
          </p:cNvSpPr>
          <p:nvPr/>
        </p:nvSpPr>
        <p:spPr>
          <a:xfrm xmlns:a="http://schemas.openxmlformats.org/drawingml/2006/main">
            <a:off x="762000" y="2809875"/>
            <a:ext cx="952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500" b="1">
                <a:solidFill>
                  <a:srgbClr val="91B4FF"/>
                </a:solidFill>
                <a:latin typeface="Geist"/>
                <a:ea typeface="Geist"/>
                <a:cs typeface="Geist"/>
              </a:defRPr>
            </a:defPPr>
          </a:lstStyle>
          <a:p xmlns:a="http://schemas.openxmlformats.org/drawingml/2006/main">
            <a:pPr>
              <a:buNone/>
              <a:defRPr sz="4500" b="1">
                <a:solidFill>
                  <a:srgbClr val="91B4FF"/>
                </a:solidFill>
                <a:latin typeface="Geist"/>
                <a:ea typeface="Geist"/>
                <a:cs typeface="Geist"/>
              </a:defRPr>
            </a:pPr>
            <a:r>
              <a:rPr sz="4500" b="1">
                <a:solidFill>
                  <a:srgbClr val="91B4FF"/>
                </a:solidFill>
                <a:latin typeface="Geist"/>
                <a:ea typeface="Geist"/>
                <a:cs typeface="Geist"/>
              </a:rPr>
              <a:t>01</a:t>
            </a:r>
          </a:p>
        </p:txBody>
      </p:sp>
      <p:sp>
        <p:nvSpPr>
          <p:cNvPr id="5" name="">
            <a:extLst xmlns:a="http://schemas.openxmlformats.org/drawingml/2006/main">
              <a:ext uri="{FF2B5EF4-FFF2-40B4-BE49-F238E27FC236}">
                <a16:creationId xmlns:a16="http://schemas.microsoft.com/office/drawing/2014/main" id="{BCFF6572-F1E8-45B8-AABC-96811690996F}"/>
              </a:ext>
            </a:extLst>
          </p:cNvPr>
          <p:cNvSpPr>
            <a:spLocks xmlns:a="http://schemas.openxmlformats.org/drawingml/2006/main" noGrp="1"/>
          </p:cNvSpPr>
          <p:nvPr/>
        </p:nvSpPr>
        <p:spPr>
          <a:xfrm xmlns:a="http://schemas.openxmlformats.org/drawingml/2006/main">
            <a:off x="2286000" y="2809875"/>
            <a:ext cx="11906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850" b="1">
                <a:solidFill>
                  <a:srgbClr val="F7F7FA"/>
                </a:solidFill>
                <a:latin typeface="Geist"/>
                <a:ea typeface="Geist"/>
                <a:cs typeface="Geist"/>
              </a:defRPr>
            </a:defPPr>
          </a:lstStyle>
          <a:p xmlns:a="http://schemas.openxmlformats.org/drawingml/2006/main">
            <a:pPr>
              <a:buNone/>
              <a:defRPr sz="2850" b="1">
                <a:solidFill>
                  <a:srgbClr val="F7F7FA"/>
                </a:solidFill>
                <a:latin typeface="Geist"/>
                <a:ea typeface="Geist"/>
                <a:cs typeface="Geist"/>
              </a:defRPr>
            </a:pPr>
            <a:r>
              <a:rPr sz="2850" b="1">
                <a:solidFill>
                  <a:srgbClr val="F7F7FA"/>
                </a:solidFill>
                <a:latin typeface="Geist"/>
                <a:ea typeface="Geist"/>
                <a:cs typeface="Geist"/>
              </a:rPr>
              <a:t>Five moderated tests</a:t>
            </a:r>
          </a:p>
        </p:txBody>
      </p:sp>
      <p:sp>
        <p:nvSpPr>
          <p:cNvPr id="6" name="">
            <a:extLst xmlns:a="http://schemas.openxmlformats.org/drawingml/2006/main">
              <a:ext uri="{FF2B5EF4-FFF2-40B4-BE49-F238E27FC236}">
                <a16:creationId xmlns:a16="http://schemas.microsoft.com/office/drawing/2014/main" id="{04BB8AAC-7EA0-4871-90C9-CEDF5BC967B1}"/>
              </a:ext>
            </a:extLst>
          </p:cNvPr>
          <p:cNvSpPr>
            <a:spLocks xmlns:a="http://schemas.openxmlformats.org/drawingml/2006/main" noGrp="1"/>
          </p:cNvSpPr>
          <p:nvPr/>
        </p:nvSpPr>
        <p:spPr>
          <a:xfrm xmlns:a="http://schemas.openxmlformats.org/drawingml/2006/main">
            <a:off x="2286000" y="3457575"/>
            <a:ext cx="1143000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0">
                <a:solidFill>
                  <a:srgbClr val="F7F7FA"/>
                </a:solidFill>
                <a:latin typeface="Geist"/>
                <a:ea typeface="Geist"/>
                <a:cs typeface="Geist"/>
              </a:defRPr>
            </a:defPPr>
          </a:lstStyle>
          <a:p xmlns:a="http://schemas.openxmlformats.org/drawingml/2006/main">
            <a:pPr>
              <a:buNone/>
              <a:defRPr sz="2250" b="0">
                <a:solidFill>
                  <a:srgbClr val="F7F7FA"/>
                </a:solidFill>
                <a:latin typeface="Geist"/>
                <a:ea typeface="Geist"/>
                <a:cs typeface="Geist"/>
              </a:defRPr>
            </a:pPr>
            <a:r>
              <a:rPr sz="2250" b="0">
                <a:solidFill>
                  <a:srgbClr val="F7F7FA"/>
                </a:solidFill>
                <a:latin typeface="Geist"/>
                <a:ea typeface="Geist"/>
                <a:cs typeface="Geist"/>
              </a:rPr>
              <a:t>Ask users to explain €39 versus €120, identify the estimated date, and show where billing is stopped.</a:t>
            </a:r>
          </a:p>
        </p:txBody>
      </p:sp>
      <p:sp>
        <p:nvSpPr>
          <p:cNvPr id="7" name="">
            <a:extLst xmlns:a="http://schemas.openxmlformats.org/drawingml/2006/main">
              <a:ext uri="{FF2B5EF4-FFF2-40B4-BE49-F238E27FC236}">
                <a16:creationId xmlns:a16="http://schemas.microsoft.com/office/drawing/2014/main" id="{6A143D8B-9E02-4F9E-989D-88DC6C66EDDA}"/>
              </a:ext>
            </a:extLst>
          </p:cNvPr>
          <p:cNvSpPr>
            <a:spLocks xmlns:a="http://schemas.openxmlformats.org/drawingml/2006/main" noGrp="1"/>
          </p:cNvSpPr>
          <p:nvPr/>
        </p:nvSpPr>
        <p:spPr>
          <a:xfrm xmlns:a="http://schemas.openxmlformats.org/drawingml/2006/main">
            <a:off x="762000" y="4552950"/>
            <a:ext cx="952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500" b="1">
                <a:solidFill>
                  <a:srgbClr val="91B4FF"/>
                </a:solidFill>
                <a:latin typeface="Geist"/>
                <a:ea typeface="Geist"/>
                <a:cs typeface="Geist"/>
              </a:defRPr>
            </a:defPPr>
          </a:lstStyle>
          <a:p xmlns:a="http://schemas.openxmlformats.org/drawingml/2006/main">
            <a:pPr>
              <a:buNone/>
              <a:defRPr sz="4500" b="1">
                <a:solidFill>
                  <a:srgbClr val="91B4FF"/>
                </a:solidFill>
                <a:latin typeface="Geist"/>
                <a:ea typeface="Geist"/>
                <a:cs typeface="Geist"/>
              </a:defRPr>
            </a:pPr>
            <a:r>
              <a:rPr sz="4500" b="1">
                <a:solidFill>
                  <a:srgbClr val="91B4FF"/>
                </a:solidFill>
                <a:latin typeface="Geist"/>
                <a:ea typeface="Geist"/>
                <a:cs typeface="Geist"/>
              </a:rPr>
              <a:t>02</a:t>
            </a:r>
          </a:p>
        </p:txBody>
      </p:sp>
      <p:sp>
        <p:nvSpPr>
          <p:cNvPr id="8" name="">
            <a:extLst xmlns:a="http://schemas.openxmlformats.org/drawingml/2006/main">
              <a:ext uri="{FF2B5EF4-FFF2-40B4-BE49-F238E27FC236}">
                <a16:creationId xmlns:a16="http://schemas.microsoft.com/office/drawing/2014/main" id="{F7ED23C2-4308-4F46-82A3-E3E69AA653DE}"/>
              </a:ext>
            </a:extLst>
          </p:cNvPr>
          <p:cNvSpPr>
            <a:spLocks xmlns:a="http://schemas.openxmlformats.org/drawingml/2006/main" noGrp="1"/>
          </p:cNvSpPr>
          <p:nvPr/>
        </p:nvSpPr>
        <p:spPr>
          <a:xfrm xmlns:a="http://schemas.openxmlformats.org/drawingml/2006/main">
            <a:off x="2286000" y="4552950"/>
            <a:ext cx="11906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850" b="1">
                <a:solidFill>
                  <a:srgbClr val="F7F7FA"/>
                </a:solidFill>
                <a:latin typeface="Geist"/>
                <a:ea typeface="Geist"/>
                <a:cs typeface="Geist"/>
              </a:defRPr>
            </a:defPPr>
          </a:lstStyle>
          <a:p xmlns:a="http://schemas.openxmlformats.org/drawingml/2006/main">
            <a:pPr>
              <a:buNone/>
              <a:defRPr sz="2850" b="1">
                <a:solidFill>
                  <a:srgbClr val="F7F7FA"/>
                </a:solidFill>
                <a:latin typeface="Geist"/>
                <a:ea typeface="Geist"/>
                <a:cs typeface="Geist"/>
              </a:defRPr>
            </a:pPr>
            <a:r>
              <a:rPr sz="2850" b="1">
                <a:solidFill>
                  <a:srgbClr val="F7F7FA"/>
                </a:solidFill>
                <a:latin typeface="Geist"/>
                <a:ea typeface="Geist"/>
                <a:cs typeface="Geist"/>
              </a:rPr>
              <a:t>Verified cancellation guidance</a:t>
            </a:r>
          </a:p>
        </p:txBody>
      </p:sp>
      <p:sp>
        <p:nvSpPr>
          <p:cNvPr id="9" name="">
            <a:extLst xmlns:a="http://schemas.openxmlformats.org/drawingml/2006/main">
              <a:ext uri="{FF2B5EF4-FFF2-40B4-BE49-F238E27FC236}">
                <a16:creationId xmlns:a16="http://schemas.microsoft.com/office/drawing/2014/main" id="{184D9988-B3B6-4214-97C6-18A3867612FF}"/>
              </a:ext>
            </a:extLst>
          </p:cNvPr>
          <p:cNvSpPr>
            <a:spLocks xmlns:a="http://schemas.openxmlformats.org/drawingml/2006/main" noGrp="1"/>
          </p:cNvSpPr>
          <p:nvPr/>
        </p:nvSpPr>
        <p:spPr>
          <a:xfrm xmlns:a="http://schemas.openxmlformats.org/drawingml/2006/main">
            <a:off x="2286000" y="5200650"/>
            <a:ext cx="1143000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0">
                <a:solidFill>
                  <a:srgbClr val="F7F7FA"/>
                </a:solidFill>
                <a:latin typeface="Geist"/>
                <a:ea typeface="Geist"/>
                <a:cs typeface="Geist"/>
              </a:defRPr>
            </a:defPPr>
          </a:lstStyle>
          <a:p xmlns:a="http://schemas.openxmlformats.org/drawingml/2006/main">
            <a:pPr>
              <a:buNone/>
              <a:defRPr sz="2250" b="0">
                <a:solidFill>
                  <a:srgbClr val="F7F7FA"/>
                </a:solidFill>
                <a:latin typeface="Geist"/>
                <a:ea typeface="Geist"/>
                <a:cs typeface="Geist"/>
              </a:defRPr>
            </a:pPr>
            <a:r>
              <a:rPr sz="2250" b="0">
                <a:solidFill>
                  <a:srgbClr val="F7F7FA"/>
                </a:solidFill>
                <a:latin typeface="Geist"/>
                <a:ea typeface="Geist"/>
                <a:cs typeface="Geist"/>
              </a:rPr>
              <a:t>Check Apple’s current route. Add guidance for each platform, then test reporting, correcting and undoing a status.</a:t>
            </a:r>
          </a:p>
        </p:txBody>
      </p:sp>
      <p:sp>
        <p:nvSpPr>
          <p:cNvPr id="10" name="">
            <a:extLst xmlns:a="http://schemas.openxmlformats.org/drawingml/2006/main">
              <a:ext uri="{FF2B5EF4-FFF2-40B4-BE49-F238E27FC236}">
                <a16:creationId xmlns:a16="http://schemas.microsoft.com/office/drawing/2014/main" id="{E11B2195-8AEB-444F-9800-40AE047EA22B}"/>
              </a:ext>
            </a:extLst>
          </p:cNvPr>
          <p:cNvSpPr>
            <a:spLocks xmlns:a="http://schemas.openxmlformats.org/drawingml/2006/main" noGrp="1"/>
          </p:cNvSpPr>
          <p:nvPr/>
        </p:nvSpPr>
        <p:spPr>
          <a:xfrm xmlns:a="http://schemas.openxmlformats.org/drawingml/2006/main">
            <a:off x="762000" y="6296025"/>
            <a:ext cx="952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500" b="1">
                <a:solidFill>
                  <a:srgbClr val="91B4FF"/>
                </a:solidFill>
                <a:latin typeface="Geist"/>
                <a:ea typeface="Geist"/>
                <a:cs typeface="Geist"/>
              </a:defRPr>
            </a:defPPr>
          </a:lstStyle>
          <a:p xmlns:a="http://schemas.openxmlformats.org/drawingml/2006/main">
            <a:pPr>
              <a:buNone/>
              <a:defRPr sz="4500" b="1">
                <a:solidFill>
                  <a:srgbClr val="91B4FF"/>
                </a:solidFill>
                <a:latin typeface="Geist"/>
                <a:ea typeface="Geist"/>
                <a:cs typeface="Geist"/>
              </a:defRPr>
            </a:pPr>
            <a:r>
              <a:rPr sz="4500" b="1">
                <a:solidFill>
                  <a:srgbClr val="91B4FF"/>
                </a:solidFill>
                <a:latin typeface="Geist"/>
                <a:ea typeface="Geist"/>
                <a:cs typeface="Geist"/>
              </a:rPr>
              <a:t>03</a:t>
            </a:r>
          </a:p>
        </p:txBody>
      </p:sp>
      <p:sp>
        <p:nvSpPr>
          <p:cNvPr id="11" name="">
            <a:extLst xmlns:a="http://schemas.openxmlformats.org/drawingml/2006/main">
              <a:ext uri="{FF2B5EF4-FFF2-40B4-BE49-F238E27FC236}">
                <a16:creationId xmlns:a16="http://schemas.microsoft.com/office/drawing/2014/main" id="{6F220418-AF26-4F4A-A30A-92701F53E0E6}"/>
              </a:ext>
            </a:extLst>
          </p:cNvPr>
          <p:cNvSpPr>
            <a:spLocks xmlns:a="http://schemas.openxmlformats.org/drawingml/2006/main" noGrp="1"/>
          </p:cNvSpPr>
          <p:nvPr/>
        </p:nvSpPr>
        <p:spPr>
          <a:xfrm xmlns:a="http://schemas.openxmlformats.org/drawingml/2006/main">
            <a:off x="2286000" y="6296025"/>
            <a:ext cx="11906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850" b="1">
                <a:solidFill>
                  <a:srgbClr val="F7F7FA"/>
                </a:solidFill>
                <a:latin typeface="Geist"/>
                <a:ea typeface="Geist"/>
                <a:cs typeface="Geist"/>
              </a:defRPr>
            </a:defPPr>
          </a:lstStyle>
          <a:p xmlns:a="http://schemas.openxmlformats.org/drawingml/2006/main">
            <a:pPr>
              <a:buNone/>
              <a:defRPr sz="2850" b="1">
                <a:solidFill>
                  <a:srgbClr val="F7F7FA"/>
                </a:solidFill>
                <a:latin typeface="Geist"/>
                <a:ea typeface="Geist"/>
                <a:cs typeface="Geist"/>
              </a:defRPr>
            </a:pPr>
            <a:r>
              <a:rPr sz="2850" b="1">
                <a:solidFill>
                  <a:srgbClr val="F7F7FA"/>
                </a:solidFill>
                <a:latin typeface="Geist"/>
                <a:ea typeface="Geist"/>
                <a:cs typeface="Geist"/>
              </a:rPr>
              <a:t>Copy comparison and voice rules</a:t>
            </a:r>
          </a:p>
        </p:txBody>
      </p:sp>
      <p:sp>
        <p:nvSpPr>
          <p:cNvPr id="12" name="">
            <a:extLst xmlns:a="http://schemas.openxmlformats.org/drawingml/2006/main">
              <a:ext uri="{FF2B5EF4-FFF2-40B4-BE49-F238E27FC236}">
                <a16:creationId xmlns:a16="http://schemas.microsoft.com/office/drawing/2014/main" id="{98E283CD-2449-4AAA-8ED2-75DADFF244EE}"/>
              </a:ext>
            </a:extLst>
          </p:cNvPr>
          <p:cNvSpPr>
            <a:spLocks xmlns:a="http://schemas.openxmlformats.org/drawingml/2006/main" noGrp="1"/>
          </p:cNvSpPr>
          <p:nvPr/>
        </p:nvSpPr>
        <p:spPr>
          <a:xfrm xmlns:a="http://schemas.openxmlformats.org/drawingml/2006/main">
            <a:off x="2286000" y="6943725"/>
            <a:ext cx="1143000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0">
                <a:solidFill>
                  <a:srgbClr val="F7F7FA"/>
                </a:solidFill>
                <a:latin typeface="Geist"/>
                <a:ea typeface="Geist"/>
                <a:cs typeface="Geist"/>
              </a:defRPr>
            </a:defPPr>
          </a:lstStyle>
          <a:p xmlns:a="http://schemas.openxmlformats.org/drawingml/2006/main">
            <a:pPr>
              <a:buNone/>
              <a:defRPr sz="2250" b="0">
                <a:solidFill>
                  <a:srgbClr val="F7F7FA"/>
                </a:solidFill>
                <a:latin typeface="Geist"/>
                <a:ea typeface="Geist"/>
                <a:cs typeface="Geist"/>
              </a:defRPr>
            </a:pPr>
            <a:r>
              <a:rPr sz="2250" b="0">
                <a:solidFill>
                  <a:srgbClr val="F7F7FA"/>
                </a:solidFill>
                <a:latin typeface="Geist"/>
                <a:ea typeface="Geist"/>
                <a:cs typeface="Geist"/>
              </a:rPr>
              <a:t>Compare both prototypes for clarity and warmth. Test the revised copy, then refine the shared voice guide.</a:t>
            </a:r>
          </a:p>
        </p:txBody>
      </p:sp>
    </p:spTree>
    <p:extLst>
      <p:ext uri="{BB962C8B-B14F-4D97-AF65-F5344CB8AC3E}">
        <p14:creationId xmlns:p14="http://schemas.microsoft.com/office/powerpoint/2010/main" val="180561281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2026-10-12T07:56:15.5740000Z</dcterms:created>
  <dcterms:modified xsi:type="dcterms:W3CDTF">2026-10-12T07:56:15.5740000Z</dcterms:modified>
</coreProperties>
</file>