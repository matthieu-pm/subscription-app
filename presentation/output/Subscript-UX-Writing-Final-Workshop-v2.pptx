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2825e667f54588" /><Relationship Type="http://schemas.openxmlformats.org/officeDocument/2006/relationships/extended-properties" Target="/docProps/app.xml" Id="R9f36f19eed3e4f29" /><Relationship Type="http://schemas.openxmlformats.org/officeDocument/2006/relationships/officeDocument" Target="/ppt/presentation.xml" Id="R9a3725a3ec7943e0" /></Relationships>
</file>

<file path=ppt/presentation.xml><?xml version="1.0" encoding="utf-8"?>
<p:presentation xmlns:p="http://schemas.openxmlformats.org/presentationml/2006/main">
  <p:sldMasterIdLst>
    <p:sldMasterId xmlns:r="http://schemas.openxmlformats.org/officeDocument/2006/relationships" id="2147483648" r:id="R03978cff8d4340ad"/>
  </p:sldMasterIdLst>
  <p:notesMasterIdLst>
    <p:notesMasterId xmlns:r="http://schemas.openxmlformats.org/officeDocument/2006/relationships" r:id="R1f0c0b0f96eb40b2"/>
  </p:notesMasterIdLst>
  <p:sldIdLst>
    <p:sldId xmlns:r="http://schemas.openxmlformats.org/officeDocument/2006/relationships" id="256" r:id="R704901c5dc8245d8"/>
    <p:sldId xmlns:r="http://schemas.openxmlformats.org/officeDocument/2006/relationships" id="257" r:id="R9d0a2cb1a84a490b"/>
    <p:sldId xmlns:r="http://schemas.openxmlformats.org/officeDocument/2006/relationships" id="258" r:id="R7451266d9f384aad"/>
    <p:sldId xmlns:r="http://schemas.openxmlformats.org/officeDocument/2006/relationships" id="259" r:id="R0aaa757e659e46d8"/>
    <p:sldId xmlns:r="http://schemas.openxmlformats.org/officeDocument/2006/relationships" id="260" r:id="Rb3ad0f8210204582"/>
    <p:sldId xmlns:r="http://schemas.openxmlformats.org/officeDocument/2006/relationships" id="261" r:id="R38a23f2ef1f24341"/>
    <p:sldId xmlns:r="http://schemas.openxmlformats.org/officeDocument/2006/relationships" id="262" r:id="R201274a35cb1426f"/>
    <p:sldId xmlns:r="http://schemas.openxmlformats.org/officeDocument/2006/relationships" id="263" r:id="R6f659eb69f72424e"/>
    <p:sldId xmlns:r="http://schemas.openxmlformats.org/officeDocument/2006/relationships" id="264" r:id="R2d11108850ee46c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1422e5e26f4e86" /><Relationship Type="http://schemas.openxmlformats.org/officeDocument/2006/relationships/slideMaster" Target="/ppt/slideMasters/slideMaster1.xml" Id="R03978cff8d4340ad" /><Relationship Type="http://schemas.openxmlformats.org/officeDocument/2006/relationships/notesMaster" Target="/ppt/notesMasters/notesMaster1.xml" Id="R1f0c0b0f96eb40b2" /><Relationship Type="http://schemas.openxmlformats.org/officeDocument/2006/relationships/presProps" Target="/ppt/presProps.xml" Id="R8f3c5aec9ca34403" /><Relationship Type="http://schemas.openxmlformats.org/officeDocument/2006/relationships/tableStyles" Target="/ppt/tableStyles.xml" Id="Rbff6858e38e14596" /><Relationship Type="http://schemas.openxmlformats.org/officeDocument/2006/relationships/slide" Target="/ppt/slides/slide1.xml" Id="R704901c5dc8245d8" /><Relationship Type="http://schemas.openxmlformats.org/officeDocument/2006/relationships/slide" Target="/ppt/slides/slide2.xml" Id="R9d0a2cb1a84a490b" /><Relationship Type="http://schemas.openxmlformats.org/officeDocument/2006/relationships/slide" Target="/ppt/slides/slide3.xml" Id="R7451266d9f384aad" /><Relationship Type="http://schemas.openxmlformats.org/officeDocument/2006/relationships/slide" Target="/ppt/slides/slide4.xml" Id="R0aaa757e659e46d8" /><Relationship Type="http://schemas.openxmlformats.org/officeDocument/2006/relationships/slide" Target="/ppt/slides/slide5.xml" Id="Rb3ad0f8210204582" /><Relationship Type="http://schemas.openxmlformats.org/officeDocument/2006/relationships/slide" Target="/ppt/slides/slide6.xml" Id="R38a23f2ef1f24341" /><Relationship Type="http://schemas.openxmlformats.org/officeDocument/2006/relationships/slide" Target="/ppt/slides/slide7.xml" Id="R201274a35cb1426f" /><Relationship Type="http://schemas.openxmlformats.org/officeDocument/2006/relationships/slide" Target="/ppt/slides/slide8.xml" Id="R6f659eb69f72424e" /><Relationship Type="http://schemas.openxmlformats.org/officeDocument/2006/relationships/slide" Target="/ppt/slides/slide9.xml" Id="R2d11108850ee46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27b0dbbc514a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bfc2b86a9a4335" /><Relationship Type="http://schemas.openxmlformats.org/officeDocument/2006/relationships/notesMaster" Target="/ppt/notesMasters/notesMaster1.xml" Id="R2f2d5f2a244d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d9c46c86ff4ada" /><Relationship Type="http://schemas.openxmlformats.org/officeDocument/2006/relationships/notesMaster" Target="/ppt/notesMasters/notesMaster1.xml" Id="R917164cc17d149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02d75e31584a4d" /><Relationship Type="http://schemas.openxmlformats.org/officeDocument/2006/relationships/notesMaster" Target="/ppt/notesMasters/notesMaster1.xml" Id="R4112eb75dbd94a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91884333f24c0d" /><Relationship Type="http://schemas.openxmlformats.org/officeDocument/2006/relationships/notesMaster" Target="/ppt/notesMasters/notesMaster1.xml" Id="R6931e7774d814b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6a802896584433" /><Relationship Type="http://schemas.openxmlformats.org/officeDocument/2006/relationships/notesMaster" Target="/ppt/notesMasters/notesMaster1.xml" Id="R837fa120ee5248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487a2539804e6e" /><Relationship Type="http://schemas.openxmlformats.org/officeDocument/2006/relationships/notesMaster" Target="/ppt/notesMasters/notesMaster1.xml" Id="R7ed5b32f94bc48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714b212b654139" /><Relationship Type="http://schemas.openxmlformats.org/officeDocument/2006/relationships/notesMaster" Target="/ppt/notesMasters/notesMaster1.xml" Id="R0146a24aaa9343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1d6fbfba874643" /><Relationship Type="http://schemas.openxmlformats.org/officeDocument/2006/relationships/notesMaster" Target="/ppt/notesMasters/notesMaster1.xml" Id="R0ba083a01f1241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6be44a60b64be9" /><Relationship Type="http://schemas.openxmlformats.org/officeDocument/2006/relationships/notesMaster" Target="/ppt/notesMasters/notesMaster1.xml" Id="R77de87785a4e48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Scope starts after account sync: see subscriptions and billing frequency. Review Apple TV’s estimated €120 yearly renewal and the observed payment history. Keep it, correct details, or cancel with Apple before updating Subscript’s record. Users must distinguish averaged costs, renewal estimates, and cancellation with the provider. Artwork: existing prototype asset mobile-revolut/assets/welcome-hero.png, generated for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The app uses Recorded payment for historical entries and Estimated next payment for future dates. Verification now says Enter the demo code and explains that no email was sent. Cancellation stays calm and explicit about the provider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Research quotes retained from the saved workshop and verified against public Reddit pages on 11 October 2026. Qualitative signals, not prevalence estimates.</a:t>
            </a:r>
          </a:p>
          <a:p xmlns:a="http://schemas.openxmlformats.org/drawingml/2006/main">
            <a:r>
              <a:t>“I did not expect it to auto-renew.”</a:t>
            </a:r>
          </a:p>
          <a:p xmlns:a="http://schemas.openxmlformats.org/drawingml/2006/main">
            <a:r>
              <a:t>r/Windscribe: https://www.reddit.com/r/Windscribe/comments/1gttu9i/denied_refund_after_my_subscription_autorenewed/</a:t>
            </a:r>
          </a:p>
          <a:p xmlns:a="http://schemas.openxmlformats.org/drawingml/2006/main">
            <a:r>
              <a:t/>
            </a:r>
          </a:p>
          <a:p xmlns:a="http://schemas.openxmlformats.org/drawingml/2006/main">
            <a:r>
              <a:t>“I’ve been trying to cancel my subscription for almost an hour now and it’s driving me mental.”</a:t>
            </a:r>
          </a:p>
          <a:p xmlns:a="http://schemas.openxmlformats.org/drawingml/2006/main">
            <a:r>
              <a:t>r/appletv: https://www.reddit.com/r/appletv/comments/wxle7w/why_is_it_nearly_impossible_to_cancel_my_apple_tv/</a:t>
            </a:r>
          </a:p>
          <a:p xmlns:a="http://schemas.openxmlformats.org/drawingml/2006/main">
            <a:r>
              <a:t/>
            </a:r>
          </a:p>
          <a:p xmlns:a="http://schemas.openxmlformats.org/drawingml/2006/main">
            <a:r>
              <a:t>“I want to find an easy way to keep track of everything and review it from time to time.”</a:t>
            </a:r>
          </a:p>
          <a:p xmlns:a="http://schemas.openxmlformats.org/drawingml/2006/main">
            <a:r>
              <a:t>r/budgetingforbeginners: https://www.reddit.com/r/budgetingforbeginners/comments/1vbvho6/how_do_you_keep_track_of_all_your_subscriptions/</a:t>
            </a:r>
          </a:p>
          <a:p xmlns:a="http://schemas.openxmlformats.org/drawingml/2006/main">
            <a:r>
              <a:t/>
            </a:r>
          </a:p>
          <a:p xmlns:a="http://schemas.openxmlformats.org/drawingml/2006/main">
            <a:r>
              <a:t>“Yes, I’ve forgotten about subscriptions. I forgot to cancel my ancestry subscription last month.”</a:t>
            </a:r>
          </a:p>
          <a:p xmlns:a="http://schemas.openxmlformats.org/drawingml/2006/main">
            <a:r>
              <a:t>r/Millennials: https://www.reddit.com/r/Millennials/comments/1qv9rbe/are_forgotten_subscriptions_that_big_of_a_problem/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Demo URL: https://subscription-app-alpha-vert.vercel.app. Vercel project subscription-app serves mobile-revolut. Verified welcome, Home and Profile through the public alias. QR encodes this exact URL. Browser data is stored locally. Explore the demo bypasses onboarding. Email demo verification code, if needed: 123456.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a:p xmlns:a="http://schemas.openxmlformats.org/drawingml/2006/main">
            <a:r>
              <a:t>Amounts are fictional prototype data. The initial four subscriptions have a €39 monthly average or €468 yearly estimate. Apple TV costs €120/year and contributes €10 to the monthly average. Upcoming dates are estimates. The revised UI names the average and explains yearly plans divided by 12 immediately below it. User testing should still check comprehension.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d570d5a7f74e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0949e269f445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6e5206f4b34a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0ab61089d748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35f74f1d244e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004e4f837f4c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8A4FA0-A7A0-4790-9A50-CF08D98D06B0}"/>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CBD3D4-108B-4318-AA1E-C0554E0C817B}"/>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1F37B2-DA4B-411D-9E9B-58D0B837567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02310B-B885-4945-9513-0569C2F256F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C261E4-40D7-4BE5-91D8-97769D7134E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F2CA48-DB37-4372-A194-181EB8EB4BC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8F6585-EDF7-403F-A05F-5EA8E7A94DF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DA1B24-9E80-4C6F-AE6F-F8CFED0D9144}"/>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51987D-8EF2-42D2-A7D5-12515AC094E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6570AC-B946-41F9-94B4-51AF9C1B0C6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24f9fb4bee4c6e" /><Relationship Type="http://schemas.openxmlformats.org/officeDocument/2006/relationships/slideLayout" Target="/ppt/slideLayouts/slideLayout1.xml" Id="Rf4a30919f81a4085" /><Relationship Type="http://schemas.openxmlformats.org/officeDocument/2006/relationships/slideLayout" Target="/ppt/slideLayouts/slideLayout2.xml" Id="R9119983ee06b4dc0" /><Relationship Type="http://schemas.openxmlformats.org/officeDocument/2006/relationships/slideLayout" Target="/ppt/slideLayouts/slideLayout3.xml" Id="Rf4bfcd6d740b4d99" /><Relationship Type="http://schemas.openxmlformats.org/officeDocument/2006/relationships/slideLayout" Target="/ppt/slideLayouts/slideLayout4.xml" Id="R0cb39484bdb245ec" /><Relationship Type="http://schemas.openxmlformats.org/officeDocument/2006/relationships/slideLayout" Target="/ppt/slideLayouts/slideLayout5.xml" Id="R359768f5f16c4248" /><Relationship Type="http://schemas.openxmlformats.org/officeDocument/2006/relationships/slideLayout" Target="/ppt/slideLayouts/slideLayout6.xml" Id="R7e615151709446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a30919f81a4085"/>
    <p:sldLayoutId xmlns:r="http://schemas.openxmlformats.org/officeDocument/2006/relationships" id="2147483650" r:id="R9119983ee06b4dc0"/>
    <p:sldLayoutId xmlns:r="http://schemas.openxmlformats.org/officeDocument/2006/relationships" id="2147483651" r:id="Rf4bfcd6d740b4d99"/>
    <p:sldLayoutId xmlns:r="http://schemas.openxmlformats.org/officeDocument/2006/relationships" id="2147483652" r:id="R0cb39484bdb245ec"/>
    <p:sldLayoutId xmlns:r="http://schemas.openxmlformats.org/officeDocument/2006/relationships" id="2147483653" r:id="R359768f5f16c4248"/>
    <p:sldLayoutId xmlns:r="http://schemas.openxmlformats.org/officeDocument/2006/relationships" id="2147483654" r:id="R7e615151709446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db3721cbad49b8" /><Relationship Type="http://schemas.openxmlformats.org/officeDocument/2006/relationships/image" Target="/ppt/media/image.png" Id="Rffe398a79baa4b84" /><Relationship Type="http://schemas.openxmlformats.org/officeDocument/2006/relationships/notesSlide" Target="/ppt/notesSlides/notesSlide1.xml" Id="Rc9f7de71ad0544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2e64b90be243a9" /><Relationship Type="http://schemas.openxmlformats.org/officeDocument/2006/relationships/notesSlide" Target="/ppt/notesSlides/notesSlide2.xml" Id="Rd12e2e46e0f744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1e80f4d4244333" /><Relationship Type="http://schemas.openxmlformats.org/officeDocument/2006/relationships/hyperlink" Target="https://www.reddit.com/r/Windscribe/comments/1gttu9i/denied_refund_after_my_subscription_autorenewed/" TargetMode="External" Id="R86e9c73d3be348bc" /><Relationship Type="http://schemas.openxmlformats.org/officeDocument/2006/relationships/hyperlink" Target="https://www.reddit.com/r/appletv/comments/wxle7w/why_is_it_nearly_impossible_to_cancel_my_apple_tv/" TargetMode="External" Id="Rb20e9398e9194254" /><Relationship Type="http://schemas.openxmlformats.org/officeDocument/2006/relationships/hyperlink" Target="https://www.reddit.com/r/budgetingforbeginners/comments/1vbvho6/how_do_you_keep_track_of_all_your_subscriptions/" TargetMode="External" Id="Rb4d01e0d98c94505" /><Relationship Type="http://schemas.openxmlformats.org/officeDocument/2006/relationships/hyperlink" Target="https://www.reddit.com/r/Millennials/comments/1qv9rbe/are_forgotten_subscriptions_that_big_of_a_problem/" TargetMode="External" Id="R90a28bd94c664412" /><Relationship Type="http://schemas.openxmlformats.org/officeDocument/2006/relationships/notesSlide" Target="/ppt/notesSlides/notesSlide3.xml" Id="Rdf7e87943fed44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cad9b56a93421d" /><Relationship Type="http://schemas.openxmlformats.org/officeDocument/2006/relationships/hyperlink" Target="https://subscription-app-alpha-vert.vercel.app" TargetMode="External" Id="R3068a084afc04e56" /><Relationship Type="http://schemas.openxmlformats.org/officeDocument/2006/relationships/image" Target="/ppt/media/image2.png" Id="R23aed8b66a9a42fa" /><Relationship Type="http://schemas.openxmlformats.org/officeDocument/2006/relationships/notesSlide" Target="/ppt/notesSlides/notesSlide4.xml" Id="R66238e6746844d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0f65ff757b4b77" /><Relationship Type="http://schemas.openxmlformats.org/officeDocument/2006/relationships/image" Target="/ppt/media/image3.png" Id="R0543a315a7d846f6" /><Relationship Type="http://schemas.openxmlformats.org/officeDocument/2006/relationships/notesSlide" Target="/ppt/notesSlides/notesSlide5.xml" Id="Rd667780651084f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37f48b8d9d4f14" /><Relationship Type="http://schemas.openxmlformats.org/officeDocument/2006/relationships/image" Target="/ppt/media/image4.png" Id="R323a6446d1ce4e34" /><Relationship Type="http://schemas.openxmlformats.org/officeDocument/2006/relationships/notesSlide" Target="/ppt/notesSlides/notesSlide6.xml" Id="R15f9445d025c48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bcdcffd95849ab" /><Relationship Type="http://schemas.openxmlformats.org/officeDocument/2006/relationships/image" Target="/ppt/media/image5.png" Id="Re590819cfed8401e" /><Relationship Type="http://schemas.openxmlformats.org/officeDocument/2006/relationships/notesSlide" Target="/ppt/notesSlides/notesSlide7.xml" Id="R19f267a3197847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1c160e4f834be0" /><Relationship Type="http://schemas.openxmlformats.org/officeDocument/2006/relationships/notesSlide" Target="/ppt/notesSlides/notesSlide8.xml" Id="Ra86b9540fc0d48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2e1f3a2cd6487f" /><Relationship Type="http://schemas.openxmlformats.org/officeDocument/2006/relationships/notesSlide" Target="/ppt/notesSlides/notesSlide9.xml" Id="Rce1f0427229a405e"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64D3FE-904E-490C-8070-085A4FA3C40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C953C772-08FC-4957-8A70-0767771DFC2F}"/>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01</a:t>
            </a:r>
          </a:p>
        </p:txBody>
      </p:sp>
      <p:sp>
        <p:nvSpPr>
          <p:cNvPr id="3" name="">
            <a:extLst xmlns:a="http://schemas.openxmlformats.org/drawingml/2006/main">
              <a:ext uri="{FF2B5EF4-FFF2-40B4-BE49-F238E27FC236}">
                <a16:creationId xmlns:a16="http://schemas.microsoft.com/office/drawing/2014/main" id="{F2DC4F18-96BC-45B1-A5E2-5B1FC14CFC46}"/>
              </a:ext>
            </a:extLst>
          </p:cNvPr>
          <p:cNvSpPr>
            <a:spLocks xmlns:a="http://schemas.openxmlformats.org/drawingml/2006/main" noGrp="1"/>
          </p:cNvSpPr>
          <p:nvPr/>
        </p:nvSpPr>
        <p:spPr>
          <a:xfrm xmlns:a="http://schemas.openxmlformats.org/drawingml/2006/main">
            <a:off x="762000" y="1504950"/>
            <a:ext cx="876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rgbClr val="F7F7FA"/>
                </a:solidFill>
                <a:latin typeface="Geist"/>
                <a:ea typeface="Geist"/>
                <a:cs typeface="Geist"/>
              </a:defRPr>
            </a:defPPr>
          </a:lstStyle>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Clear costs.</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Confident renewal</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decisions.</a:t>
            </a:r>
          </a:p>
        </p:txBody>
      </p:sp>
      <p:sp>
        <p:nvSpPr>
          <p:cNvPr id="4" name="">
            <a:extLst xmlns:a="http://schemas.openxmlformats.org/drawingml/2006/main">
              <a:ext uri="{FF2B5EF4-FFF2-40B4-BE49-F238E27FC236}">
                <a16:creationId xmlns:a16="http://schemas.microsoft.com/office/drawing/2014/main" id="{8AB18C3C-CD98-4513-8E68-1587827EB9E9}"/>
              </a:ext>
            </a:extLst>
          </p:cNvPr>
          <p:cNvSpPr>
            <a:spLocks xmlns:a="http://schemas.openxmlformats.org/drawingml/2006/main" noGrp="1"/>
          </p:cNvSpPr>
          <p:nvPr/>
        </p:nvSpPr>
        <p:spPr>
          <a:xfrm xmlns:a="http://schemas.openxmlformats.org/drawingml/2006/main">
            <a:off x="800100" y="4619625"/>
            <a:ext cx="809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0">
                <a:solidFill>
                  <a:srgbClr val="91B4FF"/>
                </a:solidFill>
                <a:latin typeface="Geist"/>
                <a:ea typeface="Geist"/>
                <a:cs typeface="Geist"/>
              </a:defRPr>
            </a:defPPr>
          </a:lstStyle>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Review a subscription renewal,</a:t>
            </a:r>
          </a:p>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then keep, edit or cancel.</a:t>
            </a:r>
          </a:p>
        </p:txBody>
      </p:sp>
      <p:sp>
        <p:nvSpPr>
          <p:cNvPr id="5" name="">
            <a:extLst xmlns:a="http://schemas.openxmlformats.org/drawingml/2006/main">
              <a:ext uri="{FF2B5EF4-FFF2-40B4-BE49-F238E27FC236}">
                <a16:creationId xmlns:a16="http://schemas.microsoft.com/office/drawing/2014/main" id="{B98E61D7-EAFB-46E2-ACE9-C8A0286E7BF5}"/>
              </a:ext>
            </a:extLst>
          </p:cNvPr>
          <p:cNvSpPr>
            <a:spLocks xmlns:a="http://schemas.openxmlformats.org/drawingml/2006/main" noGrp="1"/>
          </p:cNvSpPr>
          <p:nvPr/>
        </p:nvSpPr>
        <p:spPr>
          <a:xfrm xmlns:a="http://schemas.openxmlformats.org/drawingml/2006/main">
            <a:off x="800100" y="714375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Matthieu Duchatellier and Alexandru Oprea</a:t>
            </a:r>
          </a:p>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UX Writing Final Workshop</a:t>
            </a:r>
          </a:p>
        </p:txBody>
      </p:sp>
      <p:pic>
        <p:nvPicPr>
          <p:cNvPr id="6" name="">
            <a:extLst xmlns:a="http://schemas.openxmlformats.org/drawingml/2006/main">
              <a:ext uri="{FF2B5EF4-FFF2-40B4-BE49-F238E27FC236}">
                <a16:creationId xmlns:a16="http://schemas.microsoft.com/office/drawing/2014/main" id="{4A9EA760-E9FE-497D-A81F-1BC2C010E59A}"/>
              </a:ext>
            </a:extLst>
          </p:cNvPr>
          <p:cNvPicPr>
            <a:picLocks xmlns:a="http://schemas.openxmlformats.org/drawingml/2006/main" noChangeAspect="1"/>
          </p:cNvPicPr>
          <p:nvPr/>
        </p:nvPicPr>
        <p:blipFill>
          <a:blip xmlns:r="http://schemas.openxmlformats.org/officeDocument/2006/relationships" xmlns:a="http://schemas.openxmlformats.org/drawingml/2006/main" r:embed="Rffe398a79baa4b84"/>
          <a:stretch xmlns:a="http://schemas.openxmlformats.org/drawingml/2006/main"/>
        </p:blipFill>
        <p:spPr>
          <a:xfrm xmlns:a="http://schemas.openxmlformats.org/drawingml/2006/main">
            <a:off x="9191625" y="1190625"/>
            <a:ext cx="5238750" cy="523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A1534F3-C531-4008-BAB4-B7610950BBCD}"/>
              </a:ext>
            </a:extLst>
          </p:cNvPr>
          <p:cNvSpPr>
            <a:spLocks xmlns:a="http://schemas.openxmlformats.org/drawingml/2006/main" noGrp="1"/>
          </p:cNvSpPr>
          <p:nvPr/>
        </p:nvSpPr>
        <p:spPr>
          <a:xfrm xmlns:a="http://schemas.openxmlformats.org/drawingml/2006/main">
            <a:off x="9239250" y="6210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91B4FF"/>
                </a:solidFill>
                <a:latin typeface="Geist"/>
                <a:ea typeface="Geist"/>
                <a:cs typeface="Geist"/>
              </a:defRPr>
            </a:defPPr>
          </a:lstStyle>
          <a:p xmlns:a="http://schemas.openxmlformats.org/drawingml/2006/main">
            <a:pPr>
              <a:defRPr sz="1500" b="1">
                <a:solidFill>
                  <a:srgbClr val="91B4FF"/>
                </a:solidFill>
                <a:latin typeface="Geist"/>
                <a:ea typeface="Geist"/>
                <a:cs typeface="Geist"/>
              </a:defRPr>
            </a:pPr>
            <a:r>
              <a:rPr sz="1500" b="1">
                <a:solidFill>
                  <a:srgbClr val="91B4FF"/>
                </a:solidFill>
                <a:latin typeface="Geist"/>
                <a:ea typeface="Geist"/>
                <a:cs typeface="Geist"/>
              </a:rPr>
              <a:t>ONE RENEWAL JOURNEY</a:t>
            </a:r>
          </a:p>
        </p:txBody>
      </p:sp>
      <p:sp>
        <p:nvSpPr>
          <p:cNvPr id="8" name="">
            <a:extLst xmlns:a="http://schemas.openxmlformats.org/drawingml/2006/main">
              <a:ext uri="{FF2B5EF4-FFF2-40B4-BE49-F238E27FC236}">
                <a16:creationId xmlns:a16="http://schemas.microsoft.com/office/drawing/2014/main" id="{F5C18EE0-866B-4066-8D1C-E1965C5BB0CE}"/>
              </a:ext>
            </a:extLst>
          </p:cNvPr>
          <p:cNvSpPr>
            <a:spLocks xmlns:a="http://schemas.openxmlformats.org/drawingml/2006/main" noGrp="1"/>
          </p:cNvSpPr>
          <p:nvPr/>
        </p:nvSpPr>
        <p:spPr>
          <a:xfrm xmlns:a="http://schemas.openxmlformats.org/drawingml/2006/main">
            <a:off x="9239250" y="6724650"/>
            <a:ext cx="5238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F7F7FA"/>
                </a:solidFill>
                <a:latin typeface="Geist"/>
                <a:ea typeface="Geist"/>
                <a:cs typeface="Geist"/>
              </a:defRPr>
            </a:defPPr>
          </a:lstStyle>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1   See subscriptions and billing frequency</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2   Review Apple TV’s €120 yearly renewal</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3   Keep, correct, or cancel with Apple</a:t>
            </a:r>
          </a:p>
        </p:txBody>
      </p:sp>
    </p:spTree>
    <p:extLst>
      <p:ext uri="{BB962C8B-B14F-4D97-AF65-F5344CB8AC3E}">
        <p14:creationId xmlns:p14="http://schemas.microsoft.com/office/powerpoint/2010/main" val="238163128"/>
      </p:ext>
    </p:extLst>
  </p:cSld>
</p:sld>
</file>

<file path=ppt/slides/slide2.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01A4A6-3D29-4C21-9386-2FE71486209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F3757C18-E04A-4212-A832-9E171892339A}"/>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02</a:t>
            </a:r>
          </a:p>
        </p:txBody>
      </p:sp>
      <p:sp>
        <p:nvSpPr>
          <p:cNvPr id="3" name="">
            <a:extLst xmlns:a="http://schemas.openxmlformats.org/drawingml/2006/main">
              <a:ext uri="{FF2B5EF4-FFF2-40B4-BE49-F238E27FC236}">
                <a16:creationId xmlns:a16="http://schemas.microsoft.com/office/drawing/2014/main" id="{4183D345-6C6F-45CE-A357-5975C27607D1}"/>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Voice &amp; persona</a:t>
            </a:r>
          </a:p>
        </p:txBody>
      </p:sp>
      <p:sp>
        <p:nvSpPr>
          <p:cNvPr id="4" name="">
            <a:extLst xmlns:a="http://schemas.openxmlformats.org/drawingml/2006/main">
              <a:ext uri="{FF2B5EF4-FFF2-40B4-BE49-F238E27FC236}">
                <a16:creationId xmlns:a16="http://schemas.microsoft.com/office/drawing/2014/main" id="{6C58BC6F-2CD7-4655-B1A5-921BBB6590A3}"/>
              </a:ext>
            </a:extLst>
          </p:cNvPr>
          <p:cNvSpPr>
            <a:spLocks xmlns:a="http://schemas.openxmlformats.org/drawingml/2006/main" noGrp="1"/>
          </p:cNvSpPr>
          <p:nvPr/>
        </p:nvSpPr>
        <p:spPr>
          <a:xfrm xmlns:a="http://schemas.openxmlformats.org/drawingml/2006/main">
            <a:off x="762000" y="2419350"/>
            <a:ext cx="1333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91B4FF"/>
                </a:solidFill>
                <a:latin typeface="Geist"/>
                <a:ea typeface="Geist"/>
                <a:cs typeface="Geist"/>
              </a:defRPr>
            </a:defPPr>
          </a:lstStyle>
          <a:p xmlns:a="http://schemas.openxmlformats.org/drawingml/2006/main">
            <a:pPr>
              <a:defRPr sz="3300" b="1">
                <a:solidFill>
                  <a:srgbClr val="91B4FF"/>
                </a:solidFill>
                <a:latin typeface="Geist"/>
                <a:ea typeface="Geist"/>
                <a:cs typeface="Geist"/>
              </a:defRPr>
            </a:pPr>
            <a:r>
              <a:rPr sz="3300" b="1">
                <a:solidFill>
                  <a:srgbClr val="91B4FF"/>
                </a:solidFill>
                <a:latin typeface="Geist"/>
                <a:ea typeface="Geist"/>
                <a:cs typeface="Geist"/>
              </a:rPr>
              <a:t>A clever, knowledgeable friend</a:t>
            </a:r>
          </a:p>
        </p:txBody>
      </p:sp>
      <p:sp>
        <p:nvSpPr>
          <p:cNvPr id="5" name="">
            <a:extLst xmlns:a="http://schemas.openxmlformats.org/drawingml/2006/main">
              <a:ext uri="{FF2B5EF4-FFF2-40B4-BE49-F238E27FC236}">
                <a16:creationId xmlns:a16="http://schemas.microsoft.com/office/drawing/2014/main" id="{A0ABCBCC-CCEE-4DE2-898E-246F0860AB29}"/>
              </a:ext>
            </a:extLst>
          </p:cNvPr>
          <p:cNvSpPr>
            <a:spLocks xmlns:a="http://schemas.openxmlformats.org/drawingml/2006/main" noGrp="1"/>
          </p:cNvSpPr>
          <p:nvPr/>
        </p:nvSpPr>
        <p:spPr>
          <a:xfrm xmlns:a="http://schemas.openxmlformats.org/drawingml/2006/main">
            <a:off x="762000" y="3086100"/>
            <a:ext cx="1333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Casual and upbeat, precise about money, never judgmental.</a:t>
            </a:r>
          </a:p>
        </p:txBody>
      </p:sp>
      <p:sp>
        <p:nvSpPr>
          <p:cNvPr id="6" name="">
            <a:extLst xmlns:a="http://schemas.openxmlformats.org/drawingml/2006/main">
              <a:ext uri="{FF2B5EF4-FFF2-40B4-BE49-F238E27FC236}">
                <a16:creationId xmlns:a16="http://schemas.microsoft.com/office/drawing/2014/main" id="{F0626A1F-E137-4858-A71E-25DA25E6739A}"/>
              </a:ext>
            </a:extLst>
          </p:cNvPr>
          <p:cNvSpPr>
            <a:spLocks xmlns:a="http://schemas.openxmlformats.org/drawingml/2006/main" noGrp="1"/>
          </p:cNvSpPr>
          <p:nvPr/>
        </p:nvSpPr>
        <p:spPr>
          <a:xfrm xmlns:a="http://schemas.openxmlformats.org/drawingml/2006/main">
            <a:off x="762000" y="4238625"/>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825" b="1">
                <a:solidFill>
                  <a:srgbClr val="F7F7FA"/>
                </a:solidFill>
                <a:latin typeface="Geist"/>
                <a:ea typeface="Geist"/>
                <a:cs typeface="Geist"/>
              </a:defRPr>
            </a:defPPr>
          </a:lstStyle>
          <a:p xmlns:a="http://schemas.openxmlformats.org/drawingml/2006/main">
            <a:pPr>
              <a:defRPr sz="3825" b="1">
                <a:solidFill>
                  <a:srgbClr val="F7F7FA"/>
                </a:solidFill>
                <a:latin typeface="Geist"/>
                <a:ea typeface="Geist"/>
                <a:cs typeface="Geist"/>
              </a:defRPr>
            </a:pPr>
            <a:r>
              <a:rPr sz="3825" b="1">
                <a:solidFill>
                  <a:srgbClr val="F7F7FA"/>
                </a:solidFill>
                <a:latin typeface="Geist"/>
                <a:ea typeface="Geist"/>
                <a:cs typeface="Geist"/>
              </a:rPr>
              <a:t>Alex</a:t>
            </a:r>
          </a:p>
        </p:txBody>
      </p:sp>
      <p:sp>
        <p:nvSpPr>
          <p:cNvPr id="7" name="">
            <a:extLst xmlns:a="http://schemas.openxmlformats.org/drawingml/2006/main">
              <a:ext uri="{FF2B5EF4-FFF2-40B4-BE49-F238E27FC236}">
                <a16:creationId xmlns:a16="http://schemas.microsoft.com/office/drawing/2014/main" id="{B9E985A4-D6BF-432F-A1F7-5364CF578E8E}"/>
              </a:ext>
            </a:extLst>
          </p:cNvPr>
          <p:cNvSpPr>
            <a:spLocks xmlns:a="http://schemas.openxmlformats.org/drawingml/2006/main" noGrp="1"/>
          </p:cNvSpPr>
          <p:nvPr/>
        </p:nvSpPr>
        <p:spPr>
          <a:xfrm xmlns:a="http://schemas.openxmlformats.org/drawingml/2006/main">
            <a:off x="762000" y="49434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91B4FF"/>
                </a:solidFill>
                <a:latin typeface="Geist"/>
                <a:ea typeface="Geist"/>
                <a:cs typeface="Geist"/>
              </a:defRPr>
            </a:defPPr>
          </a:lstStyle>
          <a:p xmlns:a="http://schemas.openxmlformats.org/drawingml/2006/main">
            <a:pPr>
              <a:defRPr sz="1650" b="0">
                <a:solidFill>
                  <a:srgbClr val="91B4FF"/>
                </a:solidFill>
                <a:latin typeface="Geist"/>
                <a:ea typeface="Geist"/>
                <a:cs typeface="Geist"/>
              </a:defRPr>
            </a:pPr>
            <a:r>
              <a:rPr sz="1650" b="0">
                <a:solidFill>
                  <a:srgbClr val="91B4FF"/>
                </a:solidFill>
                <a:latin typeface="Geist"/>
                <a:ea typeface="Geist"/>
                <a:cs typeface="Geist"/>
              </a:rPr>
              <a:t>Working persona</a:t>
            </a:r>
          </a:p>
        </p:txBody>
      </p:sp>
      <p:sp>
        <p:nvSpPr>
          <p:cNvPr id="8" name="">
            <a:extLst xmlns:a="http://schemas.openxmlformats.org/drawingml/2006/main">
              <a:ext uri="{FF2B5EF4-FFF2-40B4-BE49-F238E27FC236}">
                <a16:creationId xmlns:a16="http://schemas.microsoft.com/office/drawing/2014/main" id="{90F3C673-1630-42D2-92F3-61E2BFC3B317}"/>
              </a:ext>
            </a:extLst>
          </p:cNvPr>
          <p:cNvSpPr>
            <a:spLocks xmlns:a="http://schemas.openxmlformats.org/drawingml/2006/main" noGrp="1"/>
          </p:cNvSpPr>
          <p:nvPr/>
        </p:nvSpPr>
        <p:spPr>
          <a:xfrm xmlns:a="http://schemas.openxmlformats.org/drawingml/2006/main">
            <a:off x="762000" y="5381625"/>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7F7FA"/>
                </a:solidFill>
                <a:latin typeface="Geist"/>
                <a:ea typeface="Geist"/>
                <a:cs typeface="Geist"/>
              </a:defRPr>
            </a:defPPr>
          </a:lstStyle>
          <a:p xmlns:a="http://schemas.openxmlformats.org/drawingml/2006/main">
            <a:pPr>
              <a:defRPr sz="2100" b="0">
                <a:solidFill>
                  <a:srgbClr val="F7F7FA"/>
                </a:solidFill>
                <a:latin typeface="Geist"/>
                <a:ea typeface="Geist"/>
                <a:cs typeface="Geist"/>
              </a:defRPr>
            </a:pPr>
            <a:r>
              <a:rPr sz="2100" b="0">
                <a:solidFill>
                  <a:srgbClr val="F7F7FA"/>
                </a:solidFill>
                <a:latin typeface="Geist"/>
                <a:ea typeface="Geist"/>
                <a:cs typeface="Geist"/>
              </a:rPr>
              <a:t>A busy young professional with several monthly services and one yearly streaming plan.</a:t>
            </a:r>
          </a:p>
        </p:txBody>
      </p:sp>
      <p:sp>
        <p:nvSpPr>
          <p:cNvPr id="9" name="">
            <a:extLst xmlns:a="http://schemas.openxmlformats.org/drawingml/2006/main">
              <a:ext uri="{FF2B5EF4-FFF2-40B4-BE49-F238E27FC236}">
                <a16:creationId xmlns:a16="http://schemas.microsoft.com/office/drawing/2014/main" id="{55B4254A-9FE8-4DF9-80A0-EBDDD1C3843B}"/>
              </a:ext>
            </a:extLst>
          </p:cNvPr>
          <p:cNvSpPr>
            <a:spLocks xmlns:a="http://schemas.openxmlformats.org/drawingml/2006/main" noGrp="1"/>
          </p:cNvSpPr>
          <p:nvPr/>
        </p:nvSpPr>
        <p:spPr>
          <a:xfrm xmlns:a="http://schemas.openxmlformats.org/drawingml/2006/main">
            <a:off x="762000" y="64770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Wants one clear overview of costs and renewals.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Worries about forgotten renewals, averages that look like bills, and whether cancellation stopped payments.</a:t>
            </a:r>
          </a:p>
        </p:txBody>
      </p:sp>
      <p:sp>
        <p:nvSpPr>
          <p:cNvPr id="10" name="">
            <a:extLst xmlns:a="http://schemas.openxmlformats.org/drawingml/2006/main">
              <a:ext uri="{FF2B5EF4-FFF2-40B4-BE49-F238E27FC236}">
                <a16:creationId xmlns:a16="http://schemas.microsoft.com/office/drawing/2014/main" id="{44549EAC-8277-4DF7-BBE8-1BE726AB0B66}"/>
              </a:ext>
            </a:extLst>
          </p:cNvPr>
          <p:cNvSpPr>
            <a:spLocks xmlns:a="http://schemas.openxmlformats.org/drawingml/2006/main" noGrp="1"/>
          </p:cNvSpPr>
          <p:nvPr/>
        </p:nvSpPr>
        <p:spPr>
          <a:xfrm xmlns:a="http://schemas.openxmlformats.org/drawingml/2006/main">
            <a:off x="8096250" y="42386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Conversational</a:t>
            </a:r>
          </a:p>
        </p:txBody>
      </p:sp>
      <p:sp>
        <p:nvSpPr>
          <p:cNvPr id="11" name="">
            <a:extLst xmlns:a="http://schemas.openxmlformats.org/drawingml/2006/main">
              <a:ext uri="{FF2B5EF4-FFF2-40B4-BE49-F238E27FC236}">
                <a16:creationId xmlns:a16="http://schemas.microsoft.com/office/drawing/2014/main" id="{95376F12-4A0A-436B-9D75-CC00115041B2}"/>
              </a:ext>
            </a:extLst>
          </p:cNvPr>
          <p:cNvSpPr>
            <a:spLocks xmlns:a="http://schemas.openxmlformats.org/drawingml/2006/main" noGrp="1"/>
          </p:cNvSpPr>
          <p:nvPr/>
        </p:nvSpPr>
        <p:spPr>
          <a:xfrm xmlns:a="http://schemas.openxmlformats.org/drawingml/2006/main">
            <a:off x="8096250" y="47434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Everyday words and natural contractions.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“Let’s make this feel like you.”</a:t>
            </a:r>
          </a:p>
        </p:txBody>
      </p:sp>
      <p:sp>
        <p:nvSpPr>
          <p:cNvPr id="12" name="">
            <a:extLst xmlns:a="http://schemas.openxmlformats.org/drawingml/2006/main">
              <a:ext uri="{FF2B5EF4-FFF2-40B4-BE49-F238E27FC236}">
                <a16:creationId xmlns:a16="http://schemas.microsoft.com/office/drawing/2014/main" id="{DB5173D2-B51E-4536-9595-E4D5007AF1C8}"/>
              </a:ext>
            </a:extLst>
          </p:cNvPr>
          <p:cNvSpPr>
            <a:spLocks xmlns:a="http://schemas.openxmlformats.org/drawingml/2006/main" noGrp="1"/>
          </p:cNvSpPr>
          <p:nvPr/>
        </p:nvSpPr>
        <p:spPr>
          <a:xfrm xmlns:a="http://schemas.openxmlformats.org/drawingml/2006/main">
            <a:off x="8096250" y="5476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Knowledgeable</a:t>
            </a:r>
          </a:p>
        </p:txBody>
      </p:sp>
      <p:sp>
        <p:nvSpPr>
          <p:cNvPr id="13" name="">
            <a:extLst xmlns:a="http://schemas.openxmlformats.org/drawingml/2006/main">
              <a:ext uri="{FF2B5EF4-FFF2-40B4-BE49-F238E27FC236}">
                <a16:creationId xmlns:a16="http://schemas.microsoft.com/office/drawing/2014/main" id="{A262FB63-147E-4E2C-A688-6C57284F6D9C}"/>
              </a:ext>
            </a:extLst>
          </p:cNvPr>
          <p:cNvSpPr>
            <a:spLocks xmlns:a="http://schemas.openxmlformats.org/drawingml/2006/main" noGrp="1"/>
          </p:cNvSpPr>
          <p:nvPr/>
        </p:nvSpPr>
        <p:spPr>
          <a:xfrm xmlns:a="http://schemas.openxmlformats.org/drawingml/2006/main">
            <a:off x="8096250" y="598170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Explain costs and how we calculate them.</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“Monthly average” / “Yearly plans divided by 12.”</a:t>
            </a:r>
          </a:p>
        </p:txBody>
      </p:sp>
      <p:sp>
        <p:nvSpPr>
          <p:cNvPr id="14" name="">
            <a:extLst xmlns:a="http://schemas.openxmlformats.org/drawingml/2006/main">
              <a:ext uri="{FF2B5EF4-FFF2-40B4-BE49-F238E27FC236}">
                <a16:creationId xmlns:a16="http://schemas.microsoft.com/office/drawing/2014/main" id="{2E051470-79C0-42CE-BE7F-753F58BE29FA}"/>
              </a:ext>
            </a:extLst>
          </p:cNvPr>
          <p:cNvSpPr>
            <a:spLocks xmlns:a="http://schemas.openxmlformats.org/drawingml/2006/main" noGrp="1"/>
          </p:cNvSpPr>
          <p:nvPr/>
        </p:nvSpPr>
        <p:spPr>
          <a:xfrm xmlns:a="http://schemas.openxmlformats.org/drawingml/2006/main">
            <a:off x="8096250" y="67151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Lightly playful</a:t>
            </a:r>
          </a:p>
        </p:txBody>
      </p:sp>
      <p:sp>
        <p:nvSpPr>
          <p:cNvPr id="15" name="">
            <a:extLst xmlns:a="http://schemas.openxmlformats.org/drawingml/2006/main">
              <a:ext uri="{FF2B5EF4-FFF2-40B4-BE49-F238E27FC236}">
                <a16:creationId xmlns:a16="http://schemas.microsoft.com/office/drawing/2014/main" id="{6C9D741F-CCEF-4D2C-BD07-1F5B84CA6B56}"/>
              </a:ext>
            </a:extLst>
          </p:cNvPr>
          <p:cNvSpPr>
            <a:spLocks xmlns:a="http://schemas.openxmlformats.org/drawingml/2006/main" noGrp="1"/>
          </p:cNvSpPr>
          <p:nvPr/>
        </p:nvSpPr>
        <p:spPr>
          <a:xfrm xmlns:a="http://schemas.openxmlformats.org/drawingml/2006/main">
            <a:off x="8096250" y="72199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Warmth in low-stakes moments.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“A little heads-up before your next payment.”</a:t>
            </a:r>
          </a:p>
        </p:txBody>
      </p:sp>
    </p:spTree>
    <p:extLst>
      <p:ext uri="{BB962C8B-B14F-4D97-AF65-F5344CB8AC3E}">
        <p14:creationId xmlns:p14="http://schemas.microsoft.com/office/powerpoint/2010/main" val="893940083"/>
      </p:ext>
    </p:extLst>
  </p:cSld>
</p:sld>
</file>

<file path=ppt/slides/slide3.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938E81-908D-421B-B046-B557DBB37A28}"/>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F5478C41-2733-49BF-97F1-1109A83AB4A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03</a:t>
            </a:r>
          </a:p>
        </p:txBody>
      </p:sp>
      <p:sp>
        <p:nvSpPr>
          <p:cNvPr id="3" name="">
            <a:extLst xmlns:a="http://schemas.openxmlformats.org/drawingml/2006/main">
              <a:ext uri="{FF2B5EF4-FFF2-40B4-BE49-F238E27FC236}">
                <a16:creationId xmlns:a16="http://schemas.microsoft.com/office/drawing/2014/main" id="{0EA85FD4-F441-4FFA-A989-B9FEEDE9A105}"/>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Semantic research</a:t>
            </a:r>
          </a:p>
        </p:txBody>
      </p:sp>
      <p:sp>
        <p:nvSpPr>
          <p:cNvPr id="4" name="">
            <a:extLst xmlns:a="http://schemas.openxmlformats.org/drawingml/2006/main">
              <a:ext uri="{FF2B5EF4-FFF2-40B4-BE49-F238E27FC236}">
                <a16:creationId xmlns:a16="http://schemas.microsoft.com/office/drawing/2014/main" id="{13D89F2A-A3B9-49D6-A610-05C6CA7B570C}"/>
              </a:ext>
            </a:extLst>
          </p:cNvPr>
          <p:cNvSpPr>
            <a:spLocks xmlns:a="http://schemas.openxmlformats.org/drawingml/2006/main" noGrp="1"/>
          </p:cNvSpPr>
          <p:nvPr/>
        </p:nvSpPr>
        <p:spPr>
          <a:xfrm xmlns:a="http://schemas.openxmlformats.org/drawingml/2006/main">
            <a:off x="762000" y="21145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Public desk research. These are forum posts, not interviews.</a:t>
            </a:r>
          </a:p>
        </p:txBody>
      </p:sp>
      <p:sp>
        <p:nvSpPr>
          <p:cNvPr id="5" name="">
            <a:extLst xmlns:a="http://schemas.openxmlformats.org/drawingml/2006/main">
              <a:ext uri="{FF2B5EF4-FFF2-40B4-BE49-F238E27FC236}">
                <a16:creationId xmlns:a16="http://schemas.microsoft.com/office/drawing/2014/main" id="{0BED1D71-0BA2-44BF-A976-0680D93DE1DA}"/>
              </a:ext>
            </a:extLst>
          </p:cNvPr>
          <p:cNvSpPr>
            <a:spLocks xmlns:a="http://schemas.openxmlformats.org/drawingml/2006/main" noGrp="1"/>
          </p:cNvSpPr>
          <p:nvPr/>
        </p:nvSpPr>
        <p:spPr>
          <a:xfrm xmlns:a="http://schemas.openxmlformats.org/drawingml/2006/main">
            <a:off x="762000" y="280035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did not expect it to auto-renew.”</a:t>
            </a:r>
          </a:p>
        </p:txBody>
      </p:sp>
      <p:sp>
        <p:nvSpPr>
          <p:cNvPr id="6" name="">
            <a:extLst xmlns:a="http://schemas.openxmlformats.org/drawingml/2006/main">
              <a:ext uri="{FF2B5EF4-FFF2-40B4-BE49-F238E27FC236}">
                <a16:creationId xmlns:a16="http://schemas.microsoft.com/office/drawing/2014/main" id="{5AF51A5A-8C85-4A02-8BDF-47C59157ADCD}"/>
              </a:ext>
            </a:extLst>
          </p:cNvPr>
          <p:cNvSpPr>
            <a:spLocks xmlns:a="http://schemas.openxmlformats.org/drawingml/2006/main" noGrp="1"/>
          </p:cNvSpPr>
          <p:nvPr/>
        </p:nvSpPr>
        <p:spPr>
          <a:xfrm xmlns:a="http://schemas.openxmlformats.org/drawingml/2006/main">
            <a:off x="762000" y="37147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86e9c73d3be348bc"/>
              </a:rPr>
              <a:t>r/Windscribe</a:t>
            </a:r>
          </a:p>
        </p:txBody>
      </p:sp>
      <p:sp>
        <p:nvSpPr>
          <p:cNvPr id="7" name="">
            <a:extLst xmlns:a="http://schemas.openxmlformats.org/drawingml/2006/main">
              <a:ext uri="{FF2B5EF4-FFF2-40B4-BE49-F238E27FC236}">
                <a16:creationId xmlns:a16="http://schemas.microsoft.com/office/drawing/2014/main" id="{DA89D9BC-C092-4660-B34A-F4235D9BABFF}"/>
              </a:ext>
            </a:extLst>
          </p:cNvPr>
          <p:cNvSpPr>
            <a:spLocks xmlns:a="http://schemas.openxmlformats.org/drawingml/2006/main" noGrp="1"/>
          </p:cNvSpPr>
          <p:nvPr/>
        </p:nvSpPr>
        <p:spPr>
          <a:xfrm xmlns:a="http://schemas.openxmlformats.org/drawingml/2006/main">
            <a:off x="762000" y="410527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“I’ve been trying to cancel my subscription for almost an hour now and it’s driving me mental.”</a:t>
            </a:r>
          </a:p>
        </p:txBody>
      </p:sp>
      <p:sp>
        <p:nvSpPr>
          <p:cNvPr id="8" name="">
            <a:extLst xmlns:a="http://schemas.openxmlformats.org/drawingml/2006/main">
              <a:ext uri="{FF2B5EF4-FFF2-40B4-BE49-F238E27FC236}">
                <a16:creationId xmlns:a16="http://schemas.microsoft.com/office/drawing/2014/main" id="{D0E2AD6D-56CD-49E8-9154-8DDC7191A06E}"/>
              </a:ext>
            </a:extLst>
          </p:cNvPr>
          <p:cNvSpPr>
            <a:spLocks xmlns:a="http://schemas.openxmlformats.org/drawingml/2006/main" noGrp="1"/>
          </p:cNvSpPr>
          <p:nvPr/>
        </p:nvSpPr>
        <p:spPr>
          <a:xfrm xmlns:a="http://schemas.openxmlformats.org/drawingml/2006/main">
            <a:off x="762000" y="50196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b20e9398e9194254"/>
              </a:rPr>
              <a:t>r/appletv</a:t>
            </a:r>
          </a:p>
        </p:txBody>
      </p:sp>
      <p:sp>
        <p:nvSpPr>
          <p:cNvPr id="9" name="">
            <a:extLst xmlns:a="http://schemas.openxmlformats.org/drawingml/2006/main">
              <a:ext uri="{FF2B5EF4-FFF2-40B4-BE49-F238E27FC236}">
                <a16:creationId xmlns:a16="http://schemas.microsoft.com/office/drawing/2014/main" id="{C1FA0E59-C2BC-47DC-AC13-0D40D1C9D096}"/>
              </a:ext>
            </a:extLst>
          </p:cNvPr>
          <p:cNvSpPr>
            <a:spLocks xmlns:a="http://schemas.openxmlformats.org/drawingml/2006/main" noGrp="1"/>
          </p:cNvSpPr>
          <p:nvPr/>
        </p:nvSpPr>
        <p:spPr>
          <a:xfrm xmlns:a="http://schemas.openxmlformats.org/drawingml/2006/main">
            <a:off x="762000" y="541020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want to find an easy way to keep track of everything and review it from time to time.”</a:t>
            </a:r>
          </a:p>
        </p:txBody>
      </p:sp>
      <p:sp>
        <p:nvSpPr>
          <p:cNvPr id="10" name="">
            <a:extLst xmlns:a="http://schemas.openxmlformats.org/drawingml/2006/main">
              <a:ext uri="{FF2B5EF4-FFF2-40B4-BE49-F238E27FC236}">
                <a16:creationId xmlns:a16="http://schemas.microsoft.com/office/drawing/2014/main" id="{52776DA7-430E-4D2D-B691-33AA043877CF}"/>
              </a:ext>
            </a:extLst>
          </p:cNvPr>
          <p:cNvSpPr>
            <a:spLocks xmlns:a="http://schemas.openxmlformats.org/drawingml/2006/main" noGrp="1"/>
          </p:cNvSpPr>
          <p:nvPr/>
        </p:nvSpPr>
        <p:spPr>
          <a:xfrm xmlns:a="http://schemas.openxmlformats.org/drawingml/2006/main">
            <a:off x="762000" y="6324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b4d01e0d98c94505"/>
              </a:rPr>
              <a:t>r/budgetingforbeginners</a:t>
            </a:r>
          </a:p>
        </p:txBody>
      </p:sp>
      <p:sp>
        <p:nvSpPr>
          <p:cNvPr id="11" name="">
            <a:extLst xmlns:a="http://schemas.openxmlformats.org/drawingml/2006/main">
              <a:ext uri="{FF2B5EF4-FFF2-40B4-BE49-F238E27FC236}">
                <a16:creationId xmlns:a16="http://schemas.microsoft.com/office/drawing/2014/main" id="{CCF5B457-5C74-48BE-82FB-EB986CBF3E93}"/>
              </a:ext>
            </a:extLst>
          </p:cNvPr>
          <p:cNvSpPr>
            <a:spLocks xmlns:a="http://schemas.openxmlformats.org/drawingml/2006/main" noGrp="1"/>
          </p:cNvSpPr>
          <p:nvPr/>
        </p:nvSpPr>
        <p:spPr>
          <a:xfrm xmlns:a="http://schemas.openxmlformats.org/drawingml/2006/main">
            <a:off x="762000" y="671512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“Yes, I’ve forgotten about subscriptions. I forgot to cancel my ancestry subscription last month.”</a:t>
            </a:r>
          </a:p>
        </p:txBody>
      </p:sp>
      <p:sp>
        <p:nvSpPr>
          <p:cNvPr id="12" name="">
            <a:extLst xmlns:a="http://schemas.openxmlformats.org/drawingml/2006/main">
              <a:ext uri="{FF2B5EF4-FFF2-40B4-BE49-F238E27FC236}">
                <a16:creationId xmlns:a16="http://schemas.microsoft.com/office/drawing/2014/main" id="{B362244E-F664-4B4D-A205-0E5E415497EB}"/>
              </a:ext>
            </a:extLst>
          </p:cNvPr>
          <p:cNvSpPr>
            <a:spLocks xmlns:a="http://schemas.openxmlformats.org/drawingml/2006/main" noGrp="1"/>
          </p:cNvSpPr>
          <p:nvPr/>
        </p:nvSpPr>
        <p:spPr>
          <a:xfrm xmlns:a="http://schemas.openxmlformats.org/drawingml/2006/main">
            <a:off x="762000" y="762952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90a28bd94c664412"/>
              </a:rPr>
              <a:t>r/Millennials</a:t>
            </a:r>
          </a:p>
        </p:txBody>
      </p:sp>
      <p:sp>
        <p:nvSpPr>
          <p:cNvPr id="13" name="">
            <a:extLst xmlns:a="http://schemas.openxmlformats.org/drawingml/2006/main">
              <a:ext uri="{FF2B5EF4-FFF2-40B4-BE49-F238E27FC236}">
                <a16:creationId xmlns:a16="http://schemas.microsoft.com/office/drawing/2014/main" id="{20A50B84-41BA-4369-B8A0-B10736E89F3E}"/>
              </a:ext>
            </a:extLst>
          </p:cNvPr>
          <p:cNvSpPr>
            <a:spLocks xmlns:a="http://schemas.openxmlformats.org/drawingml/2006/main" noGrp="1"/>
          </p:cNvSpPr>
          <p:nvPr/>
        </p:nvSpPr>
        <p:spPr>
          <a:xfrm xmlns:a="http://schemas.openxmlformats.org/drawingml/2006/main">
            <a:off x="7715250" y="27908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91B4FF"/>
                </a:solidFill>
                <a:latin typeface="Geist"/>
                <a:ea typeface="Geist"/>
                <a:cs typeface="Geist"/>
              </a:defRPr>
            </a:defPPr>
          </a:lstStyle>
          <a:p xmlns:a="http://schemas.openxmlformats.org/drawingml/2006/main">
            <a:pPr>
              <a:defRPr sz="2475" b="1">
                <a:solidFill>
                  <a:srgbClr val="91B4FF"/>
                </a:solidFill>
                <a:latin typeface="Geist"/>
                <a:ea typeface="Geist"/>
                <a:cs typeface="Geist"/>
              </a:defRPr>
            </a:pPr>
            <a:r>
              <a:rPr sz="2475" b="1">
                <a:solidFill>
                  <a:srgbClr val="91B4FF"/>
                </a:solidFill>
                <a:latin typeface="Geist"/>
                <a:ea typeface="Geist"/>
                <a:cs typeface="Geist"/>
              </a:rPr>
              <a:t>Words we reuse</a:t>
            </a:r>
          </a:p>
        </p:txBody>
      </p:sp>
      <p:graphicFrame>
        <p:nvGraphicFramePr>
          <p:cNvPr id="14" name="">
            <a:extLst xmlns:a="http://schemas.openxmlformats.org/drawingml/2006/main">
              <a:ext uri="{FF2B5EF4-FFF2-40B4-BE49-F238E27FC236}">
                <a16:creationId xmlns:a16="http://schemas.microsoft.com/office/drawing/2014/main" id="{EF5634DE-AECA-43E6-BCC0-09B0D7344F22}"/>
              </a:ext>
            </a:extLst>
          </p:cNvPr>
          <p:cNvGraphicFramePr/>
          <p:nvPr/>
        </p:nvGraphicFramePr>
        <p:xfrm>
          <a:off xmlns:a="http://schemas.openxmlformats.org/drawingml/2006/main" x="7715250" y="3400425"/>
          <a:ext xmlns:a="http://schemas.openxmlformats.org/drawingml/2006/main" cx="6762750" cy="4276725"/>
        </p:xfrm>
        <a:graphic xmlns:a="http://schemas.openxmlformats.org/drawingml/2006/main">
          <a:graphicData uri="http://schemas.openxmlformats.org/drawingml/2006/table">
            <a:tbl>
              <a:tblPr/>
              <a:tblGrid>
                <a:gridCol w="3143250"/>
                <a:gridCol w="3619500"/>
              </a:tblGrid>
              <a:tr h="855345">
                <a:tc>
                  <a:txBody>
                    <a:bodyPr lIns="171450" tIns="171450" rIns="171450" bIns="171450"/>
                    <a:lstStyle/>
                    <a:p>
                      <a:r>
                        <a:rPr sz="1800" b="1">
                          <a:solidFill>
                            <a:srgbClr val="A6A6AE"/>
                          </a:solidFill>
                          <a:latin typeface="Geist"/>
                          <a:ea typeface="Geist"/>
                          <a:cs typeface="Geist"/>
                        </a:rPr>
                        <a:t>Company wording</a:t>
                      </a:r>
                    </a:p>
                  </a:txBody>
                  <a:tcPr marL="91440" marR="91440" marT="45720" marB="45720">
                    <a:solidFill>
                      <a:srgbClr val="232E83"/>
                    </a:solidFill>
                  </a:tcPr>
                </a:tc>
                <a:tc>
                  <a:txBody>
                    <a:bodyPr lIns="171450" tIns="171450" rIns="171450" bIns="171450"/>
                    <a:lstStyle/>
                    <a:p>
                      <a:r>
                        <a:rPr sz="1800" b="1">
                          <a:solidFill>
                            <a:srgbClr val="F7F7FA"/>
                          </a:solidFill>
                          <a:latin typeface="Geist"/>
                          <a:ea typeface="Geist"/>
                          <a:cs typeface="Geist"/>
                        </a:rPr>
                        <a:t>User wording</a:t>
                      </a:r>
                    </a:p>
                  </a:txBody>
                  <a:tcPr marL="91440" marR="91440" marT="45720" marB="45720">
                    <a:solidFill>
                      <a:srgbClr val="232E83"/>
                    </a:solidFill>
                  </a:tcPr>
                </a:tc>
              </a:tr>
              <a:tr h="855345">
                <a:tc>
                  <a:txBody>
                    <a:bodyPr lIns="171450" tIns="171450" rIns="171450" bIns="171450"/>
                    <a:lstStyle/>
                    <a:p>
                      <a:r>
                        <a:rPr sz="1875" b="0">
                          <a:solidFill>
                            <a:srgbClr val="A6A6AE"/>
                          </a:solidFill>
                          <a:latin typeface="Geist"/>
                          <a:ea typeface="Geist"/>
                          <a:cs typeface="Geist"/>
                        </a:rPr>
                        <a:t>Predicted renewal</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Estimated next payment</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Ongoing subscription portfolio</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Your subscriptions</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Normalized annual expenditure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Yearly plans divided by 12</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Provider handoff / cancellation status update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Cancel with Apple, then update Subscript</a:t>
                      </a:r>
                    </a:p>
                  </a:txBody>
                  <a:tcPr marL="91440" marR="91440" marT="45720" marB="45720">
                    <a:solidFill>
                      <a:srgbClr val="19191F"/>
                    </a:solidFill>
                  </a:tcPr>
                </a:tc>
              </a:tr>
            </a:tbl>
          </a:graphicData>
        </a:graphic>
      </p:graphicFrame>
    </p:spTree>
    <p:extLst>
      <p:ext uri="{BB962C8B-B14F-4D97-AF65-F5344CB8AC3E}">
        <p14:creationId xmlns:p14="http://schemas.microsoft.com/office/powerpoint/2010/main" val="1515206081"/>
      </p:ext>
    </p:extLst>
  </p:cSld>
</p:sld>
</file>

<file path=ppt/slides/slide4.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018504-0E90-4E9D-944C-B06D386EAA47}"/>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BA67EEBA-3179-4B08-A1BC-45814BB44C1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04</a:t>
            </a:r>
          </a:p>
        </p:txBody>
      </p:sp>
      <p:sp>
        <p:nvSpPr>
          <p:cNvPr id="3" name="">
            <a:extLst xmlns:a="http://schemas.openxmlformats.org/drawingml/2006/main">
              <a:ext uri="{FF2B5EF4-FFF2-40B4-BE49-F238E27FC236}">
                <a16:creationId xmlns:a16="http://schemas.microsoft.com/office/drawing/2014/main" id="{F2EA8EFA-2AFC-48D0-9448-2CBA3E6B9B8C}"/>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The interactive demo</a:t>
            </a:r>
          </a:p>
        </p:txBody>
      </p:sp>
      <p:sp>
        <p:nvSpPr>
          <p:cNvPr id="4" name="">
            <a:extLst xmlns:a="http://schemas.openxmlformats.org/drawingml/2006/main">
              <a:ext uri="{FF2B5EF4-FFF2-40B4-BE49-F238E27FC236}">
                <a16:creationId xmlns:a16="http://schemas.microsoft.com/office/drawing/2014/main" id="{6205F98C-CBCF-47EB-9CDC-ADC15370A3F1}"/>
              </a:ext>
            </a:extLst>
          </p:cNvPr>
          <p:cNvSpPr>
            <a:spLocks xmlns:a="http://schemas.openxmlformats.org/drawingml/2006/main" noGrp="1"/>
          </p:cNvSpPr>
          <p:nvPr/>
        </p:nvSpPr>
        <p:spPr>
          <a:xfrm xmlns:a="http://schemas.openxmlformats.org/drawingml/2006/main">
            <a:off x="762000" y="2857500"/>
            <a:ext cx="800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F7F7FA"/>
                </a:solidFill>
                <a:latin typeface="Geist"/>
                <a:ea typeface="Geist"/>
                <a:cs typeface="Geist"/>
              </a:defRPr>
            </a:defPPr>
          </a:lstStyle>
          <a:p xmlns:a="http://schemas.openxmlformats.org/drawingml/2006/main">
            <a:pPr>
              <a:defRPr sz="4950" b="1">
                <a:solidFill>
                  <a:srgbClr val="F7F7FA"/>
                </a:solidFill>
                <a:latin typeface="Geist"/>
                <a:ea typeface="Geist"/>
                <a:cs typeface="Geist"/>
              </a:defRPr>
            </a:pPr>
            <a:r>
              <a:rPr sz="4950" b="1">
                <a:solidFill>
                  <a:srgbClr val="F7F7FA"/>
                </a:solidFill>
                <a:latin typeface="Geist"/>
                <a:ea typeface="Geist"/>
                <a:cs typeface="Geist"/>
              </a:rPr>
              <a:t>Open Subscript</a:t>
            </a:r>
          </a:p>
        </p:txBody>
      </p:sp>
      <p:sp>
        <p:nvSpPr>
          <p:cNvPr id="5" name="">
            <a:extLst xmlns:a="http://schemas.openxmlformats.org/drawingml/2006/main">
              <a:ext uri="{FF2B5EF4-FFF2-40B4-BE49-F238E27FC236}">
                <a16:creationId xmlns:a16="http://schemas.microsoft.com/office/drawing/2014/main" id="{73F71357-9773-417A-B983-D8160729F08F}"/>
              </a:ext>
            </a:extLst>
          </p:cNvPr>
          <p:cNvSpPr>
            <a:spLocks xmlns:a="http://schemas.openxmlformats.org/drawingml/2006/main" noGrp="1"/>
          </p:cNvSpPr>
          <p:nvPr/>
        </p:nvSpPr>
        <p:spPr>
          <a:xfrm xmlns:a="http://schemas.openxmlformats.org/drawingml/2006/main">
            <a:off x="762000" y="39052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91B4FF"/>
                </a:solidFill>
                <a:latin typeface="Geist"/>
                <a:ea typeface="Geist"/>
                <a:cs typeface="Geist"/>
              </a:defRPr>
            </a:defPPr>
          </a:lstStyle>
          <a:p xmlns:a="http://schemas.openxmlformats.org/drawingml/2006/main">
            <a:pPr>
              <a:defRPr sz="2400" b="0">
                <a:solidFill>
                  <a:srgbClr val="91B4FF"/>
                </a:solidFill>
                <a:latin typeface="Geist"/>
                <a:ea typeface="Geist"/>
                <a:cs typeface="Geist"/>
              </a:defRPr>
            </a:pPr>
            <a:r>
              <a:rPr sz="2400" b="0">
                <a:solidFill>
                  <a:srgbClr val="91B4FF"/>
                </a:solidFill>
                <a:latin typeface="Geist"/>
                <a:ea typeface="Geist"/>
                <a:cs typeface="Geist"/>
                <a:hlinkClick xmlns:r="http://schemas.openxmlformats.org/officeDocument/2006/relationships" r:id="R3068a084afc04e56"/>
              </a:rPr>
              <a:t>subscription-app-alpha-vert.vercel.app</a:t>
            </a:r>
          </a:p>
        </p:txBody>
      </p:sp>
      <p:sp>
        <p:nvSpPr>
          <p:cNvPr id="6" name="">
            <a:extLst xmlns:a="http://schemas.openxmlformats.org/drawingml/2006/main">
              <a:ext uri="{FF2B5EF4-FFF2-40B4-BE49-F238E27FC236}">
                <a16:creationId xmlns:a16="http://schemas.microsoft.com/office/drawing/2014/main" id="{25E96A07-0937-4D08-AFB5-BB96954463FA}"/>
              </a:ext>
            </a:extLst>
          </p:cNvPr>
          <p:cNvSpPr>
            <a:spLocks xmlns:a="http://schemas.openxmlformats.org/drawingml/2006/main" noGrp="1"/>
          </p:cNvSpPr>
          <p:nvPr/>
        </p:nvSpPr>
        <p:spPr>
          <a:xfrm xmlns:a="http://schemas.openxmlformats.org/drawingml/2006/main">
            <a:off x="762000" y="4733925"/>
            <a:ext cx="809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Scan the QR code or click the link.</a:t>
            </a:r>
          </a:p>
        </p:txBody>
      </p:sp>
      <p:sp>
        <p:nvSpPr>
          <p:cNvPr id="7" name="">
            <a:extLst xmlns:a="http://schemas.openxmlformats.org/drawingml/2006/main">
              <a:ext uri="{FF2B5EF4-FFF2-40B4-BE49-F238E27FC236}">
                <a16:creationId xmlns:a16="http://schemas.microsoft.com/office/drawing/2014/main" id="{7B364D76-20A2-4F7A-9989-2744743DF62A}"/>
              </a:ext>
            </a:extLst>
          </p:cNvPr>
          <p:cNvSpPr>
            <a:spLocks xmlns:a="http://schemas.openxmlformats.org/drawingml/2006/main" noGrp="1"/>
          </p:cNvSpPr>
          <p:nvPr/>
        </p:nvSpPr>
        <p:spPr>
          <a:xfrm xmlns:a="http://schemas.openxmlformats.org/drawingml/2006/main">
            <a:off x="762000" y="5772150"/>
            <a:ext cx="7953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7F7FA"/>
                </a:solidFill>
                <a:latin typeface="Geist"/>
                <a:ea typeface="Geist"/>
                <a:cs typeface="Geist"/>
              </a:defRPr>
            </a:defPPr>
          </a:lstStyle>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Choose “Explore the demo” to open Home.</a:t>
            </a:r>
          </a:p>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Open Apple TV to review the renewal and cancellation flow.</a:t>
            </a:r>
          </a:p>
        </p:txBody>
      </p:sp>
      <p:sp>
        <p:nvSpPr>
          <p:cNvPr id="8" name="">
            <a:extLst xmlns:a="http://schemas.openxmlformats.org/drawingml/2006/main">
              <a:ext uri="{FF2B5EF4-FFF2-40B4-BE49-F238E27FC236}">
                <a16:creationId xmlns:a16="http://schemas.microsoft.com/office/drawing/2014/main" id="{38373B5D-07E6-4AA8-8916-1FD8DD955524}"/>
              </a:ext>
            </a:extLst>
          </p:cNvPr>
          <p:cNvSpPr>
            <a:spLocks xmlns:a="http://schemas.openxmlformats.org/drawingml/2006/main" noGrp="1"/>
          </p:cNvSpPr>
          <p:nvPr/>
        </p:nvSpPr>
        <p:spPr>
          <a:xfrm xmlns:a="http://schemas.openxmlformats.org/drawingml/2006/main">
            <a:off x="762000" y="7667625"/>
            <a:ext cx="1238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Sample data only. No real bank connection or payment.</a:t>
            </a:r>
          </a:p>
        </p:txBody>
      </p:sp>
      <p:pic>
        <p:nvPicPr>
          <p:cNvPr id="9" name="">
            <a:extLst xmlns:a="http://schemas.openxmlformats.org/drawingml/2006/main">
              <a:ext uri="{FF2B5EF4-FFF2-40B4-BE49-F238E27FC236}">
                <a16:creationId xmlns:a16="http://schemas.microsoft.com/office/drawing/2014/main" id="{0152CD76-426A-46C3-AC63-F0653A7EFE1A}"/>
              </a:ext>
            </a:extLst>
          </p:cNvPr>
          <p:cNvPicPr>
            <a:picLocks xmlns:a="http://schemas.openxmlformats.org/drawingml/2006/main" noChangeAspect="1"/>
          </p:cNvPicPr>
          <p:nvPr/>
        </p:nvPicPr>
        <p:blipFill>
          <a:blip xmlns:r="http://schemas.openxmlformats.org/officeDocument/2006/relationships" xmlns:a="http://schemas.openxmlformats.org/drawingml/2006/main" r:embed="R23aed8b66a9a42fa"/>
          <a:stretch xmlns:a="http://schemas.openxmlformats.org/drawingml/2006/main"/>
        </p:blipFill>
        <p:spPr>
          <a:xfrm xmlns:a="http://schemas.openxmlformats.org/drawingml/2006/main">
            <a:off x="9810750" y="2667000"/>
            <a:ext cx="4572000" cy="4572000"/>
          </a:xfrm>
          <a:prstGeom xmlns:a="http://schemas.openxmlformats.org/drawingml/2006/main" prst="rect">
            <a:avLst/>
          </a:prstGeom>
        </p:spPr>
      </p:pic>
    </p:spTree>
    <p:extLst>
      <p:ext uri="{BB962C8B-B14F-4D97-AF65-F5344CB8AC3E}">
        <p14:creationId xmlns:p14="http://schemas.microsoft.com/office/powerpoint/2010/main" val="1801816072"/>
      </p:ext>
    </p:extLst>
  </p:cSld>
</p:sld>
</file>

<file path=ppt/slides/slide5.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5CF913-E7DF-43A6-8E89-A9F724000DBD}"/>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5AAB7B97-DA54-4FB1-AF9E-D42085F527EE}"/>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05</a:t>
            </a:r>
          </a:p>
        </p:txBody>
      </p:sp>
      <p:sp>
        <p:nvSpPr>
          <p:cNvPr id="3" name="">
            <a:extLst xmlns:a="http://schemas.openxmlformats.org/drawingml/2006/main">
              <a:ext uri="{FF2B5EF4-FFF2-40B4-BE49-F238E27FC236}">
                <a16:creationId xmlns:a16="http://schemas.microsoft.com/office/drawing/2014/main" id="{EA61EB56-C4C3-45B0-B35E-C4B217E75EB5}"/>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The first screen</a:t>
            </a:r>
          </a:p>
        </p:txBody>
      </p:sp>
      <p:sp>
        <p:nvSpPr>
          <p:cNvPr id="4" name="">
            <a:extLst xmlns:a="http://schemas.openxmlformats.org/drawingml/2006/main">
              <a:ext uri="{FF2B5EF4-FFF2-40B4-BE49-F238E27FC236}">
                <a16:creationId xmlns:a16="http://schemas.microsoft.com/office/drawing/2014/main" id="{68EAC366-3764-4092-AEC5-B5770BE1D59A}"/>
              </a:ext>
            </a:extLst>
          </p:cNvPr>
          <p:cNvSpPr>
            <a:spLocks xmlns:a="http://schemas.openxmlformats.org/drawingml/2006/main" noGrp="1"/>
          </p:cNvSpPr>
          <p:nvPr/>
        </p:nvSpPr>
        <p:spPr>
          <a:xfrm xmlns:a="http://schemas.openxmlformats.org/drawingml/2006/main">
            <a:off x="762000" y="2628900"/>
            <a:ext cx="84296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clear promise,</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visible next step</a:t>
            </a:r>
          </a:p>
        </p:txBody>
      </p:sp>
      <p:sp>
        <p:nvSpPr>
          <p:cNvPr id="5" name="">
            <a:extLst xmlns:a="http://schemas.openxmlformats.org/drawingml/2006/main">
              <a:ext uri="{FF2B5EF4-FFF2-40B4-BE49-F238E27FC236}">
                <a16:creationId xmlns:a16="http://schemas.microsoft.com/office/drawing/2014/main" id="{B5BD3013-E499-458C-A68F-3200CD7CE65E}"/>
              </a:ext>
            </a:extLst>
          </p:cNvPr>
          <p:cNvSpPr>
            <a:spLocks xmlns:a="http://schemas.openxmlformats.org/drawingml/2006/main" noGrp="1"/>
          </p:cNvSpPr>
          <p:nvPr/>
        </p:nvSpPr>
        <p:spPr>
          <a:xfrm xmlns:a="http://schemas.openxmlformats.org/drawingml/2006/main">
            <a:off x="762000" y="45624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“All your subscriptions. One place.”</a:t>
            </a:r>
          </a:p>
        </p:txBody>
      </p:sp>
      <p:sp>
        <p:nvSpPr>
          <p:cNvPr id="6" name="">
            <a:extLst xmlns:a="http://schemas.openxmlformats.org/drawingml/2006/main">
              <a:ext uri="{FF2B5EF4-FFF2-40B4-BE49-F238E27FC236}">
                <a16:creationId xmlns:a16="http://schemas.microsoft.com/office/drawing/2014/main" id="{A1F3FB49-5727-4738-ADA8-F7CD8A689F22}"/>
              </a:ext>
            </a:extLst>
          </p:cNvPr>
          <p:cNvSpPr>
            <a:spLocks xmlns:a="http://schemas.openxmlformats.org/drawingml/2006/main" noGrp="1"/>
          </p:cNvSpPr>
          <p:nvPr/>
        </p:nvSpPr>
        <p:spPr>
          <a:xfrm xmlns:a="http://schemas.openxmlformats.org/drawingml/2006/main">
            <a:off x="762000" y="506730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The headline explains the product in familiar words.</a:t>
            </a:r>
          </a:p>
        </p:txBody>
      </p:sp>
      <p:sp>
        <p:nvSpPr>
          <p:cNvPr id="7" name="">
            <a:extLst xmlns:a="http://schemas.openxmlformats.org/drawingml/2006/main">
              <a:ext uri="{FF2B5EF4-FFF2-40B4-BE49-F238E27FC236}">
                <a16:creationId xmlns:a16="http://schemas.microsoft.com/office/drawing/2014/main" id="{7DCF83D4-1949-4971-AE9C-C12130981D97}"/>
              </a:ext>
            </a:extLst>
          </p:cNvPr>
          <p:cNvSpPr>
            <a:spLocks xmlns:a="http://schemas.openxmlformats.org/drawingml/2006/main" noGrp="1"/>
          </p:cNvSpPr>
          <p:nvPr/>
        </p:nvSpPr>
        <p:spPr>
          <a:xfrm xmlns:a="http://schemas.openxmlformats.org/drawingml/2006/main">
            <a:off x="762000" y="614362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“Get started” and “Explore the demo”</a:t>
            </a:r>
          </a:p>
        </p:txBody>
      </p:sp>
      <p:sp>
        <p:nvSpPr>
          <p:cNvPr id="8" name="">
            <a:extLst xmlns:a="http://schemas.openxmlformats.org/drawingml/2006/main">
              <a:ext uri="{FF2B5EF4-FFF2-40B4-BE49-F238E27FC236}">
                <a16:creationId xmlns:a16="http://schemas.microsoft.com/office/drawing/2014/main" id="{2FF53EC9-5B4A-4E2A-9703-32F27708AC8A}"/>
              </a:ext>
            </a:extLst>
          </p:cNvPr>
          <p:cNvSpPr>
            <a:spLocks xmlns:a="http://schemas.openxmlformats.org/drawingml/2006/main" noGrp="1"/>
          </p:cNvSpPr>
          <p:nvPr/>
        </p:nvSpPr>
        <p:spPr>
          <a:xfrm xmlns:a="http://schemas.openxmlformats.org/drawingml/2006/main">
            <a:off x="762000" y="664845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Two direct paths let people set up or try the sample data.</a:t>
            </a:r>
          </a:p>
        </p:txBody>
      </p:sp>
      <p:sp>
        <p:nvSpPr>
          <p:cNvPr id="9" name="">
            <a:extLst xmlns:a="http://schemas.openxmlformats.org/drawingml/2006/main">
              <a:ext uri="{FF2B5EF4-FFF2-40B4-BE49-F238E27FC236}">
                <a16:creationId xmlns:a16="http://schemas.microsoft.com/office/drawing/2014/main" id="{D346574F-9664-4FB3-A35E-C56FFAB25A41}"/>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0" name="">
            <a:extLst xmlns:a="http://schemas.openxmlformats.org/drawingml/2006/main">
              <a:ext uri="{FF2B5EF4-FFF2-40B4-BE49-F238E27FC236}">
                <a16:creationId xmlns:a16="http://schemas.microsoft.com/office/drawing/2014/main" id="{7A8A71B3-6351-426A-8983-382773170E2F}"/>
              </a:ext>
            </a:extLst>
          </p:cNvPr>
          <p:cNvPicPr>
            <a:picLocks xmlns:a="http://schemas.openxmlformats.org/drawingml/2006/main" noChangeAspect="1"/>
          </p:cNvPicPr>
          <p:nvPr/>
        </p:nvPicPr>
        <p:blipFill>
          <a:blip xmlns:r="http://schemas.openxmlformats.org/officeDocument/2006/relationships" xmlns:a="http://schemas.openxmlformats.org/drawingml/2006/main" r:embed="R0543a315a7d846f6"/>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1" name="">
            <a:extLst xmlns:a="http://schemas.openxmlformats.org/drawingml/2006/main">
              <a:ext uri="{FF2B5EF4-FFF2-40B4-BE49-F238E27FC236}">
                <a16:creationId xmlns:a16="http://schemas.microsoft.com/office/drawing/2014/main" id="{9227A8E6-E911-41EE-85AD-CFF410F775D4}"/>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97F9239D-DB85-4657-AEFA-D4DDA4E36FD1}"/>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220827768"/>
      </p:ext>
    </p:extLst>
  </p:cSld>
</p:sld>
</file>

<file path=ppt/slides/slide6.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6FA83B-B556-40B0-81BB-567328AF794C}"/>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53431CF9-5E07-4679-8366-552B091737FC}"/>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06</a:t>
            </a:r>
          </a:p>
        </p:txBody>
      </p:sp>
      <p:sp>
        <p:nvSpPr>
          <p:cNvPr id="3" name="">
            <a:extLst xmlns:a="http://schemas.openxmlformats.org/drawingml/2006/main">
              <a:ext uri="{FF2B5EF4-FFF2-40B4-BE49-F238E27FC236}">
                <a16:creationId xmlns:a16="http://schemas.microsoft.com/office/drawing/2014/main" id="{640EAF69-998A-40F7-ADAE-455D5789A7A8}"/>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Home</a:t>
            </a:r>
          </a:p>
        </p:txBody>
      </p:sp>
      <p:sp>
        <p:nvSpPr>
          <p:cNvPr id="4" name="">
            <a:extLst xmlns:a="http://schemas.openxmlformats.org/drawingml/2006/main">
              <a:ext uri="{FF2B5EF4-FFF2-40B4-BE49-F238E27FC236}">
                <a16:creationId xmlns:a16="http://schemas.microsoft.com/office/drawing/2014/main" id="{268524F0-A5A2-4B78-B25D-291E0CCF78A5}"/>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One overview of</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costs and renewals</a:t>
            </a:r>
          </a:p>
        </p:txBody>
      </p:sp>
      <p:sp>
        <p:nvSpPr>
          <p:cNvPr id="5" name="">
            <a:extLst xmlns:a="http://schemas.openxmlformats.org/drawingml/2006/main">
              <a:ext uri="{FF2B5EF4-FFF2-40B4-BE49-F238E27FC236}">
                <a16:creationId xmlns:a16="http://schemas.microsoft.com/office/drawing/2014/main" id="{5E1BE09C-4C91-4BFF-BB52-3FE3B6904CCD}"/>
              </a:ext>
            </a:extLst>
          </p:cNvPr>
          <p:cNvSpPr>
            <a:spLocks xmlns:a="http://schemas.openxmlformats.org/drawingml/2006/main" noGrp="1"/>
          </p:cNvSpPr>
          <p:nvPr/>
        </p:nvSpPr>
        <p:spPr>
          <a:xfrm xmlns:a="http://schemas.openxmlformats.org/drawingml/2006/main">
            <a:off x="762000" y="43529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“Monthly average” with the calculation</a:t>
            </a:r>
          </a:p>
        </p:txBody>
      </p:sp>
      <p:sp>
        <p:nvSpPr>
          <p:cNvPr id="6" name="">
            <a:extLst xmlns:a="http://schemas.openxmlformats.org/drawingml/2006/main">
              <a:ext uri="{FF2B5EF4-FFF2-40B4-BE49-F238E27FC236}">
                <a16:creationId xmlns:a16="http://schemas.microsoft.com/office/drawing/2014/main" id="{B84ACCBC-5121-43C1-9225-E1639B0A97F6}"/>
              </a:ext>
            </a:extLst>
          </p:cNvPr>
          <p:cNvSpPr>
            <a:spLocks xmlns:a="http://schemas.openxmlformats.org/drawingml/2006/main" noGrp="1"/>
          </p:cNvSpPr>
          <p:nvPr/>
        </p:nvSpPr>
        <p:spPr>
          <a:xfrm xmlns:a="http://schemas.openxmlformats.org/drawingml/2006/main">
            <a:off x="762000" y="485775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“Yearly plans divided by 12” explains what the €39 represents.</a:t>
            </a:r>
          </a:p>
        </p:txBody>
      </p:sp>
      <p:sp>
        <p:nvSpPr>
          <p:cNvPr id="7" name="">
            <a:extLst xmlns:a="http://schemas.openxmlformats.org/drawingml/2006/main">
              <a:ext uri="{FF2B5EF4-FFF2-40B4-BE49-F238E27FC236}">
                <a16:creationId xmlns:a16="http://schemas.microsoft.com/office/drawing/2014/main" id="{1A880936-D306-4CBE-81C0-08540D2AC24D}"/>
              </a:ext>
            </a:extLst>
          </p:cNvPr>
          <p:cNvSpPr>
            <a:spLocks xmlns:a="http://schemas.openxmlformats.org/drawingml/2006/main" noGrp="1"/>
          </p:cNvSpPr>
          <p:nvPr/>
        </p:nvSpPr>
        <p:spPr>
          <a:xfrm xmlns:a="http://schemas.openxmlformats.org/drawingml/2006/main">
            <a:off x="762000" y="58864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“Estimated next payments”</a:t>
            </a:r>
          </a:p>
        </p:txBody>
      </p:sp>
      <p:sp>
        <p:nvSpPr>
          <p:cNvPr id="8" name="">
            <a:extLst xmlns:a="http://schemas.openxmlformats.org/drawingml/2006/main">
              <a:ext uri="{FF2B5EF4-FFF2-40B4-BE49-F238E27FC236}">
                <a16:creationId xmlns:a16="http://schemas.microsoft.com/office/drawing/2014/main" id="{B8381195-7FBC-4DFA-B41E-94FC6DCAADE5}"/>
              </a:ext>
            </a:extLst>
          </p:cNvPr>
          <p:cNvSpPr>
            <a:spLocks xmlns:a="http://schemas.openxmlformats.org/drawingml/2006/main" noGrp="1"/>
          </p:cNvSpPr>
          <p:nvPr/>
        </p:nvSpPr>
        <p:spPr>
          <a:xfrm xmlns:a="http://schemas.openxmlformats.org/drawingml/2006/main">
            <a:off x="762000" y="63912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Apple TV still shows €120, billed yearly. Its €10 monthly average helps compare costs without changing the bill.</a:t>
            </a:r>
          </a:p>
        </p:txBody>
      </p:sp>
      <p:sp>
        <p:nvSpPr>
          <p:cNvPr id="9" name="">
            <a:extLst xmlns:a="http://schemas.openxmlformats.org/drawingml/2006/main">
              <a:ext uri="{FF2B5EF4-FFF2-40B4-BE49-F238E27FC236}">
                <a16:creationId xmlns:a16="http://schemas.microsoft.com/office/drawing/2014/main" id="{5DEB9A76-51C2-41A5-BCA9-ACBDA6E95243}"/>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Demo snapshot: November 2026</a:t>
            </a:r>
          </a:p>
        </p:txBody>
      </p:sp>
      <p:sp>
        <p:nvSpPr>
          <p:cNvPr id="10" name="">
            <a:extLst xmlns:a="http://schemas.openxmlformats.org/drawingml/2006/main">
              <a:ext uri="{FF2B5EF4-FFF2-40B4-BE49-F238E27FC236}">
                <a16:creationId xmlns:a16="http://schemas.microsoft.com/office/drawing/2014/main" id="{B806651F-3F0F-49E5-868B-722507B36A81}"/>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6B795A92-DEDC-4807-80E1-0C347E24F494}"/>
              </a:ext>
            </a:extLst>
          </p:cNvPr>
          <p:cNvPicPr>
            <a:picLocks xmlns:a="http://schemas.openxmlformats.org/drawingml/2006/main" noChangeAspect="1"/>
          </p:cNvPicPr>
          <p:nvPr/>
        </p:nvPicPr>
        <p:blipFill>
          <a:blip xmlns:r="http://schemas.openxmlformats.org/officeDocument/2006/relationships" xmlns:a="http://schemas.openxmlformats.org/drawingml/2006/main" r:embed="R323a6446d1ce4e34"/>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9E7307FE-C630-43C8-A542-B1BA92178E2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1C5761F-F269-4D7D-BDB5-B4FBEBAE3B0B}"/>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1944338986"/>
      </p:ext>
    </p:extLst>
  </p:cSld>
</p:sld>
</file>

<file path=ppt/slides/slide7.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FDC806-34A8-4186-B6CF-F87488BE07BF}"/>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E13D662D-ADE0-4346-9219-F009E863B03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07</a:t>
            </a:r>
          </a:p>
        </p:txBody>
      </p:sp>
      <p:sp>
        <p:nvSpPr>
          <p:cNvPr id="3" name="">
            <a:extLst xmlns:a="http://schemas.openxmlformats.org/drawingml/2006/main">
              <a:ext uri="{FF2B5EF4-FFF2-40B4-BE49-F238E27FC236}">
                <a16:creationId xmlns:a16="http://schemas.microsoft.com/office/drawing/2014/main" id="{5914321E-A426-4150-8861-B3B2BDD9FAFD}"/>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Profile</a:t>
            </a:r>
          </a:p>
        </p:txBody>
      </p:sp>
      <p:sp>
        <p:nvSpPr>
          <p:cNvPr id="4" name="">
            <a:extLst xmlns:a="http://schemas.openxmlformats.org/drawingml/2006/main">
              <a:ext uri="{FF2B5EF4-FFF2-40B4-BE49-F238E27FC236}">
                <a16:creationId xmlns:a16="http://schemas.microsoft.com/office/drawing/2014/main" id="{0521CCEB-0F6F-4D68-B249-B00B2168090C}"/>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Account information</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and controls together</a:t>
            </a:r>
          </a:p>
        </p:txBody>
      </p:sp>
      <p:sp>
        <p:nvSpPr>
          <p:cNvPr id="5" name="">
            <a:extLst xmlns:a="http://schemas.openxmlformats.org/drawingml/2006/main">
              <a:ext uri="{FF2B5EF4-FFF2-40B4-BE49-F238E27FC236}">
                <a16:creationId xmlns:a16="http://schemas.microsoft.com/office/drawing/2014/main" id="{CA44F60C-ED1B-4226-B355-ECFEE8993BFB}"/>
              </a:ext>
            </a:extLst>
          </p:cNvPr>
          <p:cNvSpPr>
            <a:spLocks xmlns:a="http://schemas.openxmlformats.org/drawingml/2006/main" noGrp="1"/>
          </p:cNvSpPr>
          <p:nvPr/>
        </p:nvSpPr>
        <p:spPr>
          <a:xfrm xmlns:a="http://schemas.openxmlformats.org/drawingml/2006/main">
            <a:off x="762000" y="4333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“Linked accounts” and “Your subscriptions”</a:t>
            </a:r>
          </a:p>
        </p:txBody>
      </p:sp>
      <p:sp>
        <p:nvSpPr>
          <p:cNvPr id="6" name="">
            <a:extLst xmlns:a="http://schemas.openxmlformats.org/drawingml/2006/main">
              <a:ext uri="{FF2B5EF4-FFF2-40B4-BE49-F238E27FC236}">
                <a16:creationId xmlns:a16="http://schemas.microsoft.com/office/drawing/2014/main" id="{B9749777-97E4-441C-9EB5-9425BDDB0A39}"/>
              </a:ext>
            </a:extLst>
          </p:cNvPr>
          <p:cNvSpPr>
            <a:spLocks xmlns:a="http://schemas.openxmlformats.org/drawingml/2006/main" noGrp="1"/>
          </p:cNvSpPr>
          <p:nvPr/>
        </p:nvSpPr>
        <p:spPr>
          <a:xfrm xmlns:a="http://schemas.openxmlformats.org/drawingml/2006/main">
            <a:off x="762000" y="4838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Visible counts make the current account state easy to read.</a:t>
            </a:r>
          </a:p>
        </p:txBody>
      </p:sp>
      <p:sp>
        <p:nvSpPr>
          <p:cNvPr id="7" name="">
            <a:extLst xmlns:a="http://schemas.openxmlformats.org/drawingml/2006/main">
              <a:ext uri="{FF2B5EF4-FFF2-40B4-BE49-F238E27FC236}">
                <a16:creationId xmlns:a16="http://schemas.microsoft.com/office/drawing/2014/main" id="{5FF581CE-BB25-4193-B7F7-1A8B1FC5C9CE}"/>
              </a:ext>
            </a:extLst>
          </p:cNvPr>
          <p:cNvSpPr>
            <a:spLocks xmlns:a="http://schemas.openxmlformats.org/drawingml/2006/main" noGrp="1"/>
          </p:cNvSpPr>
          <p:nvPr/>
        </p:nvSpPr>
        <p:spPr>
          <a:xfrm xmlns:a="http://schemas.openxmlformats.org/drawingml/2006/main">
            <a:off x="762000" y="5857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“Privacy” and “Notification settings”</a:t>
            </a:r>
          </a:p>
        </p:txBody>
      </p:sp>
      <p:sp>
        <p:nvSpPr>
          <p:cNvPr id="8" name="">
            <a:extLst xmlns:a="http://schemas.openxmlformats.org/drawingml/2006/main">
              <a:ext uri="{FF2B5EF4-FFF2-40B4-BE49-F238E27FC236}">
                <a16:creationId xmlns:a16="http://schemas.microsoft.com/office/drawing/2014/main" id="{42B82DE3-4AD5-47AC-86A1-C7736925EB92}"/>
              </a:ext>
            </a:extLst>
          </p:cNvPr>
          <p:cNvSpPr>
            <a:spLocks xmlns:a="http://schemas.openxmlformats.org/drawingml/2006/main" noGrp="1"/>
          </p:cNvSpPr>
          <p:nvPr/>
        </p:nvSpPr>
        <p:spPr>
          <a:xfrm xmlns:a="http://schemas.openxmlformats.org/drawingml/2006/main">
            <a:off x="762000" y="6362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Concrete labels help people find the control they need.</a:t>
            </a:r>
          </a:p>
        </p:txBody>
      </p:sp>
      <p:sp>
        <p:nvSpPr>
          <p:cNvPr id="9" name="">
            <a:extLst xmlns:a="http://schemas.openxmlformats.org/drawingml/2006/main">
              <a:ext uri="{FF2B5EF4-FFF2-40B4-BE49-F238E27FC236}">
                <a16:creationId xmlns:a16="http://schemas.microsoft.com/office/drawing/2014/main" id="{99FE8FE1-CCB5-45AF-AC1A-91E08588FDA4}"/>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Alex Morgan is the fictional demo profile.</a:t>
            </a:r>
          </a:p>
        </p:txBody>
      </p:sp>
      <p:sp>
        <p:nvSpPr>
          <p:cNvPr id="10" name="">
            <a:extLst xmlns:a="http://schemas.openxmlformats.org/drawingml/2006/main">
              <a:ext uri="{FF2B5EF4-FFF2-40B4-BE49-F238E27FC236}">
                <a16:creationId xmlns:a16="http://schemas.microsoft.com/office/drawing/2014/main" id="{9B5B13D0-494B-4599-BA81-D13F48F61B96}"/>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22AE6930-9F28-45E2-B454-A434A7C558B4}"/>
              </a:ext>
            </a:extLst>
          </p:cNvPr>
          <p:cNvPicPr>
            <a:picLocks xmlns:a="http://schemas.openxmlformats.org/drawingml/2006/main" noChangeAspect="1"/>
          </p:cNvPicPr>
          <p:nvPr/>
        </p:nvPicPr>
        <p:blipFill>
          <a:blip xmlns:r="http://schemas.openxmlformats.org/officeDocument/2006/relationships" xmlns:a="http://schemas.openxmlformats.org/drawingml/2006/main" r:embed="Re590819cfed8401e"/>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D303939A-4B8E-406B-B678-09FC025E85D6}"/>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CE0B221-C1A6-4CD0-BE2A-833E7F647ABA}"/>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1107612537"/>
      </p:ext>
    </p:extLst>
  </p:cSld>
</p:sld>
</file>

<file path=ppt/slides/slide8.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04E2930-75E4-435C-9786-2C4406BC1AE0}"/>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84D7EC73-0753-498A-AB6B-6F924F2F478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08</a:t>
            </a:r>
          </a:p>
        </p:txBody>
      </p:sp>
      <p:sp>
        <p:nvSpPr>
          <p:cNvPr id="3" name="">
            <a:extLst xmlns:a="http://schemas.openxmlformats.org/drawingml/2006/main">
              <a:ext uri="{FF2B5EF4-FFF2-40B4-BE49-F238E27FC236}">
                <a16:creationId xmlns:a16="http://schemas.microsoft.com/office/drawing/2014/main" id="{446AAC6B-C92C-479A-81B1-73D15C248BD9}"/>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Conclusion</a:t>
            </a:r>
          </a:p>
        </p:txBody>
      </p:sp>
      <p:sp>
        <p:nvSpPr>
          <p:cNvPr id="4" name="">
            <a:extLst xmlns:a="http://schemas.openxmlformats.org/drawingml/2006/main">
              <a:ext uri="{FF2B5EF4-FFF2-40B4-BE49-F238E27FC236}">
                <a16:creationId xmlns:a16="http://schemas.microsoft.com/office/drawing/2014/main" id="{5EBE509D-80A6-456B-9B1F-466FA698CE7C}"/>
              </a:ext>
            </a:extLst>
          </p:cNvPr>
          <p:cNvSpPr>
            <a:spLocks xmlns:a="http://schemas.openxmlformats.org/drawingml/2006/main" noGrp="1"/>
          </p:cNvSpPr>
          <p:nvPr/>
        </p:nvSpPr>
        <p:spPr>
          <a:xfrm xmlns:a="http://schemas.openxmlformats.org/drawingml/2006/main">
            <a:off x="762000" y="2438400"/>
            <a:ext cx="136207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91B4FF"/>
                </a:solidFill>
                <a:latin typeface="Geist"/>
                <a:ea typeface="Geist"/>
                <a:cs typeface="Geist"/>
              </a:defRPr>
            </a:defPPr>
          </a:lstStyle>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Clear words help users understand costs,</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judge renewal estimates and cancel</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with the right provider.</a:t>
            </a:r>
          </a:p>
        </p:txBody>
      </p:sp>
      <p:sp>
        <p:nvSpPr>
          <p:cNvPr id="5" name="">
            <a:extLst xmlns:a="http://schemas.openxmlformats.org/drawingml/2006/main">
              <a:ext uri="{FF2B5EF4-FFF2-40B4-BE49-F238E27FC236}">
                <a16:creationId xmlns:a16="http://schemas.microsoft.com/office/drawing/2014/main" id="{F87925AF-9E53-4B6B-BA99-72F9AD9281BC}"/>
              </a:ext>
            </a:extLst>
          </p:cNvPr>
          <p:cNvSpPr>
            <a:spLocks xmlns:a="http://schemas.openxmlformats.org/drawingml/2006/main" noGrp="1"/>
          </p:cNvSpPr>
          <p:nvPr/>
        </p:nvSpPr>
        <p:spPr>
          <a:xfrm xmlns:a="http://schemas.openxmlformats.org/drawingml/2006/main">
            <a:off x="76200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Cost comprehension</a:t>
            </a:r>
          </a:p>
        </p:txBody>
      </p:sp>
      <p:sp>
        <p:nvSpPr>
          <p:cNvPr id="6" name="">
            <a:extLst xmlns:a="http://schemas.openxmlformats.org/drawingml/2006/main">
              <a:ext uri="{FF2B5EF4-FFF2-40B4-BE49-F238E27FC236}">
                <a16:creationId xmlns:a16="http://schemas.microsoft.com/office/drawing/2014/main" id="{6D21EBFC-3831-4C82-9E36-2226C027C30F}"/>
              </a:ext>
            </a:extLst>
          </p:cNvPr>
          <p:cNvSpPr>
            <a:spLocks xmlns:a="http://schemas.openxmlformats.org/drawingml/2006/main" noGrp="1"/>
          </p:cNvSpPr>
          <p:nvPr/>
        </p:nvSpPr>
        <p:spPr>
          <a:xfrm xmlns:a="http://schemas.openxmlformats.org/drawingml/2006/main">
            <a:off x="76200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questions about the €39 monthly average and the €120 yearly payment.</a:t>
            </a:r>
          </a:p>
        </p:txBody>
      </p:sp>
      <p:sp>
        <p:nvSpPr>
          <p:cNvPr id="7" name="">
            <a:extLst xmlns:a="http://schemas.openxmlformats.org/drawingml/2006/main">
              <a:ext uri="{FF2B5EF4-FFF2-40B4-BE49-F238E27FC236}">
                <a16:creationId xmlns:a16="http://schemas.microsoft.com/office/drawing/2014/main" id="{FB40A5A1-EE3C-4B07-8F08-3667B886F44E}"/>
              </a:ext>
            </a:extLst>
          </p:cNvPr>
          <p:cNvSpPr>
            <a:spLocks xmlns:a="http://schemas.openxmlformats.org/drawingml/2006/main" noGrp="1"/>
          </p:cNvSpPr>
          <p:nvPr/>
        </p:nvSpPr>
        <p:spPr>
          <a:xfrm xmlns:a="http://schemas.openxmlformats.org/drawingml/2006/main">
            <a:off x="76200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whether users explain the difference.</a:t>
            </a:r>
          </a:p>
        </p:txBody>
      </p:sp>
      <p:sp>
        <p:nvSpPr>
          <p:cNvPr id="8" name="">
            <a:extLst xmlns:a="http://schemas.openxmlformats.org/drawingml/2006/main">
              <a:ext uri="{FF2B5EF4-FFF2-40B4-BE49-F238E27FC236}">
                <a16:creationId xmlns:a16="http://schemas.microsoft.com/office/drawing/2014/main" id="{FF0E6E50-B326-4BF9-8962-C6B4E9645A1F}"/>
              </a:ext>
            </a:extLst>
          </p:cNvPr>
          <p:cNvSpPr>
            <a:spLocks xmlns:a="http://schemas.openxmlformats.org/drawingml/2006/main" noGrp="1"/>
          </p:cNvSpPr>
          <p:nvPr/>
        </p:nvSpPr>
        <p:spPr>
          <a:xfrm xmlns:a="http://schemas.openxmlformats.org/drawingml/2006/main">
            <a:off x="5495925"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Cancellation clarity</a:t>
            </a:r>
          </a:p>
        </p:txBody>
      </p:sp>
      <p:sp>
        <p:nvSpPr>
          <p:cNvPr id="9" name="">
            <a:extLst xmlns:a="http://schemas.openxmlformats.org/drawingml/2006/main">
              <a:ext uri="{FF2B5EF4-FFF2-40B4-BE49-F238E27FC236}">
                <a16:creationId xmlns:a16="http://schemas.microsoft.com/office/drawing/2014/main" id="{D9197296-4C2C-4E26-A44C-6820839010E1}"/>
              </a:ext>
            </a:extLst>
          </p:cNvPr>
          <p:cNvSpPr>
            <a:spLocks xmlns:a="http://schemas.openxmlformats.org/drawingml/2006/main" noGrp="1"/>
          </p:cNvSpPr>
          <p:nvPr/>
        </p:nvSpPr>
        <p:spPr>
          <a:xfrm xmlns:a="http://schemas.openxmlformats.org/drawingml/2006/main">
            <a:off x="5495925"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mistaken cancellation reports and billing-support requests.</a:t>
            </a:r>
          </a:p>
        </p:txBody>
      </p:sp>
      <p:sp>
        <p:nvSpPr>
          <p:cNvPr id="10" name="">
            <a:extLst xmlns:a="http://schemas.openxmlformats.org/drawingml/2006/main">
              <a:ext uri="{FF2B5EF4-FFF2-40B4-BE49-F238E27FC236}">
                <a16:creationId xmlns:a16="http://schemas.microsoft.com/office/drawing/2014/main" id="{6273492D-783E-40E8-BFF5-7AF2CCE656B7}"/>
              </a:ext>
            </a:extLst>
          </p:cNvPr>
          <p:cNvSpPr>
            <a:spLocks xmlns:a="http://schemas.openxmlformats.org/drawingml/2006/main" noGrp="1"/>
          </p:cNvSpPr>
          <p:nvPr/>
        </p:nvSpPr>
        <p:spPr>
          <a:xfrm xmlns:a="http://schemas.openxmlformats.org/drawingml/2006/main">
            <a:off x="5495925"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Test whether users identify Apple as the canceller.</a:t>
            </a:r>
          </a:p>
        </p:txBody>
      </p:sp>
      <p:sp>
        <p:nvSpPr>
          <p:cNvPr id="11" name="">
            <a:extLst xmlns:a="http://schemas.openxmlformats.org/drawingml/2006/main">
              <a:ext uri="{FF2B5EF4-FFF2-40B4-BE49-F238E27FC236}">
                <a16:creationId xmlns:a16="http://schemas.microsoft.com/office/drawing/2014/main" id="{D5F25DFF-A797-4ED2-8457-EE0CD5F64E8B}"/>
              </a:ext>
            </a:extLst>
          </p:cNvPr>
          <p:cNvSpPr>
            <a:spLocks xmlns:a="http://schemas.openxmlformats.org/drawingml/2006/main" noGrp="1"/>
          </p:cNvSpPr>
          <p:nvPr/>
        </p:nvSpPr>
        <p:spPr>
          <a:xfrm xmlns:a="http://schemas.openxmlformats.org/drawingml/2006/main">
            <a:off x="102298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Decision confidence</a:t>
            </a:r>
          </a:p>
        </p:txBody>
      </p:sp>
      <p:sp>
        <p:nvSpPr>
          <p:cNvPr id="12" name="">
            <a:extLst xmlns:a="http://schemas.openxmlformats.org/drawingml/2006/main">
              <a:ext uri="{FF2B5EF4-FFF2-40B4-BE49-F238E27FC236}">
                <a16:creationId xmlns:a16="http://schemas.microsoft.com/office/drawing/2014/main" id="{95DC6D7E-9F7D-4E15-8A95-51BBFC4BE8E7}"/>
              </a:ext>
            </a:extLst>
          </p:cNvPr>
          <p:cNvSpPr>
            <a:spLocks xmlns:a="http://schemas.openxmlformats.org/drawingml/2006/main" noGrp="1"/>
          </p:cNvSpPr>
          <p:nvPr/>
        </p:nvSpPr>
        <p:spPr>
          <a:xfrm xmlns:a="http://schemas.openxmlformats.org/drawingml/2006/main">
            <a:off x="1022985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More confident keep, edit or cancel decisions.</a:t>
            </a:r>
          </a:p>
        </p:txBody>
      </p:sp>
      <p:sp>
        <p:nvSpPr>
          <p:cNvPr id="13" name="">
            <a:extLst xmlns:a="http://schemas.openxmlformats.org/drawingml/2006/main">
              <a:ext uri="{FF2B5EF4-FFF2-40B4-BE49-F238E27FC236}">
                <a16:creationId xmlns:a16="http://schemas.microsoft.com/office/drawing/2014/main" id="{343BF5FD-E1ED-4652-BCBF-0F0210126933}"/>
              </a:ext>
            </a:extLst>
          </p:cNvPr>
          <p:cNvSpPr>
            <a:spLocks xmlns:a="http://schemas.openxmlformats.org/drawingml/2006/main" noGrp="1"/>
          </p:cNvSpPr>
          <p:nvPr/>
        </p:nvSpPr>
        <p:spPr>
          <a:xfrm xmlns:a="http://schemas.openxmlformats.org/drawingml/2006/main">
            <a:off x="1022985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completion and perceived clarity.</a:t>
            </a:r>
          </a:p>
        </p:txBody>
      </p:sp>
      <p:sp>
        <p:nvSpPr>
          <p:cNvPr id="14" name="">
            <a:extLst xmlns:a="http://schemas.openxmlformats.org/drawingml/2006/main">
              <a:ext uri="{FF2B5EF4-FFF2-40B4-BE49-F238E27FC236}">
                <a16:creationId xmlns:a16="http://schemas.microsoft.com/office/drawing/2014/main" id="{4B2EBC25-ACED-458F-BAE9-E61E43C16C37}"/>
              </a:ext>
            </a:extLst>
          </p:cNvPr>
          <p:cNvSpPr>
            <a:spLocks xmlns:a="http://schemas.openxmlformats.org/drawingml/2006/main" noGrp="1"/>
          </p:cNvSpPr>
          <p:nvPr/>
        </p:nvSpPr>
        <p:spPr>
          <a:xfrm xmlns:a="http://schemas.openxmlformats.org/drawingml/2006/main">
            <a:off x="762000" y="8124825"/>
            <a:ext cx="1343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A6A6AE"/>
                </a:solidFill>
                <a:latin typeface="Geist"/>
                <a:ea typeface="Geist"/>
                <a:cs typeface="Geist"/>
              </a:defRPr>
            </a:defPPr>
          </a:lstStyle>
          <a:p xmlns:a="http://schemas.openxmlformats.org/drawingml/2006/main">
            <a:pPr>
              <a:defRPr sz="1575" b="0">
                <a:solidFill>
                  <a:srgbClr val="A6A6AE"/>
                </a:solidFill>
                <a:latin typeface="Geist"/>
                <a:ea typeface="Geist"/>
                <a:cs typeface="Geist"/>
              </a:defRPr>
            </a:pPr>
            <a:r>
              <a:rPr sz="1575" b="0">
                <a:solidFill>
                  <a:srgbClr val="A6A6AE"/>
                </a:solidFill>
                <a:latin typeface="Geist"/>
                <a:ea typeface="Geist"/>
                <a:cs typeface="Geist"/>
              </a:rPr>
              <a:t>Expected impacts to test, not measured results or verified savings.</a:t>
            </a:r>
          </a:p>
        </p:txBody>
      </p:sp>
    </p:spTree>
    <p:extLst>
      <p:ext uri="{BB962C8B-B14F-4D97-AF65-F5344CB8AC3E}">
        <p14:creationId xmlns:p14="http://schemas.microsoft.com/office/powerpoint/2010/main" val="143558770"/>
      </p:ext>
    </p:extLst>
  </p:cSld>
</p:sld>
</file>

<file path=ppt/slides/slide9.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2C0CD77-D224-4949-8A26-26259D8E0714}"/>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9EE59AFD-573C-4453-AA90-4944FF6E654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09</a:t>
            </a:r>
          </a:p>
        </p:txBody>
      </p:sp>
      <p:sp>
        <p:nvSpPr>
          <p:cNvPr id="3" name="">
            <a:extLst xmlns:a="http://schemas.openxmlformats.org/drawingml/2006/main">
              <a:ext uri="{FF2B5EF4-FFF2-40B4-BE49-F238E27FC236}">
                <a16:creationId xmlns:a16="http://schemas.microsoft.com/office/drawing/2014/main" id="{046C93B7-02A4-40F7-A430-8A157DE0E0E7}"/>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Going further</a:t>
            </a:r>
          </a:p>
        </p:txBody>
      </p:sp>
      <p:sp>
        <p:nvSpPr>
          <p:cNvPr id="4" name="">
            <a:extLst xmlns:a="http://schemas.openxmlformats.org/drawingml/2006/main">
              <a:ext uri="{FF2B5EF4-FFF2-40B4-BE49-F238E27FC236}">
                <a16:creationId xmlns:a16="http://schemas.microsoft.com/office/drawing/2014/main" id="{D3EA72DC-F26A-403F-91F4-CB99D3231EEB}"/>
              </a:ext>
            </a:extLst>
          </p:cNvPr>
          <p:cNvSpPr>
            <a:spLocks xmlns:a="http://schemas.openxmlformats.org/drawingml/2006/main" noGrp="1"/>
          </p:cNvSpPr>
          <p:nvPr/>
        </p:nvSpPr>
        <p:spPr>
          <a:xfrm xmlns:a="http://schemas.openxmlformats.org/drawingml/2006/main">
            <a:off x="762000" y="280987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01</a:t>
            </a:r>
          </a:p>
        </p:txBody>
      </p:sp>
      <p:sp>
        <p:nvSpPr>
          <p:cNvPr id="5" name="">
            <a:extLst xmlns:a="http://schemas.openxmlformats.org/drawingml/2006/main">
              <a:ext uri="{FF2B5EF4-FFF2-40B4-BE49-F238E27FC236}">
                <a16:creationId xmlns:a16="http://schemas.microsoft.com/office/drawing/2014/main" id="{BACEF4B0-0EE5-4D29-B03A-842A82C696AA}"/>
              </a:ext>
            </a:extLst>
          </p:cNvPr>
          <p:cNvSpPr>
            <a:spLocks xmlns:a="http://schemas.openxmlformats.org/drawingml/2006/main" noGrp="1"/>
          </p:cNvSpPr>
          <p:nvPr/>
        </p:nvSpPr>
        <p:spPr>
          <a:xfrm xmlns:a="http://schemas.openxmlformats.org/drawingml/2006/main">
            <a:off x="2286000" y="280987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Five moderated tests</a:t>
            </a:r>
          </a:p>
        </p:txBody>
      </p:sp>
      <p:sp>
        <p:nvSpPr>
          <p:cNvPr id="6" name="">
            <a:extLst xmlns:a="http://schemas.openxmlformats.org/drawingml/2006/main">
              <a:ext uri="{FF2B5EF4-FFF2-40B4-BE49-F238E27FC236}">
                <a16:creationId xmlns:a16="http://schemas.microsoft.com/office/drawing/2014/main" id="{27458FBF-8895-48CE-9849-C3B81A428820}"/>
              </a:ext>
            </a:extLst>
          </p:cNvPr>
          <p:cNvSpPr>
            <a:spLocks xmlns:a="http://schemas.openxmlformats.org/drawingml/2006/main" noGrp="1"/>
          </p:cNvSpPr>
          <p:nvPr/>
        </p:nvSpPr>
        <p:spPr>
          <a:xfrm xmlns:a="http://schemas.openxmlformats.org/drawingml/2006/main">
            <a:off x="2286000" y="345757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Ask users to explain €39 versus €120, identify the estimated date, and show where billing is stopped.</a:t>
            </a:r>
          </a:p>
        </p:txBody>
      </p:sp>
      <p:sp>
        <p:nvSpPr>
          <p:cNvPr id="7" name="">
            <a:extLst xmlns:a="http://schemas.openxmlformats.org/drawingml/2006/main">
              <a:ext uri="{FF2B5EF4-FFF2-40B4-BE49-F238E27FC236}">
                <a16:creationId xmlns:a16="http://schemas.microsoft.com/office/drawing/2014/main" id="{9CD95959-1E96-454B-8204-45F686B48373}"/>
              </a:ext>
            </a:extLst>
          </p:cNvPr>
          <p:cNvSpPr>
            <a:spLocks xmlns:a="http://schemas.openxmlformats.org/drawingml/2006/main" noGrp="1"/>
          </p:cNvSpPr>
          <p:nvPr/>
        </p:nvSpPr>
        <p:spPr>
          <a:xfrm xmlns:a="http://schemas.openxmlformats.org/drawingml/2006/main">
            <a:off x="762000" y="4552950"/>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02</a:t>
            </a:r>
          </a:p>
        </p:txBody>
      </p:sp>
      <p:sp>
        <p:nvSpPr>
          <p:cNvPr id="8" name="">
            <a:extLst xmlns:a="http://schemas.openxmlformats.org/drawingml/2006/main">
              <a:ext uri="{FF2B5EF4-FFF2-40B4-BE49-F238E27FC236}">
                <a16:creationId xmlns:a16="http://schemas.microsoft.com/office/drawing/2014/main" id="{C7BFFAE7-E872-467A-93DE-79B7D2B30A49}"/>
              </a:ext>
            </a:extLst>
          </p:cNvPr>
          <p:cNvSpPr>
            <a:spLocks xmlns:a="http://schemas.openxmlformats.org/drawingml/2006/main" noGrp="1"/>
          </p:cNvSpPr>
          <p:nvPr/>
        </p:nvSpPr>
        <p:spPr>
          <a:xfrm xmlns:a="http://schemas.openxmlformats.org/drawingml/2006/main">
            <a:off x="2286000" y="45529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Verified cancellation guidance</a:t>
            </a:r>
          </a:p>
        </p:txBody>
      </p:sp>
      <p:sp>
        <p:nvSpPr>
          <p:cNvPr id="9" name="">
            <a:extLst xmlns:a="http://schemas.openxmlformats.org/drawingml/2006/main">
              <a:ext uri="{FF2B5EF4-FFF2-40B4-BE49-F238E27FC236}">
                <a16:creationId xmlns:a16="http://schemas.microsoft.com/office/drawing/2014/main" id="{F3ADC98B-66EF-4B51-B81E-95042918792A}"/>
              </a:ext>
            </a:extLst>
          </p:cNvPr>
          <p:cNvSpPr>
            <a:spLocks xmlns:a="http://schemas.openxmlformats.org/drawingml/2006/main" noGrp="1"/>
          </p:cNvSpPr>
          <p:nvPr/>
        </p:nvSpPr>
        <p:spPr>
          <a:xfrm xmlns:a="http://schemas.openxmlformats.org/drawingml/2006/main">
            <a:off x="2286000" y="5200650"/>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Check Apple’s current route. Add guidance for each platform, then test reporting, correcting and undoing a status.</a:t>
            </a:r>
          </a:p>
        </p:txBody>
      </p:sp>
      <p:sp>
        <p:nvSpPr>
          <p:cNvPr id="10" name="">
            <a:extLst xmlns:a="http://schemas.openxmlformats.org/drawingml/2006/main">
              <a:ext uri="{FF2B5EF4-FFF2-40B4-BE49-F238E27FC236}">
                <a16:creationId xmlns:a16="http://schemas.microsoft.com/office/drawing/2014/main" id="{4B079ABA-AB75-4597-95BD-7875A4EA0DEA}"/>
              </a:ext>
            </a:extLst>
          </p:cNvPr>
          <p:cNvSpPr>
            <a:spLocks xmlns:a="http://schemas.openxmlformats.org/drawingml/2006/main" noGrp="1"/>
          </p:cNvSpPr>
          <p:nvPr/>
        </p:nvSpPr>
        <p:spPr>
          <a:xfrm xmlns:a="http://schemas.openxmlformats.org/drawingml/2006/main">
            <a:off x="762000" y="629602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03</a:t>
            </a:r>
          </a:p>
        </p:txBody>
      </p:sp>
      <p:sp>
        <p:nvSpPr>
          <p:cNvPr id="11" name="">
            <a:extLst xmlns:a="http://schemas.openxmlformats.org/drawingml/2006/main">
              <a:ext uri="{FF2B5EF4-FFF2-40B4-BE49-F238E27FC236}">
                <a16:creationId xmlns:a16="http://schemas.microsoft.com/office/drawing/2014/main" id="{134F5FEB-4E4D-4801-BEEE-4B1DA67605C8}"/>
              </a:ext>
            </a:extLst>
          </p:cNvPr>
          <p:cNvSpPr>
            <a:spLocks xmlns:a="http://schemas.openxmlformats.org/drawingml/2006/main" noGrp="1"/>
          </p:cNvSpPr>
          <p:nvPr/>
        </p:nvSpPr>
        <p:spPr>
          <a:xfrm xmlns:a="http://schemas.openxmlformats.org/drawingml/2006/main">
            <a:off x="2286000" y="629602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Copy comparison and voice rules</a:t>
            </a:r>
          </a:p>
        </p:txBody>
      </p:sp>
      <p:sp>
        <p:nvSpPr>
          <p:cNvPr id="12" name="">
            <a:extLst xmlns:a="http://schemas.openxmlformats.org/drawingml/2006/main">
              <a:ext uri="{FF2B5EF4-FFF2-40B4-BE49-F238E27FC236}">
                <a16:creationId xmlns:a16="http://schemas.microsoft.com/office/drawing/2014/main" id="{E6BAAAF3-641E-4F01-AF1F-C87096D5B412}"/>
              </a:ext>
            </a:extLst>
          </p:cNvPr>
          <p:cNvSpPr>
            <a:spLocks xmlns:a="http://schemas.openxmlformats.org/drawingml/2006/main" noGrp="1"/>
          </p:cNvSpPr>
          <p:nvPr/>
        </p:nvSpPr>
        <p:spPr>
          <a:xfrm xmlns:a="http://schemas.openxmlformats.org/drawingml/2006/main">
            <a:off x="2286000" y="694372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Compare original and revised copy on comprehension, completion and confidence. Refine and document the voice, estimate and status rules.</a:t>
            </a:r>
          </a:p>
        </p:txBody>
      </p:sp>
    </p:spTree>
    <p:extLst>
      <p:ext uri="{BB962C8B-B14F-4D97-AF65-F5344CB8AC3E}">
        <p14:creationId xmlns:p14="http://schemas.microsoft.com/office/powerpoint/2010/main" val="700883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2026-10-11T19:02:14.5440000Z</dcterms:created>
  <dcterms:modified xsi:type="dcterms:W3CDTF">2026-10-11T19:02:14.5440000Z</dcterms:modified>
</coreProperties>
</file>